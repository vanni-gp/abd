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jpe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7" r:id="rId2"/>
    <p:sldId id="258" r:id="rId3"/>
    <p:sldId id="259" r:id="rId4"/>
    <p:sldId id="260" r:id="rId5"/>
    <p:sldId id="263" r:id="rId6"/>
    <p:sldId id="314" r:id="rId7"/>
    <p:sldId id="319" r:id="rId8"/>
    <p:sldId id="315" r:id="rId9"/>
    <p:sldId id="316" r:id="rId10"/>
    <p:sldId id="317" r:id="rId11"/>
    <p:sldId id="320" r:id="rId12"/>
    <p:sldId id="321" r:id="rId13"/>
    <p:sldId id="322" r:id="rId14"/>
    <p:sldId id="323" r:id="rId15"/>
    <p:sldId id="324" r:id="rId16"/>
    <p:sldId id="325" r:id="rId17"/>
    <p:sldId id="326" r:id="rId18"/>
    <p:sldId id="327" r:id="rId19"/>
    <p:sldId id="329" r:id="rId20"/>
    <p:sldId id="328" r:id="rId21"/>
    <p:sldId id="330" r:id="rId22"/>
    <p:sldId id="331" r:id="rId23"/>
    <p:sldId id="332" r:id="rId24"/>
    <p:sldId id="333" r:id="rId25"/>
    <p:sldId id="334" r:id="rId26"/>
    <p:sldId id="318" r:id="rId27"/>
    <p:sldId id="335" r:id="rId28"/>
    <p:sldId id="336" r:id="rId29"/>
    <p:sldId id="276" r:id="rId30"/>
    <p:sldId id="313" r:id="rId3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40" autoAdjust="0"/>
    <p:restoredTop sz="94660"/>
  </p:normalViewPr>
  <p:slideViewPr>
    <p:cSldViewPr snapToGrid="0">
      <p:cViewPr varScale="1">
        <p:scale>
          <a:sx n="80" d="100"/>
          <a:sy n="80" d="100"/>
        </p:scale>
        <p:origin x="100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C9249A-E9C2-4B2C-BDEC-8D2DD9A0D5D7}" type="datetimeFigureOut">
              <a:rPr lang="es-MX" smtClean="0"/>
              <a:t>11/06/2026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EEBA4B-7A85-433E-ADD2-5D49C637A129}" type="slidenum">
              <a:rPr lang="es-MX" smtClean="0"/>
              <a:t>‹Nº›</a:t>
            </a:fld>
            <a:endParaRPr lang="es-MX"/>
          </a:p>
        </p:txBody>
      </p:sp>
    </p:spTree>
    <p:extLst>
      <p:ext uri="{BB962C8B-B14F-4D97-AF65-F5344CB8AC3E}">
        <p14:creationId xmlns:p14="http://schemas.microsoft.com/office/powerpoint/2010/main" val="3947098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697897C4-617F-4BF5-A5E4-E09C1A297CC1}" type="slidenum">
              <a:rPr lang="es-MX" smtClean="0"/>
              <a:t>2</a:t>
            </a:fld>
            <a:endParaRPr lang="es-MX"/>
          </a:p>
        </p:txBody>
      </p:sp>
    </p:spTree>
    <p:extLst>
      <p:ext uri="{BB962C8B-B14F-4D97-AF65-F5344CB8AC3E}">
        <p14:creationId xmlns:p14="http://schemas.microsoft.com/office/powerpoint/2010/main" val="1374752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10D9CF-BCDC-4952-9850-6F24AFB8456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622755EF-8FA7-4539-9ECF-C411BB7AAE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A9E64D20-976C-4730-84B9-7C9F441D150F}"/>
              </a:ext>
            </a:extLst>
          </p:cNvPr>
          <p:cNvSpPr>
            <a:spLocks noGrp="1"/>
          </p:cNvSpPr>
          <p:nvPr>
            <p:ph type="dt" sz="half" idx="10"/>
          </p:nvPr>
        </p:nvSpPr>
        <p:spPr/>
        <p:txBody>
          <a:bodyPr/>
          <a:lstStyle/>
          <a:p>
            <a:fld id="{0BD29E12-A8E9-4A93-815C-FE9CD6ED29A6}" type="datetimeFigureOut">
              <a:rPr lang="es-MX" smtClean="0"/>
              <a:t>11/06/2026</a:t>
            </a:fld>
            <a:endParaRPr lang="es-MX"/>
          </a:p>
        </p:txBody>
      </p:sp>
      <p:sp>
        <p:nvSpPr>
          <p:cNvPr id="5" name="Marcador de pie de página 4">
            <a:extLst>
              <a:ext uri="{FF2B5EF4-FFF2-40B4-BE49-F238E27FC236}">
                <a16:creationId xmlns:a16="http://schemas.microsoft.com/office/drawing/2014/main" id="{01FD78D6-223D-49EB-BA54-7A9B8B6F86D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A79BAC4-A4E2-4AE1-8043-1D8E70FE2BB1}"/>
              </a:ext>
            </a:extLst>
          </p:cNvPr>
          <p:cNvSpPr>
            <a:spLocks noGrp="1"/>
          </p:cNvSpPr>
          <p:nvPr>
            <p:ph type="sldNum" sz="quarter" idx="12"/>
          </p:nvPr>
        </p:nvSpPr>
        <p:spPr/>
        <p:txBody>
          <a:bodyPr/>
          <a:lstStyle/>
          <a:p>
            <a:fld id="{C7263E54-328E-48A4-92BB-9F973CF8CF92}" type="slidenum">
              <a:rPr lang="es-MX" smtClean="0"/>
              <a:t>‹Nº›</a:t>
            </a:fld>
            <a:endParaRPr lang="es-MX"/>
          </a:p>
        </p:txBody>
      </p:sp>
    </p:spTree>
    <p:extLst>
      <p:ext uri="{BB962C8B-B14F-4D97-AF65-F5344CB8AC3E}">
        <p14:creationId xmlns:p14="http://schemas.microsoft.com/office/powerpoint/2010/main" val="2398887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B4CB3E-9781-4075-83D2-09706853573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AD14243-6AD4-4576-8415-87BD4DF3F6B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1EA278E-404D-4F73-B73D-B179ABBC058D}"/>
              </a:ext>
            </a:extLst>
          </p:cNvPr>
          <p:cNvSpPr>
            <a:spLocks noGrp="1"/>
          </p:cNvSpPr>
          <p:nvPr>
            <p:ph type="dt" sz="half" idx="10"/>
          </p:nvPr>
        </p:nvSpPr>
        <p:spPr/>
        <p:txBody>
          <a:bodyPr/>
          <a:lstStyle/>
          <a:p>
            <a:fld id="{0BD29E12-A8E9-4A93-815C-FE9CD6ED29A6}" type="datetimeFigureOut">
              <a:rPr lang="es-MX" smtClean="0"/>
              <a:t>11/06/2026</a:t>
            </a:fld>
            <a:endParaRPr lang="es-MX"/>
          </a:p>
        </p:txBody>
      </p:sp>
      <p:sp>
        <p:nvSpPr>
          <p:cNvPr id="5" name="Marcador de pie de página 4">
            <a:extLst>
              <a:ext uri="{FF2B5EF4-FFF2-40B4-BE49-F238E27FC236}">
                <a16:creationId xmlns:a16="http://schemas.microsoft.com/office/drawing/2014/main" id="{01C1C817-1572-4BA3-843F-B1B7830E874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2218489-877B-45DA-A219-2EAC7B8CC446}"/>
              </a:ext>
            </a:extLst>
          </p:cNvPr>
          <p:cNvSpPr>
            <a:spLocks noGrp="1"/>
          </p:cNvSpPr>
          <p:nvPr>
            <p:ph type="sldNum" sz="quarter" idx="12"/>
          </p:nvPr>
        </p:nvSpPr>
        <p:spPr/>
        <p:txBody>
          <a:bodyPr/>
          <a:lstStyle/>
          <a:p>
            <a:fld id="{C7263E54-328E-48A4-92BB-9F973CF8CF92}" type="slidenum">
              <a:rPr lang="es-MX" smtClean="0"/>
              <a:t>‹Nº›</a:t>
            </a:fld>
            <a:endParaRPr lang="es-MX"/>
          </a:p>
        </p:txBody>
      </p:sp>
    </p:spTree>
    <p:extLst>
      <p:ext uri="{BB962C8B-B14F-4D97-AF65-F5344CB8AC3E}">
        <p14:creationId xmlns:p14="http://schemas.microsoft.com/office/powerpoint/2010/main" val="1766239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43D0C1-EE4A-431A-B906-56F4266F6B7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70B3DD8-6CBA-416C-9397-5CD45FCDDB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C42CA38-C6A9-41EC-A71B-9665B482BAF4}"/>
              </a:ext>
            </a:extLst>
          </p:cNvPr>
          <p:cNvSpPr>
            <a:spLocks noGrp="1"/>
          </p:cNvSpPr>
          <p:nvPr>
            <p:ph type="dt" sz="half" idx="10"/>
          </p:nvPr>
        </p:nvSpPr>
        <p:spPr/>
        <p:txBody>
          <a:bodyPr/>
          <a:lstStyle/>
          <a:p>
            <a:fld id="{0BD29E12-A8E9-4A93-815C-FE9CD6ED29A6}" type="datetimeFigureOut">
              <a:rPr lang="es-MX" smtClean="0"/>
              <a:t>11/06/2026</a:t>
            </a:fld>
            <a:endParaRPr lang="es-MX"/>
          </a:p>
        </p:txBody>
      </p:sp>
      <p:sp>
        <p:nvSpPr>
          <p:cNvPr id="5" name="Marcador de pie de página 4">
            <a:extLst>
              <a:ext uri="{FF2B5EF4-FFF2-40B4-BE49-F238E27FC236}">
                <a16:creationId xmlns:a16="http://schemas.microsoft.com/office/drawing/2014/main" id="{24236130-F743-40BD-A862-E3ACE3AB528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7CC4C0F-31B1-420A-BCD5-626703F5943F}"/>
              </a:ext>
            </a:extLst>
          </p:cNvPr>
          <p:cNvSpPr>
            <a:spLocks noGrp="1"/>
          </p:cNvSpPr>
          <p:nvPr>
            <p:ph type="sldNum" sz="quarter" idx="12"/>
          </p:nvPr>
        </p:nvSpPr>
        <p:spPr/>
        <p:txBody>
          <a:bodyPr/>
          <a:lstStyle/>
          <a:p>
            <a:fld id="{C7263E54-328E-48A4-92BB-9F973CF8CF92}" type="slidenum">
              <a:rPr lang="es-MX" smtClean="0"/>
              <a:t>‹Nº›</a:t>
            </a:fld>
            <a:endParaRPr lang="es-MX"/>
          </a:p>
        </p:txBody>
      </p:sp>
    </p:spTree>
    <p:extLst>
      <p:ext uri="{BB962C8B-B14F-4D97-AF65-F5344CB8AC3E}">
        <p14:creationId xmlns:p14="http://schemas.microsoft.com/office/powerpoint/2010/main" val="1487406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953591-6866-4061-BC78-289AD6CEC9C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EBD4A00-E136-4666-9E84-CE669DA9CA8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7E2F4D43-95F4-4633-ADE2-2CB63786B34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5AAC921D-6A36-4876-A1C8-9AE324ECD308}"/>
              </a:ext>
            </a:extLst>
          </p:cNvPr>
          <p:cNvSpPr>
            <a:spLocks noGrp="1"/>
          </p:cNvSpPr>
          <p:nvPr>
            <p:ph type="dt" sz="half" idx="10"/>
          </p:nvPr>
        </p:nvSpPr>
        <p:spPr/>
        <p:txBody>
          <a:bodyPr/>
          <a:lstStyle/>
          <a:p>
            <a:fld id="{0BD29E12-A8E9-4A93-815C-FE9CD6ED29A6}" type="datetimeFigureOut">
              <a:rPr lang="es-MX" smtClean="0"/>
              <a:t>11/06/2026</a:t>
            </a:fld>
            <a:endParaRPr lang="es-MX"/>
          </a:p>
        </p:txBody>
      </p:sp>
      <p:sp>
        <p:nvSpPr>
          <p:cNvPr id="6" name="Marcador de pie de página 5">
            <a:extLst>
              <a:ext uri="{FF2B5EF4-FFF2-40B4-BE49-F238E27FC236}">
                <a16:creationId xmlns:a16="http://schemas.microsoft.com/office/drawing/2014/main" id="{297F6018-8E0B-40A4-8EE8-B535FE242F6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5DA5A56-A859-442A-93A9-7C83C395D8A3}"/>
              </a:ext>
            </a:extLst>
          </p:cNvPr>
          <p:cNvSpPr>
            <a:spLocks noGrp="1"/>
          </p:cNvSpPr>
          <p:nvPr>
            <p:ph type="sldNum" sz="quarter" idx="12"/>
          </p:nvPr>
        </p:nvSpPr>
        <p:spPr/>
        <p:txBody>
          <a:bodyPr/>
          <a:lstStyle/>
          <a:p>
            <a:fld id="{C7263E54-328E-48A4-92BB-9F973CF8CF92}" type="slidenum">
              <a:rPr lang="es-MX" smtClean="0"/>
              <a:t>‹Nº›</a:t>
            </a:fld>
            <a:endParaRPr lang="es-MX"/>
          </a:p>
        </p:txBody>
      </p:sp>
    </p:spTree>
    <p:extLst>
      <p:ext uri="{BB962C8B-B14F-4D97-AF65-F5344CB8AC3E}">
        <p14:creationId xmlns:p14="http://schemas.microsoft.com/office/powerpoint/2010/main" val="2312387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8EF8B1-EB84-4359-AE77-8F46E94D6DC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8DD9001-9418-4CA7-9563-62DDC694FD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67D9F18-8D85-4F0B-906F-B99835D5595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0195630A-03FD-4110-93C0-0BD913BAD2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A0FFC8E-ACD7-4BCD-85CE-444BD88CBA5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66C29BD4-36D1-420D-8DCE-CAA76BA71F06}"/>
              </a:ext>
            </a:extLst>
          </p:cNvPr>
          <p:cNvSpPr>
            <a:spLocks noGrp="1"/>
          </p:cNvSpPr>
          <p:nvPr>
            <p:ph type="dt" sz="half" idx="10"/>
          </p:nvPr>
        </p:nvSpPr>
        <p:spPr/>
        <p:txBody>
          <a:bodyPr/>
          <a:lstStyle/>
          <a:p>
            <a:fld id="{0BD29E12-A8E9-4A93-815C-FE9CD6ED29A6}" type="datetimeFigureOut">
              <a:rPr lang="es-MX" smtClean="0"/>
              <a:t>11/06/2026</a:t>
            </a:fld>
            <a:endParaRPr lang="es-MX"/>
          </a:p>
        </p:txBody>
      </p:sp>
      <p:sp>
        <p:nvSpPr>
          <p:cNvPr id="8" name="Marcador de pie de página 7">
            <a:extLst>
              <a:ext uri="{FF2B5EF4-FFF2-40B4-BE49-F238E27FC236}">
                <a16:creationId xmlns:a16="http://schemas.microsoft.com/office/drawing/2014/main" id="{F0645FA9-7B74-4BF8-BBAB-A868DC397A72}"/>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9ADC4A9D-B703-4D5F-B169-418EC4C2CD2F}"/>
              </a:ext>
            </a:extLst>
          </p:cNvPr>
          <p:cNvSpPr>
            <a:spLocks noGrp="1"/>
          </p:cNvSpPr>
          <p:nvPr>
            <p:ph type="sldNum" sz="quarter" idx="12"/>
          </p:nvPr>
        </p:nvSpPr>
        <p:spPr/>
        <p:txBody>
          <a:bodyPr/>
          <a:lstStyle/>
          <a:p>
            <a:fld id="{C7263E54-328E-48A4-92BB-9F973CF8CF92}" type="slidenum">
              <a:rPr lang="es-MX" smtClean="0"/>
              <a:t>‹Nº›</a:t>
            </a:fld>
            <a:endParaRPr lang="es-MX"/>
          </a:p>
        </p:txBody>
      </p:sp>
    </p:spTree>
    <p:extLst>
      <p:ext uri="{BB962C8B-B14F-4D97-AF65-F5344CB8AC3E}">
        <p14:creationId xmlns:p14="http://schemas.microsoft.com/office/powerpoint/2010/main" val="487566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CD78BE-701A-4301-81D6-385E48D69A8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FADF853-6CCC-4016-82C4-CF1CF5CC40AF}"/>
              </a:ext>
            </a:extLst>
          </p:cNvPr>
          <p:cNvSpPr>
            <a:spLocks noGrp="1"/>
          </p:cNvSpPr>
          <p:nvPr>
            <p:ph type="dt" sz="half" idx="10"/>
          </p:nvPr>
        </p:nvSpPr>
        <p:spPr/>
        <p:txBody>
          <a:bodyPr/>
          <a:lstStyle/>
          <a:p>
            <a:fld id="{0BD29E12-A8E9-4A93-815C-FE9CD6ED29A6}" type="datetimeFigureOut">
              <a:rPr lang="es-MX" smtClean="0"/>
              <a:t>11/06/2026</a:t>
            </a:fld>
            <a:endParaRPr lang="es-MX"/>
          </a:p>
        </p:txBody>
      </p:sp>
      <p:sp>
        <p:nvSpPr>
          <p:cNvPr id="4" name="Marcador de pie de página 3">
            <a:extLst>
              <a:ext uri="{FF2B5EF4-FFF2-40B4-BE49-F238E27FC236}">
                <a16:creationId xmlns:a16="http://schemas.microsoft.com/office/drawing/2014/main" id="{0E4F3385-1EEA-4D52-92FB-492E17953CB5}"/>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1A5AFBEE-94B8-463E-A8B8-D0A5BF55966B}"/>
              </a:ext>
            </a:extLst>
          </p:cNvPr>
          <p:cNvSpPr>
            <a:spLocks noGrp="1"/>
          </p:cNvSpPr>
          <p:nvPr>
            <p:ph type="sldNum" sz="quarter" idx="12"/>
          </p:nvPr>
        </p:nvSpPr>
        <p:spPr/>
        <p:txBody>
          <a:bodyPr/>
          <a:lstStyle/>
          <a:p>
            <a:fld id="{C7263E54-328E-48A4-92BB-9F973CF8CF92}" type="slidenum">
              <a:rPr lang="es-MX" smtClean="0"/>
              <a:t>‹Nº›</a:t>
            </a:fld>
            <a:endParaRPr lang="es-MX"/>
          </a:p>
        </p:txBody>
      </p:sp>
    </p:spTree>
    <p:extLst>
      <p:ext uri="{BB962C8B-B14F-4D97-AF65-F5344CB8AC3E}">
        <p14:creationId xmlns:p14="http://schemas.microsoft.com/office/powerpoint/2010/main" val="2175128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E83CD0F-3314-4D33-976A-C4DC02C414A0}"/>
              </a:ext>
            </a:extLst>
          </p:cNvPr>
          <p:cNvSpPr>
            <a:spLocks noGrp="1"/>
          </p:cNvSpPr>
          <p:nvPr>
            <p:ph type="dt" sz="half" idx="10"/>
          </p:nvPr>
        </p:nvSpPr>
        <p:spPr/>
        <p:txBody>
          <a:bodyPr/>
          <a:lstStyle/>
          <a:p>
            <a:fld id="{0BD29E12-A8E9-4A93-815C-FE9CD6ED29A6}" type="datetimeFigureOut">
              <a:rPr lang="es-MX" smtClean="0"/>
              <a:t>11/06/2026</a:t>
            </a:fld>
            <a:endParaRPr lang="es-MX"/>
          </a:p>
        </p:txBody>
      </p:sp>
      <p:sp>
        <p:nvSpPr>
          <p:cNvPr id="3" name="Marcador de pie de página 2">
            <a:extLst>
              <a:ext uri="{FF2B5EF4-FFF2-40B4-BE49-F238E27FC236}">
                <a16:creationId xmlns:a16="http://schemas.microsoft.com/office/drawing/2014/main" id="{39E0DDCD-56D2-45BE-8542-1CB06133E94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6285ABAA-EBAE-444E-B3F0-320DE2B87ACD}"/>
              </a:ext>
            </a:extLst>
          </p:cNvPr>
          <p:cNvSpPr>
            <a:spLocks noGrp="1"/>
          </p:cNvSpPr>
          <p:nvPr>
            <p:ph type="sldNum" sz="quarter" idx="12"/>
          </p:nvPr>
        </p:nvSpPr>
        <p:spPr/>
        <p:txBody>
          <a:bodyPr/>
          <a:lstStyle/>
          <a:p>
            <a:fld id="{C7263E54-328E-48A4-92BB-9F973CF8CF92}" type="slidenum">
              <a:rPr lang="es-MX" smtClean="0"/>
              <a:t>‹Nº›</a:t>
            </a:fld>
            <a:endParaRPr lang="es-MX"/>
          </a:p>
        </p:txBody>
      </p:sp>
    </p:spTree>
    <p:extLst>
      <p:ext uri="{BB962C8B-B14F-4D97-AF65-F5344CB8AC3E}">
        <p14:creationId xmlns:p14="http://schemas.microsoft.com/office/powerpoint/2010/main" val="2577291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62F56C-3771-495E-934F-E1EF0F49A94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7A9A3CD-B123-480C-96D1-8F4BEF1E07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7384842D-E8E3-4D25-9A5D-B8B43B7015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5DBE914-E57E-4457-8DE5-7E3F908C46DB}"/>
              </a:ext>
            </a:extLst>
          </p:cNvPr>
          <p:cNvSpPr>
            <a:spLocks noGrp="1"/>
          </p:cNvSpPr>
          <p:nvPr>
            <p:ph type="dt" sz="half" idx="10"/>
          </p:nvPr>
        </p:nvSpPr>
        <p:spPr/>
        <p:txBody>
          <a:bodyPr/>
          <a:lstStyle/>
          <a:p>
            <a:fld id="{0BD29E12-A8E9-4A93-815C-FE9CD6ED29A6}" type="datetimeFigureOut">
              <a:rPr lang="es-MX" smtClean="0"/>
              <a:t>11/06/2026</a:t>
            </a:fld>
            <a:endParaRPr lang="es-MX"/>
          </a:p>
        </p:txBody>
      </p:sp>
      <p:sp>
        <p:nvSpPr>
          <p:cNvPr id="6" name="Marcador de pie de página 5">
            <a:extLst>
              <a:ext uri="{FF2B5EF4-FFF2-40B4-BE49-F238E27FC236}">
                <a16:creationId xmlns:a16="http://schemas.microsoft.com/office/drawing/2014/main" id="{A4E574C0-A0FF-4EB3-88FE-204C42E6D70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29DD525-CEA1-4EF7-8A21-B90D5D94D021}"/>
              </a:ext>
            </a:extLst>
          </p:cNvPr>
          <p:cNvSpPr>
            <a:spLocks noGrp="1"/>
          </p:cNvSpPr>
          <p:nvPr>
            <p:ph type="sldNum" sz="quarter" idx="12"/>
          </p:nvPr>
        </p:nvSpPr>
        <p:spPr/>
        <p:txBody>
          <a:bodyPr/>
          <a:lstStyle/>
          <a:p>
            <a:fld id="{C7263E54-328E-48A4-92BB-9F973CF8CF92}" type="slidenum">
              <a:rPr lang="es-MX" smtClean="0"/>
              <a:t>‹Nº›</a:t>
            </a:fld>
            <a:endParaRPr lang="es-MX"/>
          </a:p>
        </p:txBody>
      </p:sp>
    </p:spTree>
    <p:extLst>
      <p:ext uri="{BB962C8B-B14F-4D97-AF65-F5344CB8AC3E}">
        <p14:creationId xmlns:p14="http://schemas.microsoft.com/office/powerpoint/2010/main" val="1695929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80E491-A537-4858-8101-62DA3654F27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2F8E098C-95DC-410E-AE6C-EE0FD2416A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0311FD85-9208-496E-B6E1-854A66BA81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261527E-94EC-4D6C-BF46-687A6A34297D}"/>
              </a:ext>
            </a:extLst>
          </p:cNvPr>
          <p:cNvSpPr>
            <a:spLocks noGrp="1"/>
          </p:cNvSpPr>
          <p:nvPr>
            <p:ph type="dt" sz="half" idx="10"/>
          </p:nvPr>
        </p:nvSpPr>
        <p:spPr/>
        <p:txBody>
          <a:bodyPr/>
          <a:lstStyle/>
          <a:p>
            <a:fld id="{0BD29E12-A8E9-4A93-815C-FE9CD6ED29A6}" type="datetimeFigureOut">
              <a:rPr lang="es-MX" smtClean="0"/>
              <a:t>11/06/2026</a:t>
            </a:fld>
            <a:endParaRPr lang="es-MX"/>
          </a:p>
        </p:txBody>
      </p:sp>
      <p:sp>
        <p:nvSpPr>
          <p:cNvPr id="6" name="Marcador de pie de página 5">
            <a:extLst>
              <a:ext uri="{FF2B5EF4-FFF2-40B4-BE49-F238E27FC236}">
                <a16:creationId xmlns:a16="http://schemas.microsoft.com/office/drawing/2014/main" id="{0149A8CC-0900-42D3-B86D-0E2966D2217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BDC5523-DDD4-40AF-8F68-9D684E301E8D}"/>
              </a:ext>
            </a:extLst>
          </p:cNvPr>
          <p:cNvSpPr>
            <a:spLocks noGrp="1"/>
          </p:cNvSpPr>
          <p:nvPr>
            <p:ph type="sldNum" sz="quarter" idx="12"/>
          </p:nvPr>
        </p:nvSpPr>
        <p:spPr/>
        <p:txBody>
          <a:bodyPr/>
          <a:lstStyle/>
          <a:p>
            <a:fld id="{C7263E54-328E-48A4-92BB-9F973CF8CF92}" type="slidenum">
              <a:rPr lang="es-MX" smtClean="0"/>
              <a:t>‹Nº›</a:t>
            </a:fld>
            <a:endParaRPr lang="es-MX"/>
          </a:p>
        </p:txBody>
      </p:sp>
    </p:spTree>
    <p:extLst>
      <p:ext uri="{BB962C8B-B14F-4D97-AF65-F5344CB8AC3E}">
        <p14:creationId xmlns:p14="http://schemas.microsoft.com/office/powerpoint/2010/main" val="3644957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0BBE3A-D2FD-4DA1-9E0A-16C21E0E7F6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7807E984-6E2A-4B45-83EE-66EE18AA754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E6A4DBD-C5E8-44ED-9091-71A4F171E94C}"/>
              </a:ext>
            </a:extLst>
          </p:cNvPr>
          <p:cNvSpPr>
            <a:spLocks noGrp="1"/>
          </p:cNvSpPr>
          <p:nvPr>
            <p:ph type="dt" sz="half" idx="10"/>
          </p:nvPr>
        </p:nvSpPr>
        <p:spPr/>
        <p:txBody>
          <a:bodyPr/>
          <a:lstStyle/>
          <a:p>
            <a:fld id="{0BD29E12-A8E9-4A93-815C-FE9CD6ED29A6}" type="datetimeFigureOut">
              <a:rPr lang="es-MX" smtClean="0"/>
              <a:t>11/06/2026</a:t>
            </a:fld>
            <a:endParaRPr lang="es-MX"/>
          </a:p>
        </p:txBody>
      </p:sp>
      <p:sp>
        <p:nvSpPr>
          <p:cNvPr id="5" name="Marcador de pie de página 4">
            <a:extLst>
              <a:ext uri="{FF2B5EF4-FFF2-40B4-BE49-F238E27FC236}">
                <a16:creationId xmlns:a16="http://schemas.microsoft.com/office/drawing/2014/main" id="{7882CBB6-33DC-492F-A749-81B324328AF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8CE4A43-1A1D-4D73-B5F0-E8AB1CD23247}"/>
              </a:ext>
            </a:extLst>
          </p:cNvPr>
          <p:cNvSpPr>
            <a:spLocks noGrp="1"/>
          </p:cNvSpPr>
          <p:nvPr>
            <p:ph type="sldNum" sz="quarter" idx="12"/>
          </p:nvPr>
        </p:nvSpPr>
        <p:spPr/>
        <p:txBody>
          <a:bodyPr/>
          <a:lstStyle/>
          <a:p>
            <a:fld id="{C7263E54-328E-48A4-92BB-9F973CF8CF92}" type="slidenum">
              <a:rPr lang="es-MX" smtClean="0"/>
              <a:t>‹Nº›</a:t>
            </a:fld>
            <a:endParaRPr lang="es-MX"/>
          </a:p>
        </p:txBody>
      </p:sp>
    </p:spTree>
    <p:extLst>
      <p:ext uri="{BB962C8B-B14F-4D97-AF65-F5344CB8AC3E}">
        <p14:creationId xmlns:p14="http://schemas.microsoft.com/office/powerpoint/2010/main" val="221160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71FA275-EE9A-4C22-B017-56285ED442F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0D8958C9-B5DF-43D6-B58B-97EFE9C8143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498D54B-A01F-419D-A8F0-635FF16C8C8C}"/>
              </a:ext>
            </a:extLst>
          </p:cNvPr>
          <p:cNvSpPr>
            <a:spLocks noGrp="1"/>
          </p:cNvSpPr>
          <p:nvPr>
            <p:ph type="dt" sz="half" idx="10"/>
          </p:nvPr>
        </p:nvSpPr>
        <p:spPr/>
        <p:txBody>
          <a:bodyPr/>
          <a:lstStyle/>
          <a:p>
            <a:fld id="{0BD29E12-A8E9-4A93-815C-FE9CD6ED29A6}" type="datetimeFigureOut">
              <a:rPr lang="es-MX" smtClean="0"/>
              <a:t>11/06/2026</a:t>
            </a:fld>
            <a:endParaRPr lang="es-MX"/>
          </a:p>
        </p:txBody>
      </p:sp>
      <p:sp>
        <p:nvSpPr>
          <p:cNvPr id="5" name="Marcador de pie de página 4">
            <a:extLst>
              <a:ext uri="{FF2B5EF4-FFF2-40B4-BE49-F238E27FC236}">
                <a16:creationId xmlns:a16="http://schemas.microsoft.com/office/drawing/2014/main" id="{2B90486F-CF5E-4F54-AD15-8B2FAF3322B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BC7C75F-78CA-40D5-8C62-8344DDCACC0E}"/>
              </a:ext>
            </a:extLst>
          </p:cNvPr>
          <p:cNvSpPr>
            <a:spLocks noGrp="1"/>
          </p:cNvSpPr>
          <p:nvPr>
            <p:ph type="sldNum" sz="quarter" idx="12"/>
          </p:nvPr>
        </p:nvSpPr>
        <p:spPr/>
        <p:txBody>
          <a:bodyPr/>
          <a:lstStyle/>
          <a:p>
            <a:fld id="{C7263E54-328E-48A4-92BB-9F973CF8CF92}" type="slidenum">
              <a:rPr lang="es-MX" smtClean="0"/>
              <a:t>‹Nº›</a:t>
            </a:fld>
            <a:endParaRPr lang="es-MX"/>
          </a:p>
        </p:txBody>
      </p:sp>
    </p:spTree>
    <p:extLst>
      <p:ext uri="{BB962C8B-B14F-4D97-AF65-F5344CB8AC3E}">
        <p14:creationId xmlns:p14="http://schemas.microsoft.com/office/powerpoint/2010/main" val="907399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5CAFC47-55B7-44A1-A93A-469AC10264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7A833EB-8322-4648-ABED-8B0BA3CFAA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770F814-A0A5-4240-B1DD-26386D122D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D29E12-A8E9-4A93-815C-FE9CD6ED29A6}" type="datetimeFigureOut">
              <a:rPr lang="es-MX" smtClean="0"/>
              <a:t>11/06/2026</a:t>
            </a:fld>
            <a:endParaRPr lang="es-MX"/>
          </a:p>
        </p:txBody>
      </p:sp>
      <p:sp>
        <p:nvSpPr>
          <p:cNvPr id="5" name="Marcador de pie de página 4">
            <a:extLst>
              <a:ext uri="{FF2B5EF4-FFF2-40B4-BE49-F238E27FC236}">
                <a16:creationId xmlns:a16="http://schemas.microsoft.com/office/drawing/2014/main" id="{B04F8D9E-0D5A-4910-9D72-6B48FC2555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B92ED877-803A-4D17-832B-17EA2882D5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263E54-328E-48A4-92BB-9F973CF8CF92}" type="slidenum">
              <a:rPr lang="es-MX" smtClean="0"/>
              <a:t>‹Nº›</a:t>
            </a:fld>
            <a:endParaRPr lang="es-MX"/>
          </a:p>
        </p:txBody>
      </p:sp>
    </p:spTree>
    <p:extLst>
      <p:ext uri="{BB962C8B-B14F-4D97-AF65-F5344CB8AC3E}">
        <p14:creationId xmlns:p14="http://schemas.microsoft.com/office/powerpoint/2010/main" val="2521424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tm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angular.dev/guide/components/standalone" TargetMode="External"/><Relationship Id="rId7" Type="http://schemas.openxmlformats.org/officeDocument/2006/relationships/hyperlink" Target="https://spring.io/guides/gs/rest-service-cors/"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developer.mozilla.org/es/docs/Web/HTTP/CORS" TargetMode="External"/><Relationship Id="rId5" Type="http://schemas.openxmlformats.org/officeDocument/2006/relationships/hyperlink" Target="http://www.youtube.com/watch?v=jxZh0gQ9oZc" TargetMode="External"/><Relationship Id="rId4" Type="http://schemas.openxmlformats.org/officeDocument/2006/relationships/hyperlink" Target="https://angular.dev/guide/http/making-reques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944880" y="1249493"/>
            <a:ext cx="10668000" cy="4941674"/>
          </a:xfrm>
          <a:prstGeom prst="rect">
            <a:avLst/>
          </a:prstGeom>
          <a:noFill/>
        </p:spPr>
        <p:txBody>
          <a:bodyPr wrap="square">
            <a:spAutoFit/>
          </a:bodyPr>
          <a:lstStyle/>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Instituto Tecnológico de Frontera Comalapa</a:t>
            </a: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Modalidad Mixta</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 </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Materia: </a:t>
            </a:r>
            <a:r>
              <a:rPr lang="es-MX" dirty="0">
                <a:latin typeface="Arial" panose="020B0604020202020204" pitchFamily="34" charset="0"/>
                <a:ea typeface="Calibri" panose="020F0502020204030204" pitchFamily="34" charset="0"/>
                <a:cs typeface="Times New Roman" panose="02020603050405020304" pitchFamily="18" charset="0"/>
              </a:rPr>
              <a:t>Administración de Base de Datos</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Semestre:  </a:t>
            </a:r>
            <a:r>
              <a:rPr lang="es-MX" dirty="0">
                <a:effectLst/>
                <a:latin typeface="Arial" panose="020B0604020202020204" pitchFamily="34" charset="0"/>
                <a:ea typeface="Calibri" panose="020F0502020204030204" pitchFamily="34" charset="0"/>
                <a:cs typeface="Times New Roman" panose="02020603050405020304" pitchFamily="18" charset="0"/>
              </a:rPr>
              <a:t>Sexto semestre </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Especialidad: </a:t>
            </a:r>
            <a:r>
              <a:rPr lang="es-MX" dirty="0">
                <a:effectLst/>
                <a:latin typeface="Arial" panose="020B0604020202020204" pitchFamily="34" charset="0"/>
                <a:ea typeface="Calibri" panose="020F0502020204030204" pitchFamily="34" charset="0"/>
                <a:cs typeface="Times New Roman" panose="02020603050405020304" pitchFamily="18" charset="0"/>
              </a:rPr>
              <a:t>Ingeniería en Sistemas Computacionales.</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Numero de control:</a:t>
            </a:r>
            <a:r>
              <a:rPr lang="es-MX" dirty="0">
                <a:effectLst/>
                <a:latin typeface="Arial" panose="020B0604020202020204" pitchFamily="34" charset="0"/>
                <a:ea typeface="Calibri" panose="020F0502020204030204" pitchFamily="34" charset="0"/>
                <a:cs typeface="Times New Roman" panose="02020603050405020304" pitchFamily="18" charset="0"/>
              </a:rPr>
              <a:t>231260008</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Nombre del alumno:</a:t>
            </a:r>
            <a:r>
              <a:rPr lang="es-MX" dirty="0">
                <a:effectLst/>
                <a:latin typeface="Arial" panose="020B0604020202020204" pitchFamily="34" charset="0"/>
                <a:ea typeface="Calibri" panose="020F0502020204030204" pitchFamily="34" charset="0"/>
                <a:cs typeface="Times New Roman" panose="02020603050405020304" pitchFamily="18" charset="0"/>
              </a:rPr>
              <a:t> Vanni Gutiérrez Pérez</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Nombre del docente:</a:t>
            </a:r>
            <a:r>
              <a:rPr lang="es-MX" dirty="0">
                <a:effectLst/>
                <a:latin typeface="Arial" panose="020B0604020202020204" pitchFamily="34" charset="0"/>
                <a:ea typeface="Calibri" panose="020F0502020204030204" pitchFamily="34" charset="0"/>
                <a:cs typeface="Times New Roman" panose="02020603050405020304" pitchFamily="18" charset="0"/>
              </a:rPr>
              <a:t> Francisco Javier Mingo Velázquez</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r>
              <a:rPr lang="es-MX" b="1" dirty="0">
                <a:effectLst/>
                <a:latin typeface="Arial" panose="020B0604020202020204" pitchFamily="34" charset="0"/>
                <a:ea typeface="Calibri" panose="020F0502020204030204" pitchFamily="34" charset="0"/>
                <a:cs typeface="Times New Roman" panose="02020603050405020304" pitchFamily="18" charset="0"/>
              </a:rPr>
              <a:t>Nombre del trabajo: </a:t>
            </a:r>
            <a:r>
              <a:rPr lang="es-MX" dirty="0">
                <a:effectLst/>
                <a:latin typeface="Arial" panose="020B0604020202020204" pitchFamily="34" charset="0"/>
                <a:ea typeface="Calibri" panose="020F0502020204030204" pitchFamily="34" charset="0"/>
                <a:cs typeface="Times New Roman" panose="02020603050405020304" pitchFamily="18" charset="0"/>
              </a:rPr>
              <a:t>Reporte de Practica:</a:t>
            </a:r>
            <a:r>
              <a:rPr lang="es-ES" dirty="0">
                <a:latin typeface="Arial" panose="020B0604020202020204" pitchFamily="34" charset="0"/>
                <a:ea typeface="Calibri" panose="020F0502020204030204" pitchFamily="34" charset="0"/>
                <a:cs typeface="Arial" panose="020B0604020202020204" pitchFamily="34" charset="0"/>
              </a:rPr>
              <a:t> Consumir Microservicios en Angular</a:t>
            </a:r>
            <a:endParaRPr lang="es-ES" dirty="0">
              <a:latin typeface="Arial" panose="020B0604020202020204" pitchFamily="34" charset="0"/>
              <a:cs typeface="Arial" panose="020B0604020202020204" pitchFamily="34" charset="0"/>
            </a:endParaRPr>
          </a:p>
          <a:p>
            <a:pPr algn="ctr">
              <a:lnSpc>
                <a:spcPct val="106000"/>
              </a:lnSpc>
              <a:spcAft>
                <a:spcPts val="800"/>
              </a:spcAft>
            </a:pP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b="1" dirty="0">
                <a:effectLst/>
                <a:latin typeface="Arial" panose="020B0604020202020204" pitchFamily="34" charset="0"/>
                <a:ea typeface="Calibri" panose="020F0502020204030204" pitchFamily="34" charset="0"/>
                <a:cs typeface="Times New Roman" panose="02020603050405020304" pitchFamily="18" charset="0"/>
              </a:rPr>
              <a:t>Fecha de entrega</a:t>
            </a:r>
            <a:r>
              <a:rPr lang="es-MX" dirty="0">
                <a:effectLst/>
                <a:latin typeface="Arial" panose="020B0604020202020204" pitchFamily="34" charset="0"/>
                <a:ea typeface="Calibri" panose="020F0502020204030204" pitchFamily="34" charset="0"/>
                <a:cs typeface="Times New Roman" panose="02020603050405020304" pitchFamily="18" charset="0"/>
              </a:rPr>
              <a:t>:</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es-MX" dirty="0">
                <a:effectLst/>
                <a:latin typeface="Arial" panose="020B0604020202020204" pitchFamily="34" charset="0"/>
                <a:ea typeface="Calibri" panose="020F0502020204030204" pitchFamily="34" charset="0"/>
                <a:cs typeface="Times New Roman" panose="02020603050405020304" pitchFamily="18" charset="0"/>
              </a:rPr>
              <a:t>Bella Vista, Chiapas a 07 de junio </a:t>
            </a:r>
            <a:r>
              <a:rPr lang="es-MX" dirty="0">
                <a:latin typeface="Arial" panose="020B0604020202020204" pitchFamily="34" charset="0"/>
                <a:ea typeface="Calibri" panose="020F0502020204030204" pitchFamily="34" charset="0"/>
                <a:cs typeface="Times New Roman" panose="02020603050405020304" pitchFamily="18" charset="0"/>
              </a:rPr>
              <a:t>del 2026</a:t>
            </a:r>
            <a:endParaRPr lang="es-MX"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image2.png">
            <a:extLst>
              <a:ext uri="{FF2B5EF4-FFF2-40B4-BE49-F238E27FC236}">
                <a16:creationId xmlns:a16="http://schemas.microsoft.com/office/drawing/2014/main" id="{C530A503-595F-4484-BDAD-B0E49C5BE2DD}"/>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2440940" y="509349"/>
            <a:ext cx="2528570" cy="566420"/>
          </a:xfrm>
          <a:prstGeom prst="rect">
            <a:avLst/>
          </a:prstGeom>
        </p:spPr>
      </p:pic>
      <p:pic>
        <p:nvPicPr>
          <p:cNvPr id="10" name="image3.png">
            <a:extLst>
              <a:ext uri="{FF2B5EF4-FFF2-40B4-BE49-F238E27FC236}">
                <a16:creationId xmlns:a16="http://schemas.microsoft.com/office/drawing/2014/main" id="{9257A986-D344-4C09-A410-5B24351FDFDD}"/>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5682615" y="261805"/>
            <a:ext cx="1755140" cy="859155"/>
          </a:xfrm>
          <a:prstGeom prst="rect">
            <a:avLst/>
          </a:prstGeom>
        </p:spPr>
      </p:pic>
      <p:pic>
        <p:nvPicPr>
          <p:cNvPr id="11" name="image4.jpeg">
            <a:extLst>
              <a:ext uri="{FF2B5EF4-FFF2-40B4-BE49-F238E27FC236}">
                <a16:creationId xmlns:a16="http://schemas.microsoft.com/office/drawing/2014/main" id="{09C089BE-883F-41F0-A2C0-16298D0B23F9}"/>
              </a:ext>
            </a:extLst>
          </p:cNvPr>
          <p:cNvPicPr/>
          <p:nvPr/>
        </p:nvPicPr>
        <p:blipFill>
          <a:blip r:embed="rId5"/>
          <a:stretch>
            <a:fillRect/>
          </a:stretch>
        </p:blipFill>
        <p:spPr>
          <a:xfrm>
            <a:off x="8278495" y="279623"/>
            <a:ext cx="1178560" cy="860425"/>
          </a:xfrm>
          <a:prstGeom prst="rect">
            <a:avLst/>
          </a:prstGeom>
        </p:spPr>
      </p:pic>
    </p:spTree>
    <p:extLst>
      <p:ext uri="{BB962C8B-B14F-4D97-AF65-F5344CB8AC3E}">
        <p14:creationId xmlns:p14="http://schemas.microsoft.com/office/powerpoint/2010/main" val="4210877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3"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3"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3"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3" cstate="print"/>
          <a:stretch>
            <a:fillRect/>
          </a:stretch>
        </p:blipFill>
        <p:spPr>
          <a:xfrm rot="5400000">
            <a:off x="5972174" y="914874"/>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2162210" y="427533"/>
            <a:ext cx="9360660" cy="4778680"/>
          </a:xfrm>
          <a:prstGeom prst="rect">
            <a:avLst/>
          </a:prstGeom>
          <a:noFill/>
        </p:spPr>
        <p:txBody>
          <a:bodyPr wrap="square">
            <a:spAutoFit/>
          </a:bodyPr>
          <a:lstStyle/>
          <a:p>
            <a:pPr>
              <a:lnSpc>
                <a:spcPct val="115000"/>
              </a:lnSpc>
            </a:pPr>
            <a:r>
              <a:rPr lang="es-MX" sz="1400" dirty="0">
                <a:effectLst/>
                <a:latin typeface="Arial" panose="020B0604020202020204" pitchFamily="34" charset="0"/>
                <a:ea typeface="Arial" panose="020B0604020202020204" pitchFamily="34" charset="0"/>
              </a:rPr>
              <a:t>Introducción ------------------------------------------------------------------------------------------ 3</a:t>
            </a:r>
          </a:p>
          <a:p>
            <a:pPr>
              <a:lnSpc>
                <a:spcPct val="115000"/>
              </a:lnSpc>
            </a:pPr>
            <a:endParaRPr lang="es-MX" sz="1400" dirty="0">
              <a:effectLst/>
              <a:latin typeface="Arial" panose="020B0604020202020204" pitchFamily="34" charset="0"/>
              <a:ea typeface="Arial" panose="020B0604020202020204" pitchFamily="34" charset="0"/>
            </a:endParaRPr>
          </a:p>
          <a:p>
            <a:pPr>
              <a:lnSpc>
                <a:spcPct val="115000"/>
              </a:lnSpc>
            </a:pPr>
            <a:r>
              <a:rPr lang="es-MX" sz="1400" dirty="0">
                <a:effectLst/>
                <a:latin typeface="Arial" panose="020B0604020202020204" pitchFamily="34" charset="0"/>
                <a:ea typeface="Arial" panose="020B0604020202020204" pitchFamily="34" charset="0"/>
              </a:rPr>
              <a:t>Justificación ------------------------------------------------------------------------------------------ 4</a:t>
            </a:r>
          </a:p>
          <a:p>
            <a:pPr>
              <a:lnSpc>
                <a:spcPct val="115000"/>
              </a:lnSpc>
            </a:pPr>
            <a:endParaRPr lang="es-MX" sz="1400" dirty="0">
              <a:solidFill>
                <a:schemeClr val="tx1"/>
              </a:solidFill>
              <a:latin typeface="Arial" panose="020B0604020202020204" pitchFamily="34" charset="0"/>
              <a:cs typeface="Arial" panose="020B0604020202020204" pitchFamily="34" charset="0"/>
            </a:endParaRPr>
          </a:p>
          <a:p>
            <a:pPr>
              <a:lnSpc>
                <a:spcPct val="115000"/>
              </a:lnSpc>
            </a:pPr>
            <a:r>
              <a:rPr lang="es-ES" sz="1400" dirty="0">
                <a:solidFill>
                  <a:schemeClr val="tx1"/>
                </a:solidFill>
                <a:latin typeface="Arial" panose="020B0604020202020204" pitchFamily="34" charset="0"/>
                <a:cs typeface="Arial" panose="020B0604020202020204" pitchFamily="34" charset="0"/>
              </a:rPr>
              <a:t>Herramientas y Entorno de Software</a:t>
            </a:r>
            <a:r>
              <a:rPr lang="es-MX" sz="1400" dirty="0">
                <a:solidFill>
                  <a:schemeClr val="tx1"/>
                </a:solidFill>
                <a:latin typeface="Arial" panose="020B0604020202020204" pitchFamily="34" charset="0"/>
                <a:cs typeface="Arial" panose="020B0604020202020204" pitchFamily="34" charset="0"/>
              </a:rPr>
              <a:t> </a:t>
            </a:r>
            <a:r>
              <a:rPr lang="es-MX" sz="1400" dirty="0">
                <a:effectLst/>
                <a:latin typeface="Arial" panose="020B0604020202020204" pitchFamily="34" charset="0"/>
                <a:ea typeface="Arial" panose="020B0604020202020204" pitchFamily="34" charset="0"/>
              </a:rPr>
              <a:t>--------------------------------------------------------- 5</a:t>
            </a:r>
          </a:p>
          <a:p>
            <a:pPr>
              <a:lnSpc>
                <a:spcPct val="115000"/>
              </a:lnSpc>
            </a:pPr>
            <a:endParaRPr lang="es-MX" sz="1400" dirty="0">
              <a:solidFill>
                <a:schemeClr val="tx1"/>
              </a:solidFill>
              <a:latin typeface="Arial" panose="020B0604020202020204" pitchFamily="34" charset="0"/>
              <a:cs typeface="Arial" panose="020B0604020202020204" pitchFamily="34" charset="0"/>
            </a:endParaRPr>
          </a:p>
          <a:p>
            <a:pPr>
              <a:lnSpc>
                <a:spcPct val="115000"/>
              </a:lnSpc>
            </a:pPr>
            <a:r>
              <a:rPr lang="es-ES" sz="1400" dirty="0">
                <a:solidFill>
                  <a:schemeClr val="tx1"/>
                </a:solidFill>
                <a:latin typeface="Arial" panose="020B0604020202020204" pitchFamily="34" charset="0"/>
                <a:cs typeface="Arial" panose="020B0604020202020204" pitchFamily="34" charset="0"/>
              </a:rPr>
              <a:t>Comandos de Inicialización y Estructu</a:t>
            </a:r>
            <a:r>
              <a:rPr lang="es-ES" sz="1400" dirty="0">
                <a:latin typeface="Arial" panose="020B0604020202020204" pitchFamily="34" charset="0"/>
                <a:cs typeface="Arial" panose="020B0604020202020204" pitchFamily="34" charset="0"/>
              </a:rPr>
              <a:t>ra ------------------------------------------------------ </a:t>
            </a:r>
            <a:r>
              <a:rPr lang="es-MX" sz="1400" dirty="0">
                <a:latin typeface="Arial" panose="020B0604020202020204" pitchFamily="34" charset="0"/>
                <a:cs typeface="Arial" panose="020B0604020202020204" pitchFamily="34" charset="0"/>
              </a:rPr>
              <a:t>6</a:t>
            </a:r>
            <a:endParaRPr lang="es-MX" sz="1400" dirty="0">
              <a:effectLst/>
              <a:latin typeface="Arial" panose="020B0604020202020204" pitchFamily="34" charset="0"/>
              <a:ea typeface="Arial" panose="020B0604020202020204" pitchFamily="34" charset="0"/>
            </a:endParaRPr>
          </a:p>
          <a:p>
            <a:pPr>
              <a:lnSpc>
                <a:spcPct val="115000"/>
              </a:lnSpc>
            </a:pPr>
            <a:endParaRPr lang="es-ES" sz="1400" dirty="0">
              <a:latin typeface="Arial" panose="020B0604020202020204" pitchFamily="34" charset="0"/>
              <a:cs typeface="Arial" panose="020B0604020202020204" pitchFamily="34" charset="0"/>
            </a:endParaRPr>
          </a:p>
          <a:p>
            <a:pPr>
              <a:lnSpc>
                <a:spcPct val="115000"/>
              </a:lnSpc>
            </a:pPr>
            <a:r>
              <a:rPr lang="es-ES" sz="1400" dirty="0">
                <a:solidFill>
                  <a:schemeClr val="tx1"/>
                </a:solidFill>
                <a:latin typeface="Arial" panose="020B0604020202020204" pitchFamily="34" charset="0"/>
                <a:cs typeface="Arial" panose="020B0604020202020204" pitchFamily="34" charset="0"/>
              </a:rPr>
              <a:t>Generación de los servicios de comunicación (Peticiones HTTP</a:t>
            </a:r>
            <a:r>
              <a:rPr lang="es-ES" sz="1400" dirty="0">
                <a:latin typeface="Arial" panose="020B0604020202020204" pitchFamily="34" charset="0"/>
                <a:cs typeface="Arial" panose="020B0604020202020204" pitchFamily="34" charset="0"/>
              </a:rPr>
              <a:t>---------------------- </a:t>
            </a:r>
            <a:r>
              <a:rPr lang="es-MX" sz="1400" dirty="0">
                <a:latin typeface="Arial" panose="020B0604020202020204" pitchFamily="34" charset="0"/>
                <a:cs typeface="Arial" panose="020B0604020202020204" pitchFamily="34" charset="0"/>
              </a:rPr>
              <a:t>8</a:t>
            </a:r>
            <a:endParaRPr lang="es-MX" sz="1400" dirty="0">
              <a:effectLst/>
              <a:latin typeface="Arial" panose="020B0604020202020204" pitchFamily="34" charset="0"/>
              <a:ea typeface="Arial" panose="020B0604020202020204" pitchFamily="34" charset="0"/>
            </a:endParaRPr>
          </a:p>
          <a:p>
            <a:pPr>
              <a:lnSpc>
                <a:spcPct val="115000"/>
              </a:lnSpc>
            </a:pPr>
            <a:endParaRPr lang="es-ES" sz="1400" dirty="0">
              <a:latin typeface="Arial" panose="020B0604020202020204" pitchFamily="34" charset="0"/>
              <a:cs typeface="Arial" panose="020B0604020202020204" pitchFamily="34" charset="0"/>
            </a:endParaRPr>
          </a:p>
          <a:p>
            <a:pPr>
              <a:lnSpc>
                <a:spcPct val="115000"/>
              </a:lnSpc>
            </a:pPr>
            <a:r>
              <a:rPr lang="es-ES" sz="1400" dirty="0">
                <a:solidFill>
                  <a:schemeClr val="tx1"/>
                </a:solidFill>
                <a:latin typeface="Arial" panose="020B0604020202020204" pitchFamily="34" charset="0"/>
                <a:cs typeface="Arial" panose="020B0604020202020204" pitchFamily="34" charset="0"/>
              </a:rPr>
              <a:t>Construcción del </a:t>
            </a:r>
            <a:r>
              <a:rPr lang="es-ES" sz="1400" dirty="0" err="1">
                <a:solidFill>
                  <a:schemeClr val="tx1"/>
                </a:solidFill>
                <a:latin typeface="Arial" panose="020B0604020202020204" pitchFamily="34" charset="0"/>
                <a:cs typeface="Arial" panose="020B0604020202020204" pitchFamily="34" charset="0"/>
              </a:rPr>
              <a:t>frontend</a:t>
            </a:r>
            <a:r>
              <a:rPr lang="es-ES" sz="1400" dirty="0">
                <a:solidFill>
                  <a:schemeClr val="tx1"/>
                </a:solidFill>
                <a:latin typeface="Arial" panose="020B0604020202020204" pitchFamily="34" charset="0"/>
                <a:cs typeface="Arial" panose="020B0604020202020204" pitchFamily="34" charset="0"/>
              </a:rPr>
              <a:t> -------------------------------------------------------</a:t>
            </a:r>
            <a:r>
              <a:rPr lang="es-ES" sz="1400" dirty="0">
                <a:latin typeface="Arial" panose="020B0604020202020204" pitchFamily="34" charset="0"/>
                <a:cs typeface="Arial" panose="020B0604020202020204" pitchFamily="34" charset="0"/>
              </a:rPr>
              <a:t>------------------</a:t>
            </a:r>
            <a:r>
              <a:rPr lang="es-MX" sz="1400" dirty="0">
                <a:latin typeface="Arial" panose="020B0604020202020204" pitchFamily="34" charset="0"/>
                <a:cs typeface="Arial" panose="020B0604020202020204" pitchFamily="34" charset="0"/>
              </a:rPr>
              <a:t>10</a:t>
            </a:r>
          </a:p>
          <a:p>
            <a:pPr>
              <a:lnSpc>
                <a:spcPct val="115000"/>
              </a:lnSpc>
            </a:pPr>
            <a:endParaRPr lang="es-MX" sz="1400" dirty="0">
              <a:effectLst/>
              <a:latin typeface="Arial" panose="020B0604020202020204" pitchFamily="34" charset="0"/>
              <a:ea typeface="Arial" panose="020B0604020202020204" pitchFamily="34" charset="0"/>
              <a:cs typeface="Arial" panose="020B0604020202020204" pitchFamily="34" charset="0"/>
            </a:endParaRPr>
          </a:p>
          <a:p>
            <a:pPr>
              <a:lnSpc>
                <a:spcPct val="115000"/>
              </a:lnSpc>
            </a:pPr>
            <a:r>
              <a:rPr lang="es-ES" sz="1400" dirty="0">
                <a:solidFill>
                  <a:schemeClr val="tx1"/>
                </a:solidFill>
                <a:latin typeface="Arial" panose="020B0604020202020204" pitchFamily="34" charset="0"/>
                <a:cs typeface="Arial" panose="020B0604020202020204" pitchFamily="34" charset="0"/>
              </a:rPr>
              <a:t>Configuraciones en el </a:t>
            </a:r>
            <a:r>
              <a:rPr lang="es-ES" sz="1400" dirty="0" err="1">
                <a:solidFill>
                  <a:schemeClr val="tx1"/>
                </a:solidFill>
                <a:latin typeface="Arial" panose="020B0604020202020204" pitchFamily="34" charset="0"/>
                <a:cs typeface="Arial" panose="020B0604020202020204" pitchFamily="34" charset="0"/>
              </a:rPr>
              <a:t>Backend</a:t>
            </a:r>
            <a:r>
              <a:rPr lang="es-ES" sz="1400" dirty="0">
                <a:solidFill>
                  <a:schemeClr val="tx1"/>
                </a:solidFill>
                <a:latin typeface="Arial" panose="020B0604020202020204" pitchFamily="34" charset="0"/>
                <a:cs typeface="Arial" panose="020B0604020202020204" pitchFamily="34" charset="0"/>
              </a:rPr>
              <a:t> (IntelliJ IDEA): Resolución del Bloqueo de CORS -22</a:t>
            </a:r>
          </a:p>
          <a:p>
            <a:pPr>
              <a:lnSpc>
                <a:spcPct val="115000"/>
              </a:lnSpc>
            </a:pPr>
            <a:endParaRPr lang="es-ES" sz="1400" dirty="0">
              <a:solidFill>
                <a:schemeClr val="tx1"/>
              </a:solidFill>
              <a:latin typeface="Arial" panose="020B0604020202020204" pitchFamily="34" charset="0"/>
              <a:cs typeface="Arial" panose="020B0604020202020204" pitchFamily="34" charset="0"/>
            </a:endParaRPr>
          </a:p>
          <a:p>
            <a:pPr>
              <a:lnSpc>
                <a:spcPct val="115000"/>
              </a:lnSpc>
            </a:pPr>
            <a:r>
              <a:rPr lang="es-ES" sz="1400" dirty="0">
                <a:solidFill>
                  <a:schemeClr val="tx1"/>
                </a:solidFill>
                <a:latin typeface="Arial" panose="020B0604020202020204" pitchFamily="34" charset="0"/>
                <a:cs typeface="Arial" panose="020B0604020202020204" pitchFamily="34" charset="0"/>
              </a:rPr>
              <a:t>Resultados y Verificación de la Integración --------------------------------------------------26</a:t>
            </a:r>
            <a:endParaRPr lang="es-MX" sz="1400" dirty="0">
              <a:effectLst/>
              <a:latin typeface="Arial" panose="020B0604020202020204" pitchFamily="34" charset="0"/>
              <a:ea typeface="Arial" panose="020B0604020202020204" pitchFamily="34" charset="0"/>
            </a:endParaRPr>
          </a:p>
          <a:p>
            <a:pPr>
              <a:lnSpc>
                <a:spcPct val="115000"/>
              </a:lnSpc>
            </a:pPr>
            <a:endParaRPr lang="es-MX" sz="1400" dirty="0">
              <a:effectLst/>
              <a:latin typeface="Arial" panose="020B0604020202020204" pitchFamily="34" charset="0"/>
              <a:ea typeface="Arial" panose="020B0604020202020204" pitchFamily="34" charset="0"/>
            </a:endParaRPr>
          </a:p>
          <a:p>
            <a:pPr>
              <a:lnSpc>
                <a:spcPct val="115000"/>
              </a:lnSpc>
            </a:pPr>
            <a:r>
              <a:rPr lang="es-MX" sz="1400" dirty="0">
                <a:effectLst/>
                <a:latin typeface="Arial" panose="020B0604020202020204" pitchFamily="34" charset="0"/>
                <a:ea typeface="Arial" panose="020B0604020202020204" pitchFamily="34" charset="0"/>
              </a:rPr>
              <a:t>Conclusión ------------------------------------------------------------------------------------------   </a:t>
            </a:r>
            <a:r>
              <a:rPr lang="es-MX" sz="1400" dirty="0">
                <a:latin typeface="Arial" panose="020B0604020202020204" pitchFamily="34" charset="0"/>
                <a:ea typeface="Arial" panose="020B0604020202020204" pitchFamily="34" charset="0"/>
              </a:rPr>
              <a:t>29</a:t>
            </a:r>
            <a:endParaRPr lang="es-MX" sz="1400" dirty="0">
              <a:effectLst/>
              <a:latin typeface="Arial" panose="020B0604020202020204" pitchFamily="34" charset="0"/>
              <a:ea typeface="Arial" panose="020B0604020202020204" pitchFamily="34" charset="0"/>
            </a:endParaRPr>
          </a:p>
          <a:p>
            <a:pPr>
              <a:lnSpc>
                <a:spcPct val="115000"/>
              </a:lnSpc>
            </a:pPr>
            <a:endParaRPr lang="es-MX" sz="1400" dirty="0">
              <a:latin typeface="Arial" panose="020B0604020202020204" pitchFamily="34" charset="0"/>
              <a:ea typeface="Arial" panose="020B0604020202020204" pitchFamily="34" charset="0"/>
            </a:endParaRPr>
          </a:p>
          <a:p>
            <a:pPr>
              <a:lnSpc>
                <a:spcPct val="115000"/>
              </a:lnSpc>
            </a:pPr>
            <a:r>
              <a:rPr lang="es-MX" sz="1400" dirty="0">
                <a:latin typeface="Arial" panose="020B0604020202020204" pitchFamily="34" charset="0"/>
                <a:ea typeface="Arial" panose="020B0604020202020204" pitchFamily="34" charset="0"/>
              </a:rPr>
              <a:t>Fuentes Consultadas ------</a:t>
            </a:r>
            <a:r>
              <a:rPr lang="es-MX" sz="1400" dirty="0">
                <a:effectLst/>
                <a:latin typeface="Arial" panose="020B0604020202020204" pitchFamily="34" charset="0"/>
                <a:ea typeface="Arial" panose="020B0604020202020204" pitchFamily="34" charset="0"/>
              </a:rPr>
              <a:t>-----------------------------------------------------------------------  </a:t>
            </a:r>
            <a:r>
              <a:rPr lang="es-MX" sz="1400" dirty="0">
                <a:latin typeface="Arial" panose="020B0604020202020204" pitchFamily="34" charset="0"/>
                <a:ea typeface="Arial" panose="020B0604020202020204" pitchFamily="34" charset="0"/>
              </a:rPr>
              <a:t>30</a:t>
            </a:r>
            <a:endParaRPr lang="es-MX" sz="1400" dirty="0">
              <a:effectLst/>
              <a:latin typeface="Arial" panose="020B0604020202020204" pitchFamily="34" charset="0"/>
              <a:ea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5324475" y="212672"/>
            <a:ext cx="1000125" cy="247651"/>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sz="1600" b="1" dirty="0">
                <a:solidFill>
                  <a:schemeClr val="tx1"/>
                </a:solidFill>
                <a:latin typeface="Arial" panose="020B0604020202020204" pitchFamily="34" charset="0"/>
                <a:cs typeface="Arial" panose="020B0604020202020204" pitchFamily="34" charset="0"/>
              </a:rPr>
              <a:t>ÍNDICE</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4949189" y="105703"/>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17" name="Imagen 16">
            <a:extLst>
              <a:ext uri="{FF2B5EF4-FFF2-40B4-BE49-F238E27FC236}">
                <a16:creationId xmlns:a16="http://schemas.microsoft.com/office/drawing/2014/main" id="{1F2CF5EC-2601-4FF9-96AE-945D03F8AA8C}"/>
              </a:ext>
            </a:extLst>
          </p:cNvPr>
          <p:cNvPicPr/>
          <p:nvPr/>
        </p:nvPicPr>
        <p:blipFill rotWithShape="1">
          <a:blip r:embed="rId4" cstate="print">
            <a:extLst>
              <a:ext uri="{28A0092B-C50C-407E-A947-70E740481C1C}">
                <a14:useLocalDpi xmlns:a14="http://schemas.microsoft.com/office/drawing/2010/main" val="0"/>
              </a:ext>
            </a:extLst>
          </a:blip>
          <a:srcRect b="29679"/>
          <a:stretch/>
        </p:blipFill>
        <p:spPr bwMode="auto">
          <a:xfrm rot="10800000">
            <a:off x="5001894" y="237761"/>
            <a:ext cx="341630" cy="20701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52381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1415669" y="1126599"/>
            <a:ext cx="9360660" cy="4708981"/>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En el desarrollo de sistemas de software actuales, las arquitecturas de microservicios permiten separar las diferentes funciones de una aplicación en servicios independientes y dedicados. Sin embargo, para que un usuario final pueda interactuar con estos datos de forma sencilla, es indispensable contar con una interfaz gráfica de usuario (GUI).</a:t>
            </a:r>
          </a:p>
          <a:p>
            <a:pPr algn="just"/>
            <a:endParaRPr lang="es-ES" sz="2000" dirty="0">
              <a:latin typeface="Arial" panose="020B0604020202020204" pitchFamily="34" charset="0"/>
              <a:cs typeface="Arial" panose="020B0604020202020204" pitchFamily="34" charset="0"/>
            </a:endParaRPr>
          </a:p>
          <a:p>
            <a:pPr algn="just"/>
            <a:r>
              <a:rPr lang="es-ES" sz="2000" dirty="0">
                <a:latin typeface="Arial" panose="020B0604020202020204" pitchFamily="34" charset="0"/>
                <a:cs typeface="Arial" panose="020B0604020202020204" pitchFamily="34" charset="0"/>
              </a:rPr>
              <a:t>En esta práctica, nos enfocamos en el desarrollo y la construcción de un </a:t>
            </a:r>
            <a:r>
              <a:rPr lang="es-ES" sz="2000" dirty="0" err="1">
                <a:latin typeface="Arial" panose="020B0604020202020204" pitchFamily="34" charset="0"/>
                <a:cs typeface="Arial" panose="020B0604020202020204" pitchFamily="34" charset="0"/>
              </a:rPr>
              <a:t>frontend</a:t>
            </a:r>
            <a:r>
              <a:rPr lang="es-ES" sz="2000" dirty="0">
                <a:latin typeface="Arial" panose="020B0604020202020204" pitchFamily="34" charset="0"/>
                <a:cs typeface="Arial" panose="020B0604020202020204" pitchFamily="34" charset="0"/>
              </a:rPr>
              <a:t> utilizando el </a:t>
            </a:r>
            <a:r>
              <a:rPr lang="es-ES" sz="2000" dirty="0" err="1">
                <a:latin typeface="Arial" panose="020B0604020202020204" pitchFamily="34" charset="0"/>
                <a:cs typeface="Arial" panose="020B0604020202020204" pitchFamily="34" charset="0"/>
              </a:rPr>
              <a:t>framework</a:t>
            </a:r>
            <a:r>
              <a:rPr lang="es-ES" sz="2000" dirty="0">
                <a:latin typeface="Arial" panose="020B0604020202020204" pitchFamily="34" charset="0"/>
                <a:cs typeface="Arial" panose="020B0604020202020204" pitchFamily="34" charset="0"/>
              </a:rPr>
              <a:t> </a:t>
            </a:r>
            <a:r>
              <a:rPr lang="es-ES" sz="2000" b="1" dirty="0">
                <a:latin typeface="Arial" panose="020B0604020202020204" pitchFamily="34" charset="0"/>
                <a:cs typeface="Arial" panose="020B0604020202020204" pitchFamily="34" charset="0"/>
              </a:rPr>
              <a:t>Angular 19</a:t>
            </a:r>
            <a:r>
              <a:rPr lang="es-ES" sz="2000" dirty="0">
                <a:latin typeface="Arial" panose="020B0604020202020204" pitchFamily="34" charset="0"/>
                <a:cs typeface="Arial" panose="020B0604020202020204" pitchFamily="34" charset="0"/>
              </a:rPr>
              <a:t>. El objetivo principal fue conectar esta interfaz con el ecosistema distribuido que desarrollamos previamente en Spring </a:t>
            </a:r>
            <a:r>
              <a:rPr lang="es-ES" sz="2000" dirty="0" err="1">
                <a:latin typeface="Arial" panose="020B0604020202020204" pitchFamily="34" charset="0"/>
                <a:cs typeface="Arial" panose="020B0604020202020204" pitchFamily="34" charset="0"/>
              </a:rPr>
              <a:t>Boot</a:t>
            </a:r>
            <a:r>
              <a:rPr lang="es-ES" sz="2000" dirty="0">
                <a:latin typeface="Arial" panose="020B0604020202020204" pitchFamily="34" charset="0"/>
                <a:cs typeface="Arial" panose="020B0604020202020204" pitchFamily="34" charset="0"/>
              </a:rPr>
              <a:t> (IntelliJ), el cual incluye componentes centrales como un servidor de descubrimiento (</a:t>
            </a:r>
            <a:r>
              <a:rPr lang="es-ES" sz="2000" b="1" dirty="0">
                <a:latin typeface="Arial" panose="020B0604020202020204" pitchFamily="34" charset="0"/>
                <a:cs typeface="Arial" panose="020B0604020202020204" pitchFamily="34" charset="0"/>
              </a:rPr>
              <a:t>Eureka</a:t>
            </a:r>
            <a:r>
              <a:rPr lang="es-ES" sz="2000" dirty="0">
                <a:latin typeface="Arial" panose="020B0604020202020204" pitchFamily="34" charset="0"/>
                <a:cs typeface="Arial" panose="020B0604020202020204" pitchFamily="34" charset="0"/>
              </a:rPr>
              <a:t>), un servidor de propiedades (</a:t>
            </a:r>
            <a:r>
              <a:rPr lang="es-ES" sz="2000" b="1" dirty="0" err="1">
                <a:latin typeface="Arial" panose="020B0604020202020204" pitchFamily="34" charset="0"/>
                <a:cs typeface="Arial" panose="020B0604020202020204" pitchFamily="34" charset="0"/>
              </a:rPr>
              <a:t>Config</a:t>
            </a:r>
            <a:r>
              <a:rPr lang="es-ES" sz="2000" b="1" dirty="0">
                <a:latin typeface="Arial" panose="020B0604020202020204" pitchFamily="34" charset="0"/>
                <a:cs typeface="Arial" panose="020B0604020202020204" pitchFamily="34" charset="0"/>
              </a:rPr>
              <a:t> Server</a:t>
            </a:r>
            <a:r>
              <a:rPr lang="es-ES" sz="2000" dirty="0">
                <a:latin typeface="Arial" panose="020B0604020202020204" pitchFamily="34" charset="0"/>
                <a:cs typeface="Arial" panose="020B0604020202020204" pitchFamily="34" charset="0"/>
              </a:rPr>
              <a:t>), y un </a:t>
            </a:r>
            <a:r>
              <a:rPr lang="es-ES" sz="2000" b="1" dirty="0">
                <a:latin typeface="Arial" panose="020B0604020202020204" pitchFamily="34" charset="0"/>
                <a:cs typeface="Arial" panose="020B0604020202020204" pitchFamily="34" charset="0"/>
              </a:rPr>
              <a:t>API Gateway</a:t>
            </a:r>
            <a:r>
              <a:rPr lang="es-ES" sz="2000" dirty="0">
                <a:latin typeface="Arial" panose="020B0604020202020204" pitchFamily="34" charset="0"/>
                <a:cs typeface="Arial" panose="020B0604020202020204" pitchFamily="34" charset="0"/>
              </a:rPr>
              <a:t> encargado de centralizar y redirigir todas las peticiones hacia los microservicios de </a:t>
            </a:r>
            <a:r>
              <a:rPr lang="es-ES" sz="2000" b="1" dirty="0">
                <a:latin typeface="Arial" panose="020B0604020202020204" pitchFamily="34" charset="0"/>
                <a:cs typeface="Arial" panose="020B0604020202020204" pitchFamily="34" charset="0"/>
              </a:rPr>
              <a:t>Alumnos</a:t>
            </a:r>
            <a:r>
              <a:rPr lang="es-ES" sz="2000" dirty="0">
                <a:latin typeface="Arial" panose="020B0604020202020204" pitchFamily="34" charset="0"/>
                <a:cs typeface="Arial" panose="020B0604020202020204" pitchFamily="34" charset="0"/>
              </a:rPr>
              <a:t> y </a:t>
            </a:r>
            <a:r>
              <a:rPr lang="es-ES" sz="2000" b="1" dirty="0">
                <a:latin typeface="Arial" panose="020B0604020202020204" pitchFamily="34" charset="0"/>
                <a:cs typeface="Arial" panose="020B0604020202020204" pitchFamily="34" charset="0"/>
              </a:rPr>
              <a:t>Cursos</a:t>
            </a:r>
            <a:r>
              <a:rPr lang="es-ES" sz="2000" dirty="0">
                <a:latin typeface="Arial" panose="020B0604020202020204" pitchFamily="34" charset="0"/>
                <a:cs typeface="Arial" panose="020B0604020202020204" pitchFamily="34" charset="0"/>
              </a:rPr>
              <a:t>. Con esto, logramos unificar el consumo de dos bases de datos distintas (</a:t>
            </a:r>
            <a:r>
              <a:rPr lang="es-ES" sz="2000" b="1" dirty="0">
                <a:latin typeface="Arial" panose="020B0604020202020204" pitchFamily="34" charset="0"/>
                <a:cs typeface="Arial" panose="020B0604020202020204" pitchFamily="34" charset="0"/>
              </a:rPr>
              <a:t>MySQL</a:t>
            </a:r>
            <a:r>
              <a:rPr lang="es-ES" sz="2000" dirty="0">
                <a:latin typeface="Arial" panose="020B0604020202020204" pitchFamily="34" charset="0"/>
                <a:cs typeface="Arial" panose="020B0604020202020204" pitchFamily="34" charset="0"/>
              </a:rPr>
              <a:t> y </a:t>
            </a:r>
            <a:r>
              <a:rPr lang="es-ES" sz="2000" b="1" dirty="0">
                <a:latin typeface="Arial" panose="020B0604020202020204" pitchFamily="34" charset="0"/>
                <a:cs typeface="Arial" panose="020B0604020202020204" pitchFamily="34" charset="0"/>
              </a:rPr>
              <a:t>PostgreSQL</a:t>
            </a:r>
            <a:r>
              <a:rPr lang="es-ES" sz="2000" dirty="0">
                <a:latin typeface="Arial" panose="020B0604020202020204" pitchFamily="34" charset="0"/>
                <a:cs typeface="Arial" panose="020B0604020202020204" pitchFamily="34" charset="0"/>
              </a:rPr>
              <a:t>) en una sola aplicación web accesible y reactiva.</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5324475" y="467315"/>
            <a:ext cx="1943100" cy="255250"/>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sz="1600" b="1" dirty="0">
                <a:solidFill>
                  <a:schemeClr val="tx1"/>
                </a:solidFill>
                <a:latin typeface="Arial" panose="020B0604020202020204" pitchFamily="34" charset="0"/>
                <a:cs typeface="Arial" panose="020B0604020202020204" pitchFamily="34" charset="0"/>
              </a:rPr>
              <a:t>INTRODUCCIÓN</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4949189" y="383496"/>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10" name="Imagen 9">
            <a:extLst>
              <a:ext uri="{FF2B5EF4-FFF2-40B4-BE49-F238E27FC236}">
                <a16:creationId xmlns:a16="http://schemas.microsoft.com/office/drawing/2014/main" id="{2C17DC6D-AD33-4EC2-A83F-22DC0FDFBF8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5870" y="445737"/>
            <a:ext cx="268605" cy="306070"/>
          </a:xfrm>
          <a:prstGeom prst="rect">
            <a:avLst/>
          </a:prstGeom>
          <a:noFill/>
        </p:spPr>
      </p:pic>
    </p:spTree>
    <p:extLst>
      <p:ext uri="{BB962C8B-B14F-4D97-AF65-F5344CB8AC3E}">
        <p14:creationId xmlns:p14="http://schemas.microsoft.com/office/powerpoint/2010/main" val="597710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695325" y="946532"/>
            <a:ext cx="11068050" cy="5632311"/>
          </a:xfrm>
          <a:prstGeom prst="rect">
            <a:avLst/>
          </a:prstGeom>
          <a:noFill/>
        </p:spPr>
        <p:txBody>
          <a:bodyPr wrap="square">
            <a:spAutoFit/>
          </a:bodyPr>
          <a:lstStyle/>
          <a:p>
            <a:pPr algn="l"/>
            <a:r>
              <a:rPr lang="es-ES" sz="2000" b="0" i="0" dirty="0">
                <a:effectLst/>
                <a:latin typeface="Arial" panose="020B0604020202020204" pitchFamily="34" charset="0"/>
                <a:cs typeface="Arial" panose="020B0604020202020204" pitchFamily="34" charset="0"/>
              </a:rPr>
              <a:t>Construir un </a:t>
            </a:r>
            <a:r>
              <a:rPr lang="es-ES" sz="2000" b="0" i="0" dirty="0" err="1">
                <a:effectLst/>
                <a:latin typeface="Arial" panose="020B0604020202020204" pitchFamily="34" charset="0"/>
                <a:cs typeface="Arial" panose="020B0604020202020204" pitchFamily="34" charset="0"/>
              </a:rPr>
              <a:t>backend</a:t>
            </a:r>
            <a:r>
              <a:rPr lang="es-ES" sz="2000" b="0" i="0" dirty="0">
                <a:effectLst/>
                <a:latin typeface="Arial" panose="020B0604020202020204" pitchFamily="34" charset="0"/>
                <a:cs typeface="Arial" panose="020B0604020202020204" pitchFamily="34" charset="0"/>
              </a:rPr>
              <a:t> robusto con microservicios es solo la mitad del trabajo; la verdadera utilidad de un sistema distribuido se demuestra cuando los datos se vuelven accesibles para el usuario. Implementar este </a:t>
            </a:r>
            <a:r>
              <a:rPr lang="es-ES" sz="2000" b="0" i="0" dirty="0" err="1">
                <a:effectLst/>
                <a:latin typeface="Arial" panose="020B0604020202020204" pitchFamily="34" charset="0"/>
                <a:cs typeface="Arial" panose="020B0604020202020204" pitchFamily="34" charset="0"/>
              </a:rPr>
              <a:t>frontend</a:t>
            </a:r>
            <a:r>
              <a:rPr lang="es-ES" sz="2000" b="0" i="0" dirty="0">
                <a:effectLst/>
                <a:latin typeface="Arial" panose="020B0604020202020204" pitchFamily="34" charset="0"/>
                <a:cs typeface="Arial" panose="020B0604020202020204" pitchFamily="34" charset="0"/>
              </a:rPr>
              <a:t> con Angular 19 se justifica por las siguientes razones de ingeniería:</a:t>
            </a:r>
          </a:p>
          <a:p>
            <a:pPr algn="l"/>
            <a:endParaRPr lang="es-ES" sz="2000" b="0" i="0" dirty="0">
              <a:effectLst/>
              <a:latin typeface="Arial" panose="020B0604020202020204" pitchFamily="34" charset="0"/>
              <a:cs typeface="Arial" panose="020B0604020202020204" pitchFamily="34" charset="0"/>
            </a:endParaRPr>
          </a:p>
          <a:p>
            <a:pPr algn="l"/>
            <a:r>
              <a:rPr lang="es-ES" sz="2000" b="1" i="0" dirty="0">
                <a:effectLst/>
                <a:latin typeface="Arial" panose="020B0604020202020204" pitchFamily="34" charset="0"/>
                <a:cs typeface="Arial" panose="020B0604020202020204" pitchFamily="34" charset="0"/>
              </a:rPr>
              <a:t>Centralización de operaciones</a:t>
            </a:r>
            <a:r>
              <a:rPr lang="es-ES" sz="2000" b="0" i="0" dirty="0">
                <a:effectLst/>
                <a:latin typeface="Arial" panose="020B0604020202020204" pitchFamily="34" charset="0"/>
                <a:cs typeface="Arial" panose="020B0604020202020204" pitchFamily="34" charset="0"/>
              </a:rPr>
              <a:t>: Permitimos que operaciones complejas en bases de datos relacionales distintas ocurran detrás de escena, ofreciendo al usuario una pantalla limpia y organizada.</a:t>
            </a:r>
          </a:p>
          <a:p>
            <a:pPr algn="l"/>
            <a:endParaRPr lang="es-ES" sz="2000" b="0" i="0" dirty="0">
              <a:effectLst/>
              <a:latin typeface="Arial" panose="020B0604020202020204" pitchFamily="34" charset="0"/>
              <a:cs typeface="Arial" panose="020B0604020202020204" pitchFamily="34" charset="0"/>
            </a:endParaRPr>
          </a:p>
          <a:p>
            <a:pPr algn="l"/>
            <a:r>
              <a:rPr lang="es-ES" sz="2000" b="1" i="0" dirty="0">
                <a:effectLst/>
                <a:latin typeface="Arial" panose="020B0604020202020204" pitchFamily="34" charset="0"/>
                <a:cs typeface="Arial" panose="020B0604020202020204" pitchFamily="34" charset="0"/>
              </a:rPr>
              <a:t>Optimización del canal distribuido</a:t>
            </a:r>
            <a:r>
              <a:rPr lang="es-ES" sz="2000" b="0" i="0" dirty="0">
                <a:effectLst/>
                <a:latin typeface="Arial" panose="020B0604020202020204" pitchFamily="34" charset="0"/>
                <a:cs typeface="Arial" panose="020B0604020202020204" pitchFamily="34" charset="0"/>
              </a:rPr>
              <a:t>: En lugar de saturar la red trayendo listados masivos a cada momento, estructuramos un menú dinámico que segmenta las consultas (todos los registros, búsquedas individuales por ID, altas y bajas), haciendo que la comunicación a través del API Gateway sea más eficiente.</a:t>
            </a:r>
          </a:p>
          <a:p>
            <a:pPr algn="l"/>
            <a:endParaRPr lang="es-ES" sz="2000" b="0" i="0" dirty="0">
              <a:effectLst/>
              <a:latin typeface="Arial" panose="020B0604020202020204" pitchFamily="34" charset="0"/>
              <a:cs typeface="Arial" panose="020B0604020202020204" pitchFamily="34" charset="0"/>
            </a:endParaRPr>
          </a:p>
          <a:p>
            <a:pPr algn="l"/>
            <a:r>
              <a:rPr lang="es-ES" sz="2000" b="1" i="0" dirty="0">
                <a:effectLst/>
                <a:latin typeface="Arial" panose="020B0604020202020204" pitchFamily="34" charset="0"/>
                <a:cs typeface="Arial" panose="020B0604020202020204" pitchFamily="34" charset="0"/>
              </a:rPr>
              <a:t>Resolución de restricciones de seguridad</a:t>
            </a:r>
            <a:r>
              <a:rPr lang="es-ES" sz="2000" b="0" i="0" dirty="0">
                <a:effectLst/>
                <a:latin typeface="Arial" panose="020B0604020202020204" pitchFamily="34" charset="0"/>
                <a:cs typeface="Arial" panose="020B0604020202020204" pitchFamily="34" charset="0"/>
              </a:rPr>
              <a:t>: El proceso nos obligó a implementar configuraciones de intercambio de recursos de origen cruzado (CORS), una competencia clave en el despliegue de aplicaciones web reales donde el </a:t>
            </a:r>
            <a:r>
              <a:rPr lang="es-ES" sz="2000" b="0" i="0" dirty="0" err="1">
                <a:effectLst/>
                <a:latin typeface="Arial" panose="020B0604020202020204" pitchFamily="34" charset="0"/>
                <a:cs typeface="Arial" panose="020B0604020202020204" pitchFamily="34" charset="0"/>
              </a:rPr>
              <a:t>frontend</a:t>
            </a:r>
            <a:r>
              <a:rPr lang="es-ES" sz="2000" b="0" i="0" dirty="0">
                <a:effectLst/>
                <a:latin typeface="Arial" panose="020B0604020202020204" pitchFamily="34" charset="0"/>
                <a:cs typeface="Arial" panose="020B0604020202020204" pitchFamily="34" charset="0"/>
              </a:rPr>
              <a:t> y el </a:t>
            </a:r>
            <a:r>
              <a:rPr lang="es-ES" sz="2000" b="0" i="0" dirty="0" err="1">
                <a:effectLst/>
                <a:latin typeface="Arial" panose="020B0604020202020204" pitchFamily="34" charset="0"/>
                <a:cs typeface="Arial" panose="020B0604020202020204" pitchFamily="34" charset="0"/>
              </a:rPr>
              <a:t>backend</a:t>
            </a:r>
            <a:r>
              <a:rPr lang="es-ES" sz="2000" b="0" i="0" dirty="0">
                <a:effectLst/>
                <a:latin typeface="Arial" panose="020B0604020202020204" pitchFamily="34" charset="0"/>
                <a:cs typeface="Arial" panose="020B0604020202020204" pitchFamily="34" charset="0"/>
              </a:rPr>
              <a:t> residen en diferentes puertos o servidores.</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5324475" y="467315"/>
            <a:ext cx="1943100" cy="255250"/>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sz="1600" b="1" dirty="0">
                <a:solidFill>
                  <a:schemeClr val="tx1"/>
                </a:solidFill>
                <a:latin typeface="Arial" panose="020B0604020202020204" pitchFamily="34" charset="0"/>
                <a:cs typeface="Arial" panose="020B0604020202020204" pitchFamily="34" charset="0"/>
              </a:rPr>
              <a:t>JUSTIFICACIÓN</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4949189" y="383496"/>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10" name="Imagen 9" descr="izquierda justificación vector icono 40666057 Vector en Vecteezy">
            <a:extLst>
              <a:ext uri="{FF2B5EF4-FFF2-40B4-BE49-F238E27FC236}">
                <a16:creationId xmlns:a16="http://schemas.microsoft.com/office/drawing/2014/main" id="{F0F57F88-E129-4891-A963-DB2F9355C49A}"/>
              </a:ext>
            </a:extLst>
          </p:cNvPr>
          <p:cNvPicPr/>
          <p:nvPr/>
        </p:nvPicPr>
        <p:blipFill rotWithShape="1">
          <a:blip r:embed="rId3" cstate="print">
            <a:extLst>
              <a:ext uri="{BEBA8EAE-BF5A-486C-A8C5-ECC9F3942E4B}">
                <a14:imgProps xmlns:a14="http://schemas.microsoft.com/office/drawing/2010/main">
                  <a14:imgLayer r:embed="rId4">
                    <a14:imgEffect>
                      <a14:backgroundRemoval t="4698" b="42281" l="58880" r="95431">
                        <a14:foregroundMark x1="70074" y1="9481" x2="68963" y2="6889"/>
                        <a14:foregroundMark x1="88148" y1="8741" x2="86889" y2="8000"/>
                        <a14:foregroundMark x1="71481" y1="20148" x2="73185" y2="20148"/>
                        <a14:foregroundMark x1="72667" y1="25778" x2="75259" y2="25778"/>
                        <a14:foregroundMark x1="72074" y1="31259" x2="74519" y2="31259"/>
                        <a14:foregroundMark x1="70444" y1="36296" x2="71333" y2="36444"/>
                        <a14:foregroundMark x1="82963" y1="36815" x2="82963" y2="35704"/>
                      </a14:backgroundRemoval>
                    </a14:imgEffect>
                  </a14:imgLayer>
                </a14:imgProps>
              </a:ext>
              <a:ext uri="{28A0092B-C50C-407E-A947-70E740481C1C}">
                <a14:useLocalDpi xmlns:a14="http://schemas.microsoft.com/office/drawing/2010/main" val="0"/>
              </a:ext>
            </a:extLst>
          </a:blip>
          <a:srcRect l="55258" b="53021"/>
          <a:stretch/>
        </p:blipFill>
        <p:spPr bwMode="auto">
          <a:xfrm>
            <a:off x="4975541" y="419035"/>
            <a:ext cx="370205" cy="38862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55925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4401205"/>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Para levantar el ecosistema completo y asegurar la comunicación, utilizamos las siguientes herramientas:</a:t>
            </a:r>
          </a:p>
          <a:p>
            <a:pPr algn="just"/>
            <a:br>
              <a:rPr lang="es-ES" sz="2000" i="0" dirty="0">
                <a:effectLst/>
                <a:latin typeface="Arial" panose="020B0604020202020204" pitchFamily="34" charset="0"/>
                <a:cs typeface="Arial" panose="020B0604020202020204" pitchFamily="34" charset="0"/>
              </a:rPr>
            </a:br>
            <a:endParaRPr lang="es-ES" sz="2000" i="0" dirty="0">
              <a:effectLst/>
              <a:latin typeface="Arial" panose="020B0604020202020204" pitchFamily="34" charset="0"/>
              <a:cs typeface="Arial" panose="020B0604020202020204" pitchFamily="34" charset="0"/>
            </a:endParaRPr>
          </a:p>
          <a:p>
            <a:pPr algn="just"/>
            <a:r>
              <a:rPr lang="es-ES" sz="2000" b="1" i="0" dirty="0">
                <a:effectLst/>
                <a:latin typeface="Arial" panose="020B0604020202020204" pitchFamily="34" charset="0"/>
                <a:cs typeface="Arial" panose="020B0604020202020204" pitchFamily="34" charset="0"/>
              </a:rPr>
              <a:t>Node.js &amp; Angular CLI (v19): </a:t>
            </a:r>
            <a:r>
              <a:rPr lang="es-ES" sz="2000" i="0" dirty="0">
                <a:effectLst/>
                <a:latin typeface="Arial" panose="020B0604020202020204" pitchFamily="34" charset="0"/>
                <a:cs typeface="Arial" panose="020B0604020202020204" pitchFamily="34" charset="0"/>
              </a:rPr>
              <a:t>Entorno de ejecución y línea de comandos para estructurar el </a:t>
            </a:r>
            <a:r>
              <a:rPr lang="es-ES" sz="2000" i="0" dirty="0" err="1">
                <a:effectLst/>
                <a:latin typeface="Arial" panose="020B0604020202020204" pitchFamily="34" charset="0"/>
                <a:cs typeface="Arial" panose="020B0604020202020204" pitchFamily="34" charset="0"/>
              </a:rPr>
              <a:t>frontend</a:t>
            </a:r>
            <a:r>
              <a:rPr lang="es-ES" sz="2000" i="0" dirty="0">
                <a:effectLst/>
                <a:latin typeface="Arial" panose="020B0604020202020204" pitchFamily="34" charset="0"/>
                <a:cs typeface="Arial" panose="020B0604020202020204" pitchFamily="34" charset="0"/>
              </a:rPr>
              <a:t> bajo la arquitectura moderna de componentes </a:t>
            </a:r>
            <a:r>
              <a:rPr lang="es-ES" sz="2000" i="0" dirty="0" err="1">
                <a:effectLst/>
                <a:latin typeface="Arial" panose="020B0604020202020204" pitchFamily="34" charset="0"/>
                <a:cs typeface="Arial" panose="020B0604020202020204" pitchFamily="34" charset="0"/>
              </a:rPr>
              <a:t>standalone</a:t>
            </a:r>
            <a:r>
              <a:rPr lang="es-ES" sz="2000" i="0" dirty="0">
                <a:effectLst/>
                <a:latin typeface="Arial" panose="020B0604020202020204" pitchFamily="34" charset="0"/>
                <a:cs typeface="Arial" panose="020B0604020202020204" pitchFamily="34" charset="0"/>
              </a:rPr>
              <a:t>.</a:t>
            </a:r>
          </a:p>
          <a:p>
            <a:pPr algn="just"/>
            <a:endParaRPr lang="es-ES" sz="2000" i="0" dirty="0">
              <a:effectLst/>
              <a:latin typeface="Arial" panose="020B0604020202020204" pitchFamily="34" charset="0"/>
              <a:cs typeface="Arial" panose="020B0604020202020204" pitchFamily="34" charset="0"/>
            </a:endParaRPr>
          </a:p>
          <a:p>
            <a:pPr algn="just"/>
            <a:r>
              <a:rPr lang="es-ES" sz="2000" b="1" i="0" dirty="0">
                <a:effectLst/>
                <a:latin typeface="Arial" panose="020B0604020202020204" pitchFamily="34" charset="0"/>
                <a:cs typeface="Arial" panose="020B0604020202020204" pitchFamily="34" charset="0"/>
              </a:rPr>
              <a:t>Visual Studio </a:t>
            </a:r>
            <a:r>
              <a:rPr lang="es-ES" sz="2000" b="1" i="0" dirty="0" err="1">
                <a:effectLst/>
                <a:latin typeface="Arial" panose="020B0604020202020204" pitchFamily="34" charset="0"/>
                <a:cs typeface="Arial" panose="020B0604020202020204" pitchFamily="34" charset="0"/>
              </a:rPr>
              <a:t>Code</a:t>
            </a:r>
            <a:r>
              <a:rPr lang="es-ES" sz="2000" i="0" dirty="0">
                <a:effectLst/>
                <a:latin typeface="Arial" panose="020B0604020202020204" pitchFamily="34" charset="0"/>
                <a:cs typeface="Arial" panose="020B0604020202020204" pitchFamily="34" charset="0"/>
              </a:rPr>
              <a:t>: Editor de texto donde programamos la lógica y las vistas de la interfaz.</a:t>
            </a:r>
          </a:p>
          <a:p>
            <a:pPr algn="just"/>
            <a:endParaRPr lang="es-ES" sz="2000" i="0" dirty="0">
              <a:effectLst/>
              <a:latin typeface="Arial" panose="020B0604020202020204" pitchFamily="34" charset="0"/>
              <a:cs typeface="Arial" panose="020B0604020202020204" pitchFamily="34" charset="0"/>
            </a:endParaRPr>
          </a:p>
          <a:p>
            <a:pPr algn="just"/>
            <a:r>
              <a:rPr lang="es-ES" sz="2000" b="1" i="0" dirty="0">
                <a:effectLst/>
                <a:latin typeface="Arial" panose="020B0604020202020204" pitchFamily="34" charset="0"/>
                <a:cs typeface="Arial" panose="020B0604020202020204" pitchFamily="34" charset="0"/>
              </a:rPr>
              <a:t>IntelliJ IDEA: </a:t>
            </a:r>
            <a:r>
              <a:rPr lang="es-ES" sz="2000" i="0" dirty="0">
                <a:effectLst/>
                <a:latin typeface="Arial" panose="020B0604020202020204" pitchFamily="34" charset="0"/>
                <a:cs typeface="Arial" panose="020B0604020202020204" pitchFamily="34" charset="0"/>
              </a:rPr>
              <a:t>Entorno donde mantuvimos corriendo los microservicios y servidores de Spring Cloud.</a:t>
            </a:r>
          </a:p>
          <a:p>
            <a:pPr algn="just"/>
            <a:endParaRPr lang="es-ES" sz="2000" i="0" dirty="0">
              <a:effectLst/>
              <a:latin typeface="Arial" panose="020B0604020202020204" pitchFamily="34" charset="0"/>
              <a:cs typeface="Arial" panose="020B0604020202020204" pitchFamily="34" charset="0"/>
            </a:endParaRPr>
          </a:p>
          <a:p>
            <a:pPr algn="just"/>
            <a:r>
              <a:rPr lang="es-ES" sz="2000" b="1" i="0" dirty="0">
                <a:effectLst/>
                <a:latin typeface="Arial" panose="020B0604020202020204" pitchFamily="34" charset="0"/>
                <a:cs typeface="Arial" panose="020B0604020202020204" pitchFamily="34" charset="0"/>
              </a:rPr>
              <a:t>Docker Desktop: </a:t>
            </a:r>
            <a:r>
              <a:rPr lang="es-ES" sz="2000" i="0" dirty="0">
                <a:effectLst/>
                <a:latin typeface="Arial" panose="020B0604020202020204" pitchFamily="34" charset="0"/>
                <a:cs typeface="Arial" panose="020B0604020202020204" pitchFamily="34" charset="0"/>
              </a:rPr>
              <a:t>Contenedor encargado de gestionar las instancias activas de MySQL (</a:t>
            </a:r>
            <a:r>
              <a:rPr lang="es-ES" sz="2000" i="0" dirty="0" err="1">
                <a:effectLst/>
                <a:latin typeface="Arial" panose="020B0604020202020204" pitchFamily="34" charset="0"/>
                <a:cs typeface="Arial" panose="020B0604020202020204" pitchFamily="34" charset="0"/>
              </a:rPr>
              <a:t>vannimysql</a:t>
            </a:r>
            <a:r>
              <a:rPr lang="es-ES" sz="2000" i="0" dirty="0">
                <a:effectLst/>
                <a:latin typeface="Arial" panose="020B0604020202020204" pitchFamily="34" charset="0"/>
                <a:cs typeface="Arial" panose="020B0604020202020204" pitchFamily="34" charset="0"/>
              </a:rPr>
              <a:t>) y PostgreSQL (</a:t>
            </a:r>
            <a:r>
              <a:rPr lang="es-ES" sz="2000" i="0" dirty="0" err="1">
                <a:effectLst/>
                <a:latin typeface="Arial" panose="020B0604020202020204" pitchFamily="34" charset="0"/>
                <a:cs typeface="Arial" panose="020B0604020202020204" pitchFamily="34" charset="0"/>
              </a:rPr>
              <a:t>vannipostgres</a:t>
            </a:r>
            <a:r>
              <a:rPr lang="es-ES" sz="2000" i="0" dirty="0">
                <a:effectLst/>
                <a:latin typeface="Arial" panose="020B0604020202020204" pitchFamily="34" charset="0"/>
                <a:cs typeface="Arial" panose="020B0604020202020204" pitchFamily="34" charset="0"/>
              </a:rPr>
              <a:t>).</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Herramientas y Entorno de Software</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spTree>
    <p:extLst>
      <p:ext uri="{BB962C8B-B14F-4D97-AF65-F5344CB8AC3E}">
        <p14:creationId xmlns:p14="http://schemas.microsoft.com/office/powerpoint/2010/main" val="3201866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015663"/>
          </a:xfrm>
          <a:prstGeom prst="rect">
            <a:avLst/>
          </a:prstGeom>
          <a:noFill/>
        </p:spPr>
        <p:txBody>
          <a:bodyPr wrap="square">
            <a:spAutoFit/>
          </a:bodyPr>
          <a:lstStyle/>
          <a:p>
            <a:r>
              <a:rPr lang="es-ES" sz="2000" dirty="0">
                <a:latin typeface="Arial" panose="020B0604020202020204" pitchFamily="34" charset="0"/>
                <a:cs typeface="Arial" panose="020B0604020202020204" pitchFamily="34" charset="0"/>
              </a:rPr>
              <a:t>Creamos el proyecto desde cero en la terminal de Node.js ejecutando los comandos listados a continuación:</a:t>
            </a:r>
          </a:p>
          <a:p>
            <a:pPr>
              <a:buFont typeface="+mj-lt"/>
              <a:buAutoNum type="arabicPeriod"/>
            </a:pPr>
            <a:r>
              <a:rPr lang="es-ES" sz="2000" b="1" dirty="0">
                <a:latin typeface="Arial" panose="020B0604020202020204" pitchFamily="34" charset="0"/>
                <a:cs typeface="Arial" panose="020B0604020202020204" pitchFamily="34" charset="0"/>
              </a:rPr>
              <a:t>Instalación de la herramienta de comandos:</a:t>
            </a:r>
            <a:endParaRPr lang="es-ES" sz="2000" dirty="0">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Comandos de Inicialización y Estructura</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FC6D106B-8DA6-4097-9D8A-B8BA5B8B0E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5791" y="2133419"/>
            <a:ext cx="8545118" cy="2591162"/>
          </a:xfrm>
          <a:prstGeom prst="rect">
            <a:avLst/>
          </a:prstGeom>
        </p:spPr>
      </p:pic>
    </p:spTree>
    <p:extLst>
      <p:ext uri="{BB962C8B-B14F-4D97-AF65-F5344CB8AC3E}">
        <p14:creationId xmlns:p14="http://schemas.microsoft.com/office/powerpoint/2010/main" val="2577977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400110"/>
          </a:xfrm>
          <a:prstGeom prst="rect">
            <a:avLst/>
          </a:prstGeom>
          <a:noFill/>
        </p:spPr>
        <p:txBody>
          <a:bodyPr wrap="square">
            <a:spAutoFit/>
          </a:bodyPr>
          <a:lstStyle/>
          <a:p>
            <a:r>
              <a:rPr lang="es-ES" sz="2000" b="1" dirty="0">
                <a:latin typeface="Arial" panose="020B0604020202020204" pitchFamily="34" charset="0"/>
                <a:cs typeface="Arial" panose="020B0604020202020204" pitchFamily="34" charset="0"/>
              </a:rPr>
              <a:t>Creación del espacio de trabajo del </a:t>
            </a:r>
            <a:r>
              <a:rPr lang="es-ES" sz="2000" b="1" dirty="0" err="1">
                <a:latin typeface="Arial" panose="020B0604020202020204" pitchFamily="34" charset="0"/>
                <a:cs typeface="Arial" panose="020B0604020202020204" pitchFamily="34" charset="0"/>
              </a:rPr>
              <a:t>frontend</a:t>
            </a:r>
            <a:r>
              <a:rPr lang="es-ES" sz="2000" b="1" dirty="0">
                <a:latin typeface="Arial" panose="020B0604020202020204" pitchFamily="34" charset="0"/>
                <a:cs typeface="Arial" panose="020B0604020202020204" pitchFamily="34" charset="0"/>
              </a:rPr>
              <a:t>:</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Comandos de Inicialización y Estructura</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9" name="Imagen 8">
            <a:extLst>
              <a:ext uri="{FF2B5EF4-FFF2-40B4-BE49-F238E27FC236}">
                <a16:creationId xmlns:a16="http://schemas.microsoft.com/office/drawing/2014/main" id="{97306AAC-7769-4F56-8880-F5562E5AC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700" y="1377899"/>
            <a:ext cx="10010775" cy="4725142"/>
          </a:xfrm>
          <a:prstGeom prst="rect">
            <a:avLst/>
          </a:prstGeom>
        </p:spPr>
      </p:pic>
    </p:spTree>
    <p:extLst>
      <p:ext uri="{BB962C8B-B14F-4D97-AF65-F5344CB8AC3E}">
        <p14:creationId xmlns:p14="http://schemas.microsoft.com/office/powerpoint/2010/main" val="3648068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5016758"/>
          </a:xfrm>
          <a:prstGeom prst="rect">
            <a:avLst/>
          </a:prstGeom>
          <a:noFill/>
        </p:spPr>
        <p:txBody>
          <a:bodyPr wrap="square">
            <a:spAutoFit/>
          </a:bodyPr>
          <a:lstStyle/>
          <a:p>
            <a:pPr algn="just"/>
            <a:r>
              <a:rPr lang="es-ES" sz="2000" i="0" dirty="0">
                <a:effectLst/>
                <a:latin typeface="Arial" panose="020B0604020202020204" pitchFamily="34" charset="0"/>
                <a:cs typeface="Arial" panose="020B0604020202020204" pitchFamily="34" charset="0"/>
              </a:rPr>
              <a:t>Con los siguientes comandos se generaron los servicios de comunicación de “</a:t>
            </a:r>
            <a:r>
              <a:rPr lang="es-ES" sz="2000" i="0" dirty="0" err="1">
                <a:effectLst/>
                <a:latin typeface="Arial" panose="020B0604020202020204" pitchFamily="34" charset="0"/>
                <a:cs typeface="Arial" panose="020B0604020202020204" pitchFamily="34" charset="0"/>
              </a:rPr>
              <a:t>Student</a:t>
            </a:r>
            <a:r>
              <a:rPr lang="es-ES" sz="2000" i="0" dirty="0">
                <a:effectLst/>
                <a:latin typeface="Arial" panose="020B0604020202020204" pitchFamily="34" charset="0"/>
                <a:cs typeface="Arial" panose="020B0604020202020204" pitchFamily="34" charset="0"/>
              </a:rPr>
              <a:t> y </a:t>
            </a:r>
            <a:r>
              <a:rPr lang="es-ES" sz="2000" i="0" dirty="0" err="1">
                <a:effectLst/>
                <a:latin typeface="Arial" panose="020B0604020202020204" pitchFamily="34" charset="0"/>
                <a:cs typeface="Arial" panose="020B0604020202020204" pitchFamily="34" charset="0"/>
              </a:rPr>
              <a:t>Courses</a:t>
            </a:r>
            <a:r>
              <a:rPr lang="es-ES" sz="2000" i="0" dirty="0">
                <a:effectLst/>
                <a:latin typeface="Arial" panose="020B0604020202020204" pitchFamily="34" charset="0"/>
                <a:cs typeface="Arial" panose="020B0604020202020204" pitchFamily="34" charset="0"/>
              </a:rPr>
              <a:t>”</a:t>
            </a: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r>
              <a:rPr lang="es-ES" sz="2000" i="0" dirty="0">
                <a:effectLst/>
                <a:latin typeface="Arial" panose="020B0604020202020204" pitchFamily="34" charset="0"/>
                <a:cs typeface="Arial" panose="020B0604020202020204" pitchFamily="34" charset="0"/>
              </a:rPr>
              <a:t>El resultado es la creación de 4 archivos que permitirán trabajar y hacer la conexión para poder llevar a cabo las peticiones al </a:t>
            </a:r>
            <a:r>
              <a:rPr lang="es-ES" sz="2000" i="0" dirty="0" err="1">
                <a:effectLst/>
                <a:latin typeface="Arial" panose="020B0604020202020204" pitchFamily="34" charset="0"/>
                <a:cs typeface="Arial" panose="020B0604020202020204" pitchFamily="34" charset="0"/>
              </a:rPr>
              <a:t>Backend</a:t>
            </a:r>
            <a:r>
              <a:rPr lang="es-ES" sz="2000" i="0" dirty="0">
                <a:effectLst/>
                <a:latin typeface="Arial" panose="020B0604020202020204" pitchFamily="34" charset="0"/>
                <a:cs typeface="Arial" panose="020B0604020202020204" pitchFamily="34" charset="0"/>
              </a:rPr>
              <a:t>.</a:t>
            </a:r>
          </a:p>
          <a:p>
            <a:pPr algn="just"/>
            <a:r>
              <a:rPr lang="es-ES" sz="2000" b="0" i="0" dirty="0">
                <a:effectLst/>
                <a:latin typeface="Arial" panose="020B0604020202020204" pitchFamily="34" charset="0"/>
                <a:cs typeface="Arial" panose="020B0604020202020204" pitchFamily="34" charset="0"/>
              </a:rPr>
              <a:t>Son los módulos encargados exclusivamente de la capa de datos y la conectividad de red.</a:t>
            </a:r>
          </a:p>
          <a:p>
            <a:pPr algn="just"/>
            <a:endParaRPr lang="es-ES" sz="2000" b="0" i="0" dirty="0">
              <a:effectLst/>
              <a:latin typeface="Arial" panose="020B0604020202020204" pitchFamily="34" charset="0"/>
              <a:cs typeface="Arial" panose="020B0604020202020204" pitchFamily="34" charset="0"/>
            </a:endParaRPr>
          </a:p>
          <a:p>
            <a:pPr algn="just"/>
            <a:r>
              <a:rPr lang="es-ES" sz="2000" b="1" i="0" dirty="0">
                <a:effectLst/>
                <a:latin typeface="Arial" panose="020B0604020202020204" pitchFamily="34" charset="0"/>
                <a:cs typeface="Arial" panose="020B0604020202020204" pitchFamily="34" charset="0"/>
              </a:rPr>
              <a:t>Función en la práctica</a:t>
            </a:r>
            <a:r>
              <a:rPr lang="es-ES" sz="2000" b="0" i="0" dirty="0">
                <a:effectLst/>
                <a:latin typeface="Arial" panose="020B0604020202020204" pitchFamily="34" charset="0"/>
                <a:cs typeface="Arial" panose="020B0604020202020204" pitchFamily="34" charset="0"/>
              </a:rPr>
              <a:t>: No contienen elementos visuales; su objetivo es inyectar el cliente HTTP de Angular (</a:t>
            </a:r>
            <a:r>
              <a:rPr lang="es-ES" sz="2000" b="0" i="0" dirty="0" err="1">
                <a:effectLst/>
                <a:latin typeface="Arial" panose="020B0604020202020204" pitchFamily="34" charset="0"/>
                <a:cs typeface="Arial" panose="020B0604020202020204" pitchFamily="34" charset="0"/>
              </a:rPr>
              <a:t>HttpClient</a:t>
            </a:r>
            <a:r>
              <a:rPr lang="es-ES" sz="2000" b="0" i="0" dirty="0">
                <a:effectLst/>
                <a:latin typeface="Arial" panose="020B0604020202020204" pitchFamily="34" charset="0"/>
                <a:cs typeface="Arial" panose="020B0604020202020204" pitchFamily="34" charset="0"/>
              </a:rPr>
              <a:t>) para consumir de forma asíncrona los </a:t>
            </a:r>
            <a:r>
              <a:rPr lang="es-ES" sz="2000" b="0" i="0" dirty="0" err="1">
                <a:effectLst/>
                <a:latin typeface="Arial" panose="020B0604020202020204" pitchFamily="34" charset="0"/>
                <a:cs typeface="Arial" panose="020B0604020202020204" pitchFamily="34" charset="0"/>
              </a:rPr>
              <a:t>endpoints</a:t>
            </a:r>
            <a:r>
              <a:rPr lang="es-ES" sz="2000" b="0" i="0" dirty="0">
                <a:effectLst/>
                <a:latin typeface="Arial" panose="020B0604020202020204" pitchFamily="34" charset="0"/>
                <a:cs typeface="Arial" panose="020B0604020202020204" pitchFamily="34" charset="0"/>
              </a:rPr>
              <a:t> del API Gateway en el puerto 8080. Se encargan de enviar y recibir los paquetes JSON correspondientes a las operaciones distribuidas (GET, POST, PUT, DELETE).</a:t>
            </a:r>
          </a:p>
          <a:p>
            <a:pPr algn="just"/>
            <a:endParaRPr lang="es-ES" sz="2000" i="0" dirty="0">
              <a:effectLst/>
              <a:latin typeface="Arial" panose="020B0604020202020204" pitchFamily="34" charset="0"/>
              <a:cs typeface="Arial" panose="020B0604020202020204" pitchFamily="34" charset="0"/>
            </a:endParaRPr>
          </a:p>
          <a:p>
            <a:pPr algn="just"/>
            <a:br>
              <a:rPr lang="es-ES" sz="2000" i="0" dirty="0">
                <a:effectLst/>
                <a:latin typeface="Arial" panose="020B0604020202020204" pitchFamily="34" charset="0"/>
                <a:cs typeface="Arial" panose="020B0604020202020204" pitchFamily="34" charset="0"/>
              </a:rPr>
            </a:br>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Generación de los servicios de comunicación (Peticiones HTTP)</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10" name="Imagen 9">
            <a:extLst>
              <a:ext uri="{FF2B5EF4-FFF2-40B4-BE49-F238E27FC236}">
                <a16:creationId xmlns:a16="http://schemas.microsoft.com/office/drawing/2014/main" id="{DC035982-307C-4CC0-BC87-7EA5511DD3C2}"/>
              </a:ext>
            </a:extLst>
          </p:cNvPr>
          <p:cNvPicPr>
            <a:picLocks noChangeAspect="1"/>
          </p:cNvPicPr>
          <p:nvPr/>
        </p:nvPicPr>
        <p:blipFill>
          <a:blip r:embed="rId3"/>
          <a:stretch>
            <a:fillRect/>
          </a:stretch>
        </p:blipFill>
        <p:spPr>
          <a:xfrm>
            <a:off x="652232" y="1590623"/>
            <a:ext cx="3305636" cy="676369"/>
          </a:xfrm>
          <a:prstGeom prst="rect">
            <a:avLst/>
          </a:prstGeom>
        </p:spPr>
      </p:pic>
      <p:pic>
        <p:nvPicPr>
          <p:cNvPr id="12" name="Imagen 11">
            <a:extLst>
              <a:ext uri="{FF2B5EF4-FFF2-40B4-BE49-F238E27FC236}">
                <a16:creationId xmlns:a16="http://schemas.microsoft.com/office/drawing/2014/main" id="{6048EA30-81EE-4BB1-BC7E-87630DA5BEFA}"/>
              </a:ext>
            </a:extLst>
          </p:cNvPr>
          <p:cNvPicPr>
            <a:picLocks noChangeAspect="1"/>
          </p:cNvPicPr>
          <p:nvPr/>
        </p:nvPicPr>
        <p:blipFill>
          <a:blip r:embed="rId4"/>
          <a:stretch>
            <a:fillRect/>
          </a:stretch>
        </p:blipFill>
        <p:spPr>
          <a:xfrm>
            <a:off x="7160897" y="4747975"/>
            <a:ext cx="1828513" cy="1862374"/>
          </a:xfrm>
          <a:prstGeom prst="rect">
            <a:avLst/>
          </a:prstGeom>
        </p:spPr>
      </p:pic>
    </p:spTree>
    <p:extLst>
      <p:ext uri="{BB962C8B-B14F-4D97-AF65-F5344CB8AC3E}">
        <p14:creationId xmlns:p14="http://schemas.microsoft.com/office/powerpoint/2010/main" val="684282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3477875"/>
          </a:xfrm>
          <a:prstGeom prst="rect">
            <a:avLst/>
          </a:prstGeom>
          <a:noFill/>
        </p:spPr>
        <p:txBody>
          <a:bodyPr wrap="square">
            <a:spAutoFit/>
          </a:bodyPr>
          <a:lstStyle/>
          <a:p>
            <a:pPr algn="just"/>
            <a:r>
              <a:rPr lang="es-ES" sz="2000" b="0" i="0" dirty="0">
                <a:effectLst/>
                <a:latin typeface="Arial" panose="020B0604020202020204" pitchFamily="34" charset="0"/>
                <a:cs typeface="Arial" panose="020B0604020202020204" pitchFamily="34" charset="0"/>
              </a:rPr>
              <a:t>Son los módulos encargados de la capa de presentación (la interfaz gráfica de usuario). Cada uno encapsula su propia vista HTML, estilos SCSS y lógica </a:t>
            </a:r>
            <a:r>
              <a:rPr lang="es-ES" sz="2000" b="0" i="0" dirty="0" err="1">
                <a:effectLst/>
                <a:latin typeface="Arial" panose="020B0604020202020204" pitchFamily="34" charset="0"/>
                <a:cs typeface="Arial" panose="020B0604020202020204" pitchFamily="34" charset="0"/>
              </a:rPr>
              <a:t>TypeScript</a:t>
            </a:r>
            <a:r>
              <a:rPr lang="es-ES" sz="2000" b="0" i="0" dirty="0">
                <a:effectLst/>
                <a:latin typeface="Arial" panose="020B0604020202020204" pitchFamily="34" charset="0"/>
                <a:cs typeface="Arial" panose="020B0604020202020204" pitchFamily="34" charset="0"/>
              </a:rPr>
              <a:t>.</a:t>
            </a:r>
          </a:p>
          <a:p>
            <a:pPr algn="just"/>
            <a:br>
              <a:rPr lang="es-ES" sz="2000" b="0" i="0" dirty="0">
                <a:effectLst/>
                <a:latin typeface="Arial" panose="020B0604020202020204" pitchFamily="34" charset="0"/>
                <a:cs typeface="Arial" panose="020B0604020202020204" pitchFamily="34" charset="0"/>
              </a:rPr>
            </a:br>
            <a:endParaRPr lang="es-ES" sz="2000" b="0" i="0" dirty="0">
              <a:effectLst/>
              <a:latin typeface="Arial" panose="020B0604020202020204" pitchFamily="34" charset="0"/>
              <a:cs typeface="Arial" panose="020B0604020202020204" pitchFamily="34" charset="0"/>
            </a:endParaRPr>
          </a:p>
          <a:p>
            <a:pPr algn="just"/>
            <a:r>
              <a:rPr lang="es-ES" sz="2000" b="1" i="0" dirty="0">
                <a:effectLst/>
                <a:latin typeface="Arial" panose="020B0604020202020204" pitchFamily="34" charset="0"/>
                <a:cs typeface="Arial" panose="020B0604020202020204" pitchFamily="34" charset="0"/>
              </a:rPr>
              <a:t>Función en la práctica: </a:t>
            </a:r>
            <a:r>
              <a:rPr lang="es-ES" sz="2000" b="0" i="0" dirty="0">
                <a:effectLst/>
                <a:latin typeface="Arial" panose="020B0604020202020204" pitchFamily="34" charset="0"/>
                <a:cs typeface="Arial" panose="020B0604020202020204" pitchFamily="34" charset="0"/>
              </a:rPr>
              <a:t>El archivo HTML renderiza los elementos con los que interactúa el usuario (el menú de botones operacionales, los formularios de registro y las tablas). El archivo </a:t>
            </a:r>
            <a:r>
              <a:rPr lang="es-ES" sz="2000" b="0" i="0" dirty="0" err="1">
                <a:effectLst/>
                <a:latin typeface="Arial" panose="020B0604020202020204" pitchFamily="34" charset="0"/>
                <a:cs typeface="Arial" panose="020B0604020202020204" pitchFamily="34" charset="0"/>
              </a:rPr>
              <a:t>TypeScript</a:t>
            </a:r>
            <a:r>
              <a:rPr lang="es-ES" sz="2000" b="0" i="0" dirty="0">
                <a:effectLst/>
                <a:latin typeface="Arial" panose="020B0604020202020204" pitchFamily="34" charset="0"/>
                <a:cs typeface="Arial" panose="020B0604020202020204" pitchFamily="34" charset="0"/>
              </a:rPr>
              <a:t> (.</a:t>
            </a:r>
            <a:r>
              <a:rPr lang="es-ES" sz="2000" b="0" i="0" dirty="0" err="1">
                <a:effectLst/>
                <a:latin typeface="Arial" panose="020B0604020202020204" pitchFamily="34" charset="0"/>
                <a:cs typeface="Arial" panose="020B0604020202020204" pitchFamily="34" charset="0"/>
              </a:rPr>
              <a:t>ts</a:t>
            </a:r>
            <a:r>
              <a:rPr lang="es-ES" sz="2000" b="0" i="0" dirty="0">
                <a:effectLst/>
                <a:latin typeface="Arial" panose="020B0604020202020204" pitchFamily="34" charset="0"/>
                <a:cs typeface="Arial" panose="020B0604020202020204" pitchFamily="34" charset="0"/>
              </a:rPr>
              <a:t>) procesa los eventos de los botones, gestiona el estado de las pestañas dinámicas (</a:t>
            </a:r>
            <a:r>
              <a:rPr lang="es-ES" sz="2000" b="0" i="0" dirty="0" err="1">
                <a:effectLst/>
                <a:latin typeface="Arial" panose="020B0604020202020204" pitchFamily="34" charset="0"/>
                <a:cs typeface="Arial" panose="020B0604020202020204" pitchFamily="34" charset="0"/>
              </a:rPr>
              <a:t>activeTab</a:t>
            </a:r>
            <a:r>
              <a:rPr lang="es-ES" sz="2000" b="0" i="0" dirty="0">
                <a:effectLst/>
                <a:latin typeface="Arial" panose="020B0604020202020204" pitchFamily="34" charset="0"/>
                <a:cs typeface="Arial" panose="020B0604020202020204" pitchFamily="34" charset="0"/>
              </a:rPr>
              <a:t>) y manda a llamar a los Servicios para recuperar los datos del </a:t>
            </a:r>
            <a:r>
              <a:rPr lang="es-ES" sz="2000" b="0" i="0" dirty="0" err="1">
                <a:effectLst/>
                <a:latin typeface="Arial" panose="020B0604020202020204" pitchFamily="34" charset="0"/>
                <a:cs typeface="Arial" panose="020B0604020202020204" pitchFamily="34" charset="0"/>
              </a:rPr>
              <a:t>backend</a:t>
            </a:r>
            <a:r>
              <a:rPr lang="es-ES" sz="2000" b="0" i="0" dirty="0">
                <a:effectLst/>
                <a:latin typeface="Arial" panose="020B0604020202020204" pitchFamily="34" charset="0"/>
                <a:cs typeface="Arial" panose="020B0604020202020204" pitchFamily="34" charset="0"/>
              </a:rPr>
              <a:t> y proyectarlos de forma reactiva en la pantalla.</a:t>
            </a:r>
          </a:p>
          <a:p>
            <a:pPr algn="just"/>
            <a:br>
              <a:rPr lang="es-ES" sz="2000" i="0" dirty="0">
                <a:effectLst/>
                <a:latin typeface="Arial" panose="020B0604020202020204" pitchFamily="34" charset="0"/>
                <a:cs typeface="Arial" panose="020B0604020202020204" pitchFamily="34" charset="0"/>
              </a:rPr>
            </a:br>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Generación de los componentes de la interfaz (Estructura visual)</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050A1D72-3799-4290-8E3C-8615E928E74B}"/>
              </a:ext>
            </a:extLst>
          </p:cNvPr>
          <p:cNvPicPr>
            <a:picLocks noChangeAspect="1"/>
          </p:cNvPicPr>
          <p:nvPr/>
        </p:nvPicPr>
        <p:blipFill>
          <a:blip r:embed="rId3"/>
          <a:stretch>
            <a:fillRect/>
          </a:stretch>
        </p:blipFill>
        <p:spPr>
          <a:xfrm>
            <a:off x="771246" y="3994550"/>
            <a:ext cx="4001058" cy="590632"/>
          </a:xfrm>
          <a:prstGeom prst="rect">
            <a:avLst/>
          </a:prstGeom>
        </p:spPr>
      </p:pic>
      <p:pic>
        <p:nvPicPr>
          <p:cNvPr id="10" name="Imagen 9">
            <a:extLst>
              <a:ext uri="{FF2B5EF4-FFF2-40B4-BE49-F238E27FC236}">
                <a16:creationId xmlns:a16="http://schemas.microsoft.com/office/drawing/2014/main" id="{80CB0C6B-2F87-4150-8A08-F2585363AC1A}"/>
              </a:ext>
            </a:extLst>
          </p:cNvPr>
          <p:cNvPicPr>
            <a:picLocks noChangeAspect="1"/>
          </p:cNvPicPr>
          <p:nvPr/>
        </p:nvPicPr>
        <p:blipFill>
          <a:blip r:embed="rId4"/>
          <a:stretch>
            <a:fillRect/>
          </a:stretch>
        </p:blipFill>
        <p:spPr>
          <a:xfrm>
            <a:off x="6091237" y="3342802"/>
            <a:ext cx="2543530" cy="3391373"/>
          </a:xfrm>
          <a:prstGeom prst="rect">
            <a:avLst/>
          </a:prstGeom>
        </p:spPr>
      </p:pic>
    </p:spTree>
    <p:extLst>
      <p:ext uri="{BB962C8B-B14F-4D97-AF65-F5344CB8AC3E}">
        <p14:creationId xmlns:p14="http://schemas.microsoft.com/office/powerpoint/2010/main" val="3452015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2862322"/>
          </a:xfrm>
          <a:prstGeom prst="rect">
            <a:avLst/>
          </a:prstGeom>
          <a:noFill/>
        </p:spPr>
        <p:txBody>
          <a:bodyPr wrap="square">
            <a:spAutoFit/>
          </a:bodyPr>
          <a:lstStyle/>
          <a:p>
            <a:pPr algn="just"/>
            <a:r>
              <a:rPr lang="es-ES" sz="2000" b="0" i="0" dirty="0">
                <a:effectLst/>
                <a:latin typeface="Arial" panose="020B0604020202020204" pitchFamily="34" charset="0"/>
                <a:cs typeface="Arial" panose="020B0604020202020204" pitchFamily="34" charset="0"/>
              </a:rPr>
              <a:t>A continuación, se detalla el proceso secuencial de desarrollo, codificación y configuración de cada uno de los archivos que integran la aplicación web en Angular 19.</a:t>
            </a:r>
          </a:p>
          <a:p>
            <a:pPr algn="just"/>
            <a:endParaRPr lang="es-ES" sz="2000" b="0" i="0" dirty="0">
              <a:effectLst/>
              <a:latin typeface="Arial" panose="020B0604020202020204" pitchFamily="34" charset="0"/>
              <a:cs typeface="Arial" panose="020B0604020202020204" pitchFamily="34" charset="0"/>
            </a:endParaRPr>
          </a:p>
          <a:p>
            <a:pPr algn="just"/>
            <a:r>
              <a:rPr lang="es-ES" sz="2000" b="1" i="0" dirty="0">
                <a:effectLst/>
                <a:latin typeface="Arial" panose="020B0604020202020204" pitchFamily="34" charset="0"/>
                <a:cs typeface="Arial" panose="020B0604020202020204" pitchFamily="34" charset="0"/>
              </a:rPr>
              <a:t>Paso 1</a:t>
            </a:r>
            <a:r>
              <a:rPr lang="es-ES" sz="2000" b="0" i="0" dirty="0">
                <a:effectLst/>
                <a:latin typeface="Arial" panose="020B0604020202020204" pitchFamily="34" charset="0"/>
                <a:cs typeface="Arial" panose="020B0604020202020204" pitchFamily="34" charset="0"/>
              </a:rPr>
              <a:t>: Configuración de la Capa de Datos (Servicios HTTP)</a:t>
            </a:r>
          </a:p>
          <a:p>
            <a:pPr algn="just"/>
            <a:r>
              <a:rPr lang="es-ES" sz="2000" b="0" i="0" dirty="0">
                <a:effectLst/>
                <a:latin typeface="Arial" panose="020B0604020202020204" pitchFamily="34" charset="0"/>
                <a:cs typeface="Arial" panose="020B0604020202020204" pitchFamily="34" charset="0"/>
              </a:rPr>
              <a:t>Los servicios actúan como el puente de comunicación directo entre la interfaz web y el API Gateway de Spring </a:t>
            </a:r>
            <a:r>
              <a:rPr lang="es-ES" sz="2000" b="0" i="0" dirty="0" err="1">
                <a:effectLst/>
                <a:latin typeface="Arial" panose="020B0604020202020204" pitchFamily="34" charset="0"/>
                <a:cs typeface="Arial" panose="020B0604020202020204" pitchFamily="34" charset="0"/>
              </a:rPr>
              <a:t>Boot</a:t>
            </a:r>
            <a:r>
              <a:rPr lang="es-ES" sz="2000" b="0" i="0" dirty="0">
                <a:effectLst/>
                <a:latin typeface="Arial" panose="020B0604020202020204" pitchFamily="34" charset="0"/>
                <a:cs typeface="Arial" panose="020B0604020202020204" pitchFamily="34" charset="0"/>
              </a:rPr>
              <a:t>. Se programaron utilizando el módulo </a:t>
            </a:r>
            <a:r>
              <a:rPr lang="es-ES" sz="2000" b="0" i="0" dirty="0" err="1">
                <a:effectLst/>
                <a:latin typeface="Arial" panose="020B0604020202020204" pitchFamily="34" charset="0"/>
                <a:cs typeface="Arial" panose="020B0604020202020204" pitchFamily="34" charset="0"/>
              </a:rPr>
              <a:t>HttpClient</a:t>
            </a:r>
            <a:r>
              <a:rPr lang="es-ES" sz="2000" b="0" i="0" dirty="0">
                <a:effectLst/>
                <a:latin typeface="Arial" panose="020B0604020202020204" pitchFamily="34" charset="0"/>
                <a:cs typeface="Arial" panose="020B0604020202020204" pitchFamily="34" charset="0"/>
              </a:rPr>
              <a:t> para emitir las peticiones síncronas/asíncronas hacia el puerto 8080.</a:t>
            </a:r>
          </a:p>
          <a:p>
            <a:pPr algn="just"/>
            <a:br>
              <a:rPr lang="es-ES" sz="2000" i="0" dirty="0">
                <a:effectLst/>
                <a:latin typeface="Arial" panose="020B0604020202020204" pitchFamily="34" charset="0"/>
                <a:cs typeface="Arial" panose="020B0604020202020204" pitchFamily="34" charset="0"/>
              </a:rPr>
            </a:br>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Construcción del </a:t>
            </a:r>
            <a:r>
              <a:rPr lang="es-ES" sz="1600" b="1" dirty="0" err="1">
                <a:solidFill>
                  <a:schemeClr val="tx1"/>
                </a:solidFill>
                <a:latin typeface="Arial" panose="020B0604020202020204" pitchFamily="34" charset="0"/>
                <a:cs typeface="Arial" panose="020B0604020202020204" pitchFamily="34" charset="0"/>
              </a:rPr>
              <a:t>frontend</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8DB4C069-207B-4F19-B8F5-EA8B1996B881}"/>
              </a:ext>
            </a:extLst>
          </p:cNvPr>
          <p:cNvPicPr>
            <a:picLocks noChangeAspect="1"/>
          </p:cNvPicPr>
          <p:nvPr/>
        </p:nvPicPr>
        <p:blipFill>
          <a:blip r:embed="rId3"/>
          <a:stretch>
            <a:fillRect/>
          </a:stretch>
        </p:blipFill>
        <p:spPr>
          <a:xfrm>
            <a:off x="4364146" y="2961905"/>
            <a:ext cx="3454181" cy="3772270"/>
          </a:xfrm>
          <a:prstGeom prst="rect">
            <a:avLst/>
          </a:prstGeom>
        </p:spPr>
      </p:pic>
    </p:spTree>
    <p:extLst>
      <p:ext uri="{BB962C8B-B14F-4D97-AF65-F5344CB8AC3E}">
        <p14:creationId xmlns:p14="http://schemas.microsoft.com/office/powerpoint/2010/main" val="2226664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938992"/>
          </a:xfrm>
          <a:prstGeom prst="rect">
            <a:avLst/>
          </a:prstGeom>
          <a:noFill/>
        </p:spPr>
        <p:txBody>
          <a:bodyPr wrap="square">
            <a:spAutoFit/>
          </a:bodyPr>
          <a:lstStyle/>
          <a:p>
            <a:pPr algn="just"/>
            <a:r>
              <a:rPr lang="es-ES" sz="2000" b="1" i="0" dirty="0">
                <a:effectLst/>
                <a:latin typeface="Arial" panose="020B0604020202020204" pitchFamily="34" charset="0"/>
                <a:cs typeface="Arial" panose="020B0604020202020204" pitchFamily="34" charset="0"/>
              </a:rPr>
              <a:t>A. Servicio de Alumnos (</a:t>
            </a:r>
            <a:r>
              <a:rPr lang="es-ES" sz="2000" b="1" i="0" dirty="0" err="1">
                <a:effectLst/>
                <a:latin typeface="Arial" panose="020B0604020202020204" pitchFamily="34" charset="0"/>
                <a:cs typeface="Arial" panose="020B0604020202020204" pitchFamily="34" charset="0"/>
              </a:rPr>
              <a:t>src</a:t>
            </a:r>
            <a:r>
              <a:rPr lang="es-ES" sz="2000" b="1" i="0" dirty="0">
                <a:effectLst/>
                <a:latin typeface="Arial" panose="020B0604020202020204" pitchFamily="34" charset="0"/>
                <a:cs typeface="Arial" panose="020B0604020202020204" pitchFamily="34" charset="0"/>
              </a:rPr>
              <a:t>/app/</a:t>
            </a:r>
            <a:r>
              <a:rPr lang="es-ES" sz="2000" b="1" i="0" dirty="0" err="1">
                <a:effectLst/>
                <a:latin typeface="Arial" panose="020B0604020202020204" pitchFamily="34" charset="0"/>
                <a:cs typeface="Arial" panose="020B0604020202020204" pitchFamily="34" charset="0"/>
              </a:rPr>
              <a:t>services</a:t>
            </a:r>
            <a:r>
              <a:rPr lang="es-ES" sz="2000" b="1" i="0" dirty="0">
                <a:effectLst/>
                <a:latin typeface="Arial" panose="020B0604020202020204" pitchFamily="34" charset="0"/>
                <a:cs typeface="Arial" panose="020B0604020202020204" pitchFamily="34" charset="0"/>
              </a:rPr>
              <a:t>/</a:t>
            </a:r>
            <a:r>
              <a:rPr lang="es-ES" sz="2000" b="1" i="0" dirty="0" err="1">
                <a:effectLst/>
                <a:latin typeface="Arial" panose="020B0604020202020204" pitchFamily="34" charset="0"/>
                <a:cs typeface="Arial" panose="020B0604020202020204" pitchFamily="34" charset="0"/>
              </a:rPr>
              <a:t>student.ts</a:t>
            </a:r>
            <a:r>
              <a:rPr lang="es-ES" sz="2000" b="1" i="0" dirty="0">
                <a:effectLst/>
                <a:latin typeface="Arial" panose="020B0604020202020204" pitchFamily="34" charset="0"/>
                <a:cs typeface="Arial" panose="020B0604020202020204" pitchFamily="34" charset="0"/>
              </a:rPr>
              <a:t>)</a:t>
            </a:r>
          </a:p>
          <a:p>
            <a:pPr algn="just"/>
            <a:r>
              <a:rPr lang="es-ES" sz="2000" b="0" i="0" dirty="0">
                <a:effectLst/>
                <a:latin typeface="Arial" panose="020B0604020202020204" pitchFamily="34" charset="0"/>
                <a:cs typeface="Arial" panose="020B0604020202020204" pitchFamily="34" charset="0"/>
              </a:rPr>
              <a:t>Se encargó de mapear las operaciones orientadas al microservicio de Estudiantes (Base de datos MySQL). Se definieron los siguientes métodos:</a:t>
            </a:r>
          </a:p>
          <a:p>
            <a:pPr algn="just"/>
            <a:endParaRPr lang="es-ES" sz="2000" b="0" i="0" dirty="0">
              <a:effectLst/>
              <a:latin typeface="Arial" panose="020B0604020202020204" pitchFamily="34" charset="0"/>
              <a:cs typeface="Arial" panose="020B0604020202020204" pitchFamily="34" charset="0"/>
            </a:endParaRPr>
          </a:p>
          <a:p>
            <a:pPr algn="just"/>
            <a:br>
              <a:rPr lang="es-ES" sz="2000" i="0" dirty="0">
                <a:effectLst/>
                <a:latin typeface="Arial" panose="020B0604020202020204" pitchFamily="34" charset="0"/>
                <a:cs typeface="Arial" panose="020B0604020202020204" pitchFamily="34" charset="0"/>
              </a:rPr>
            </a:br>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Construcción del </a:t>
            </a:r>
            <a:r>
              <a:rPr lang="es-ES" sz="1600" b="1" dirty="0" err="1">
                <a:solidFill>
                  <a:schemeClr val="tx1"/>
                </a:solidFill>
                <a:latin typeface="Arial" panose="020B0604020202020204" pitchFamily="34" charset="0"/>
                <a:cs typeface="Arial" panose="020B0604020202020204" pitchFamily="34" charset="0"/>
              </a:rPr>
              <a:t>frontend</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8DB4C069-207B-4F19-B8F5-EA8B1996B881}"/>
              </a:ext>
            </a:extLst>
          </p:cNvPr>
          <p:cNvPicPr>
            <a:picLocks noChangeAspect="1"/>
          </p:cNvPicPr>
          <p:nvPr/>
        </p:nvPicPr>
        <p:blipFill>
          <a:blip r:embed="rId3"/>
          <a:stretch>
            <a:fillRect/>
          </a:stretch>
        </p:blipFill>
        <p:spPr>
          <a:xfrm>
            <a:off x="2969895" y="1794442"/>
            <a:ext cx="4339590" cy="4739214"/>
          </a:xfrm>
          <a:prstGeom prst="rect">
            <a:avLst/>
          </a:prstGeom>
        </p:spPr>
      </p:pic>
    </p:spTree>
    <p:extLst>
      <p:ext uri="{BB962C8B-B14F-4D97-AF65-F5344CB8AC3E}">
        <p14:creationId xmlns:p14="http://schemas.microsoft.com/office/powerpoint/2010/main" val="227215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4401205"/>
          </a:xfrm>
          <a:prstGeom prst="rect">
            <a:avLst/>
          </a:prstGeom>
          <a:noFill/>
        </p:spPr>
        <p:txBody>
          <a:bodyPr wrap="square">
            <a:spAutoFit/>
          </a:bodyPr>
          <a:lstStyle/>
          <a:p>
            <a:pPr algn="just"/>
            <a:r>
              <a:rPr lang="es-ES" sz="2000" b="1" i="0" dirty="0">
                <a:effectLst/>
                <a:latin typeface="Arial" panose="020B0604020202020204" pitchFamily="34" charset="0"/>
                <a:cs typeface="Arial" panose="020B0604020202020204" pitchFamily="34" charset="0"/>
              </a:rPr>
              <a:t>A. Servicio de Alumnos (</a:t>
            </a:r>
            <a:r>
              <a:rPr lang="es-ES" sz="2000" b="1" i="0" dirty="0" err="1">
                <a:effectLst/>
                <a:latin typeface="Arial" panose="020B0604020202020204" pitchFamily="34" charset="0"/>
                <a:cs typeface="Arial" panose="020B0604020202020204" pitchFamily="34" charset="0"/>
              </a:rPr>
              <a:t>src</a:t>
            </a:r>
            <a:r>
              <a:rPr lang="es-ES" sz="2000" b="1" i="0" dirty="0">
                <a:effectLst/>
                <a:latin typeface="Arial" panose="020B0604020202020204" pitchFamily="34" charset="0"/>
                <a:cs typeface="Arial" panose="020B0604020202020204" pitchFamily="34" charset="0"/>
              </a:rPr>
              <a:t>/app/</a:t>
            </a:r>
            <a:r>
              <a:rPr lang="es-ES" sz="2000" b="1" i="0" dirty="0" err="1">
                <a:effectLst/>
                <a:latin typeface="Arial" panose="020B0604020202020204" pitchFamily="34" charset="0"/>
                <a:cs typeface="Arial" panose="020B0604020202020204" pitchFamily="34" charset="0"/>
              </a:rPr>
              <a:t>services</a:t>
            </a:r>
            <a:r>
              <a:rPr lang="es-ES" sz="2000" b="1" i="0" dirty="0">
                <a:effectLst/>
                <a:latin typeface="Arial" panose="020B0604020202020204" pitchFamily="34" charset="0"/>
                <a:cs typeface="Arial" panose="020B0604020202020204" pitchFamily="34" charset="0"/>
              </a:rPr>
              <a:t>/</a:t>
            </a:r>
            <a:r>
              <a:rPr lang="es-ES" sz="2000" b="1" i="0" dirty="0" err="1">
                <a:effectLst/>
                <a:latin typeface="Arial" panose="020B0604020202020204" pitchFamily="34" charset="0"/>
                <a:cs typeface="Arial" panose="020B0604020202020204" pitchFamily="34" charset="0"/>
              </a:rPr>
              <a:t>student.ts</a:t>
            </a:r>
            <a:r>
              <a:rPr lang="es-ES" sz="2000" b="1" i="0" dirty="0">
                <a:effectLst/>
                <a:latin typeface="Arial" panose="020B0604020202020204" pitchFamily="34" charset="0"/>
                <a:cs typeface="Arial" panose="020B0604020202020204" pitchFamily="34" charset="0"/>
              </a:rPr>
              <a:t>)</a:t>
            </a:r>
          </a:p>
          <a:p>
            <a:pPr algn="just"/>
            <a:r>
              <a:rPr lang="es-ES" sz="2000" b="0" i="0" dirty="0">
                <a:effectLst/>
                <a:latin typeface="Arial" panose="020B0604020202020204" pitchFamily="34" charset="0"/>
                <a:cs typeface="Arial" panose="020B0604020202020204" pitchFamily="34" charset="0"/>
              </a:rPr>
              <a:t>Se encargó de mapear las operaciones orientadas al microservicio de Estudiantes (Base de datos MySQL). Se definieron los siguientes métodos:</a:t>
            </a:r>
          </a:p>
          <a:p>
            <a:pPr algn="just"/>
            <a:endParaRPr lang="es-ES" sz="2000" b="0" i="0" dirty="0">
              <a:effectLst/>
              <a:latin typeface="Arial" panose="020B0604020202020204" pitchFamily="34" charset="0"/>
              <a:cs typeface="Arial" panose="020B0604020202020204" pitchFamily="34" charset="0"/>
            </a:endParaRPr>
          </a:p>
          <a:p>
            <a:pPr algn="just"/>
            <a:r>
              <a:rPr lang="es-ES" sz="2000" b="1" i="0" dirty="0" err="1">
                <a:effectLst/>
                <a:latin typeface="Arial" panose="020B0604020202020204" pitchFamily="34" charset="0"/>
                <a:cs typeface="Arial" panose="020B0604020202020204" pitchFamily="34" charset="0"/>
              </a:rPr>
              <a:t>getStudents</a:t>
            </a:r>
            <a:r>
              <a:rPr lang="es-ES" sz="2000" b="1" i="0" dirty="0">
                <a:effectLst/>
                <a:latin typeface="Arial" panose="020B0604020202020204" pitchFamily="34" charset="0"/>
                <a:cs typeface="Arial" panose="020B0604020202020204" pitchFamily="34" charset="0"/>
              </a:rPr>
              <a:t>(): </a:t>
            </a:r>
            <a:r>
              <a:rPr lang="es-ES" sz="2000" b="0" i="0" dirty="0">
                <a:effectLst/>
                <a:latin typeface="Arial" panose="020B0604020202020204" pitchFamily="34" charset="0"/>
                <a:cs typeface="Arial" panose="020B0604020202020204" pitchFamily="34" charset="0"/>
              </a:rPr>
              <a:t>Emite una petición GET al </a:t>
            </a:r>
            <a:r>
              <a:rPr lang="es-ES" sz="2000" b="0" i="0" dirty="0" err="1">
                <a:effectLst/>
                <a:latin typeface="Arial" panose="020B0604020202020204" pitchFamily="34" charset="0"/>
                <a:cs typeface="Arial" panose="020B0604020202020204" pitchFamily="34" charset="0"/>
              </a:rPr>
              <a:t>endpoint</a:t>
            </a:r>
            <a:r>
              <a:rPr lang="es-ES" sz="2000" b="0" i="0" dirty="0">
                <a:effectLst/>
                <a:latin typeface="Arial" panose="020B0604020202020204" pitchFamily="34" charset="0"/>
                <a:cs typeface="Arial" panose="020B0604020202020204" pitchFamily="34" charset="0"/>
              </a:rPr>
              <a:t> /</a:t>
            </a:r>
            <a:r>
              <a:rPr lang="es-ES" sz="2000" b="0" i="0" dirty="0" err="1">
                <a:effectLst/>
                <a:latin typeface="Arial" panose="020B0604020202020204" pitchFamily="34" charset="0"/>
                <a:cs typeface="Arial" panose="020B0604020202020204" pitchFamily="34" charset="0"/>
              </a:rPr>
              <a:t>all</a:t>
            </a:r>
            <a:r>
              <a:rPr lang="es-ES" sz="2000" b="0" i="0" dirty="0">
                <a:effectLst/>
                <a:latin typeface="Arial" panose="020B0604020202020204" pitchFamily="34" charset="0"/>
                <a:cs typeface="Arial" panose="020B0604020202020204" pitchFamily="34" charset="0"/>
              </a:rPr>
              <a:t> para recuperar la lista completa de alumnos.</a:t>
            </a:r>
          </a:p>
          <a:p>
            <a:pPr algn="just"/>
            <a:r>
              <a:rPr lang="es-ES" sz="2000" b="1" i="0" dirty="0" err="1">
                <a:effectLst/>
                <a:latin typeface="Arial" panose="020B0604020202020204" pitchFamily="34" charset="0"/>
                <a:cs typeface="Arial" panose="020B0604020202020204" pitchFamily="34" charset="0"/>
              </a:rPr>
              <a:t>saveStudent</a:t>
            </a:r>
            <a:r>
              <a:rPr lang="es-ES" sz="2000" b="1" i="0" dirty="0">
                <a:effectLst/>
                <a:latin typeface="Arial" panose="020B0604020202020204" pitchFamily="34" charset="0"/>
                <a:cs typeface="Arial" panose="020B0604020202020204" pitchFamily="34" charset="0"/>
              </a:rPr>
              <a:t>(</a:t>
            </a:r>
            <a:r>
              <a:rPr lang="es-ES" sz="2000" b="1" i="0" dirty="0" err="1">
                <a:effectLst/>
                <a:latin typeface="Arial" panose="020B0604020202020204" pitchFamily="34" charset="0"/>
                <a:cs typeface="Arial" panose="020B0604020202020204" pitchFamily="34" charset="0"/>
              </a:rPr>
              <a:t>student</a:t>
            </a:r>
            <a:r>
              <a:rPr lang="es-ES" sz="2000" b="1" i="0" dirty="0">
                <a:effectLst/>
                <a:latin typeface="Arial" panose="020B0604020202020204" pitchFamily="34" charset="0"/>
                <a:cs typeface="Arial" panose="020B0604020202020204" pitchFamily="34" charset="0"/>
              </a:rPr>
              <a:t>): </a:t>
            </a:r>
            <a:r>
              <a:rPr lang="es-ES" sz="2000" b="0" i="0" dirty="0">
                <a:effectLst/>
                <a:latin typeface="Arial" panose="020B0604020202020204" pitchFamily="34" charset="0"/>
                <a:cs typeface="Arial" panose="020B0604020202020204" pitchFamily="34" charset="0"/>
              </a:rPr>
              <a:t>Transmite un objeto JSON mediante el método POST al </a:t>
            </a:r>
            <a:r>
              <a:rPr lang="es-ES" sz="2000" b="0" i="0" dirty="0" err="1">
                <a:effectLst/>
                <a:latin typeface="Arial" panose="020B0604020202020204" pitchFamily="34" charset="0"/>
                <a:cs typeface="Arial" panose="020B0604020202020204" pitchFamily="34" charset="0"/>
              </a:rPr>
              <a:t>endpoint</a:t>
            </a:r>
            <a:r>
              <a:rPr lang="es-ES" sz="2000" b="0" i="0" dirty="0">
                <a:effectLst/>
                <a:latin typeface="Arial" panose="020B0604020202020204" pitchFamily="34" charset="0"/>
                <a:cs typeface="Arial" panose="020B0604020202020204" pitchFamily="34" charset="0"/>
              </a:rPr>
              <a:t> /</a:t>
            </a:r>
            <a:r>
              <a:rPr lang="es-ES" sz="2000" b="0" i="0" dirty="0" err="1">
                <a:effectLst/>
                <a:latin typeface="Arial" panose="020B0604020202020204" pitchFamily="34" charset="0"/>
                <a:cs typeface="Arial" panose="020B0604020202020204" pitchFamily="34" charset="0"/>
              </a:rPr>
              <a:t>save</a:t>
            </a:r>
            <a:r>
              <a:rPr lang="es-ES" sz="2000" b="0" i="0" dirty="0">
                <a:effectLst/>
                <a:latin typeface="Arial" panose="020B0604020202020204" pitchFamily="34" charset="0"/>
                <a:cs typeface="Arial" panose="020B0604020202020204" pitchFamily="34" charset="0"/>
              </a:rPr>
              <a:t> para almacenar un nuevo registro.</a:t>
            </a:r>
          </a:p>
          <a:p>
            <a:pPr algn="just"/>
            <a:r>
              <a:rPr lang="es-ES" sz="2000" b="1" i="0" dirty="0" err="1">
                <a:effectLst/>
                <a:latin typeface="Arial" panose="020B0604020202020204" pitchFamily="34" charset="0"/>
                <a:cs typeface="Arial" panose="020B0604020202020204" pitchFamily="34" charset="0"/>
              </a:rPr>
              <a:t>updateStudent</a:t>
            </a:r>
            <a:r>
              <a:rPr lang="es-ES" sz="2000" b="1" i="0" dirty="0">
                <a:effectLst/>
                <a:latin typeface="Arial" panose="020B0604020202020204" pitchFamily="34" charset="0"/>
                <a:cs typeface="Arial" panose="020B0604020202020204" pitchFamily="34" charset="0"/>
              </a:rPr>
              <a:t>(id, </a:t>
            </a:r>
            <a:r>
              <a:rPr lang="es-ES" sz="2000" b="1" i="0" dirty="0" err="1">
                <a:effectLst/>
                <a:latin typeface="Arial" panose="020B0604020202020204" pitchFamily="34" charset="0"/>
                <a:cs typeface="Arial" panose="020B0604020202020204" pitchFamily="34" charset="0"/>
              </a:rPr>
              <a:t>student</a:t>
            </a:r>
            <a:r>
              <a:rPr lang="es-ES" sz="2000" b="1" i="0" dirty="0">
                <a:effectLst/>
                <a:latin typeface="Arial" panose="020B0604020202020204" pitchFamily="34" charset="0"/>
                <a:cs typeface="Arial" panose="020B0604020202020204" pitchFamily="34" charset="0"/>
              </a:rPr>
              <a:t>): </a:t>
            </a:r>
            <a:r>
              <a:rPr lang="es-ES" sz="2000" b="0" i="0" dirty="0">
                <a:effectLst/>
                <a:latin typeface="Arial" panose="020B0604020202020204" pitchFamily="34" charset="0"/>
                <a:cs typeface="Arial" panose="020B0604020202020204" pitchFamily="34" charset="0"/>
              </a:rPr>
              <a:t>Realiza una petición PUT al </a:t>
            </a:r>
            <a:r>
              <a:rPr lang="es-ES" sz="2000" b="0" i="0" dirty="0" err="1">
                <a:effectLst/>
                <a:latin typeface="Arial" panose="020B0604020202020204" pitchFamily="34" charset="0"/>
                <a:cs typeface="Arial" panose="020B0604020202020204" pitchFamily="34" charset="0"/>
              </a:rPr>
              <a:t>endpoint</a:t>
            </a:r>
            <a:r>
              <a:rPr lang="es-ES" sz="2000" b="0" i="0" dirty="0">
                <a:effectLst/>
                <a:latin typeface="Arial" panose="020B0604020202020204" pitchFamily="34" charset="0"/>
                <a:cs typeface="Arial" panose="020B0604020202020204" pitchFamily="34" charset="0"/>
              </a:rPr>
              <a:t> /</a:t>
            </a:r>
            <a:r>
              <a:rPr lang="es-ES" sz="2000" b="0" i="0" dirty="0" err="1">
                <a:effectLst/>
                <a:latin typeface="Arial" panose="020B0604020202020204" pitchFamily="34" charset="0"/>
                <a:cs typeface="Arial" panose="020B0604020202020204" pitchFamily="34" charset="0"/>
              </a:rPr>
              <a:t>update</a:t>
            </a:r>
            <a:r>
              <a:rPr lang="es-ES" sz="2000" b="0" i="0" dirty="0">
                <a:effectLst/>
                <a:latin typeface="Arial" panose="020B0604020202020204" pitchFamily="34" charset="0"/>
                <a:cs typeface="Arial" panose="020B0604020202020204" pitchFamily="34" charset="0"/>
              </a:rPr>
              <a:t>/{id} enviando el identificador en la URL y los datos modificados en el cuerpo de la solicitud.</a:t>
            </a:r>
          </a:p>
          <a:p>
            <a:pPr algn="just"/>
            <a:r>
              <a:rPr lang="es-ES" sz="2000" b="1" i="0" dirty="0" err="1">
                <a:effectLst/>
                <a:latin typeface="Arial" panose="020B0604020202020204" pitchFamily="34" charset="0"/>
                <a:cs typeface="Arial" panose="020B0604020202020204" pitchFamily="34" charset="0"/>
              </a:rPr>
              <a:t>deleteStudent</a:t>
            </a:r>
            <a:r>
              <a:rPr lang="es-ES" sz="2000" b="1" i="0" dirty="0">
                <a:effectLst/>
                <a:latin typeface="Arial" panose="020B0604020202020204" pitchFamily="34" charset="0"/>
                <a:cs typeface="Arial" panose="020B0604020202020204" pitchFamily="34" charset="0"/>
              </a:rPr>
              <a:t>(id): </a:t>
            </a:r>
            <a:r>
              <a:rPr lang="es-ES" sz="2000" b="0" i="0" dirty="0">
                <a:effectLst/>
                <a:latin typeface="Arial" panose="020B0604020202020204" pitchFamily="34" charset="0"/>
                <a:cs typeface="Arial" panose="020B0604020202020204" pitchFamily="34" charset="0"/>
              </a:rPr>
              <a:t>Envía una solicitud DELETE a la ruta /</a:t>
            </a:r>
            <a:r>
              <a:rPr lang="es-ES" sz="2000" b="0" i="0" dirty="0" err="1">
                <a:effectLst/>
                <a:latin typeface="Arial" panose="020B0604020202020204" pitchFamily="34" charset="0"/>
                <a:cs typeface="Arial" panose="020B0604020202020204" pitchFamily="34" charset="0"/>
              </a:rPr>
              <a:t>delete</a:t>
            </a:r>
            <a:r>
              <a:rPr lang="es-ES" sz="2000" b="0" i="0" dirty="0">
                <a:effectLst/>
                <a:latin typeface="Arial" panose="020B0604020202020204" pitchFamily="34" charset="0"/>
                <a:cs typeface="Arial" panose="020B0604020202020204" pitchFamily="34" charset="0"/>
              </a:rPr>
              <a:t>/{id} para ejecutar la baja física en el sistema de gestión de bases de datos.</a:t>
            </a:r>
          </a:p>
          <a:p>
            <a:pPr algn="just"/>
            <a:br>
              <a:rPr lang="es-ES" sz="2000" i="0" dirty="0">
                <a:effectLst/>
                <a:latin typeface="Arial" panose="020B0604020202020204" pitchFamily="34" charset="0"/>
                <a:cs typeface="Arial" panose="020B0604020202020204" pitchFamily="34" charset="0"/>
              </a:rPr>
            </a:br>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Construcción del </a:t>
            </a:r>
            <a:r>
              <a:rPr lang="es-ES" sz="1600" b="1" dirty="0" err="1">
                <a:solidFill>
                  <a:schemeClr val="tx1"/>
                </a:solidFill>
                <a:latin typeface="Arial" panose="020B0604020202020204" pitchFamily="34" charset="0"/>
                <a:cs typeface="Arial" panose="020B0604020202020204" pitchFamily="34" charset="0"/>
              </a:rPr>
              <a:t>frontend</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spTree>
    <p:extLst>
      <p:ext uri="{BB962C8B-B14F-4D97-AF65-F5344CB8AC3E}">
        <p14:creationId xmlns:p14="http://schemas.microsoft.com/office/powerpoint/2010/main" val="3772318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631216"/>
          </a:xfrm>
          <a:prstGeom prst="rect">
            <a:avLst/>
          </a:prstGeom>
          <a:noFill/>
        </p:spPr>
        <p:txBody>
          <a:bodyPr wrap="square">
            <a:spAutoFit/>
          </a:bodyPr>
          <a:lstStyle/>
          <a:p>
            <a:pPr algn="just"/>
            <a:r>
              <a:rPr lang="es-ES" sz="2000" b="1" i="0" dirty="0">
                <a:effectLst/>
                <a:latin typeface="Arial" panose="020B0604020202020204" pitchFamily="34" charset="0"/>
                <a:cs typeface="Arial" panose="020B0604020202020204" pitchFamily="34" charset="0"/>
              </a:rPr>
              <a:t>B. Servicio de Cursos (</a:t>
            </a:r>
            <a:r>
              <a:rPr lang="es-ES" sz="2000" b="1" i="0" dirty="0" err="1">
                <a:effectLst/>
                <a:latin typeface="Arial" panose="020B0604020202020204" pitchFamily="34" charset="0"/>
                <a:cs typeface="Arial" panose="020B0604020202020204" pitchFamily="34" charset="0"/>
              </a:rPr>
              <a:t>src</a:t>
            </a:r>
            <a:r>
              <a:rPr lang="es-ES" sz="2000" b="1" i="0" dirty="0">
                <a:effectLst/>
                <a:latin typeface="Arial" panose="020B0604020202020204" pitchFamily="34" charset="0"/>
                <a:cs typeface="Arial" panose="020B0604020202020204" pitchFamily="34" charset="0"/>
              </a:rPr>
              <a:t>/app/</a:t>
            </a:r>
            <a:r>
              <a:rPr lang="es-ES" sz="2000" b="1" i="0" dirty="0" err="1">
                <a:effectLst/>
                <a:latin typeface="Arial" panose="020B0604020202020204" pitchFamily="34" charset="0"/>
                <a:cs typeface="Arial" panose="020B0604020202020204" pitchFamily="34" charset="0"/>
              </a:rPr>
              <a:t>services</a:t>
            </a:r>
            <a:r>
              <a:rPr lang="es-ES" sz="2000" b="1" i="0" dirty="0">
                <a:effectLst/>
                <a:latin typeface="Arial" panose="020B0604020202020204" pitchFamily="34" charset="0"/>
                <a:cs typeface="Arial" panose="020B0604020202020204" pitchFamily="34" charset="0"/>
              </a:rPr>
              <a:t>/</a:t>
            </a:r>
            <a:r>
              <a:rPr lang="es-ES" sz="2000" b="1" i="0" dirty="0" err="1">
                <a:effectLst/>
                <a:latin typeface="Arial" panose="020B0604020202020204" pitchFamily="34" charset="0"/>
                <a:cs typeface="Arial" panose="020B0604020202020204" pitchFamily="34" charset="0"/>
              </a:rPr>
              <a:t>course.ts</a:t>
            </a:r>
            <a:r>
              <a:rPr lang="es-ES" sz="2000" b="1" i="0" dirty="0">
                <a:effectLst/>
                <a:latin typeface="Arial" panose="020B0604020202020204" pitchFamily="34" charset="0"/>
                <a:cs typeface="Arial" panose="020B0604020202020204" pitchFamily="34" charset="0"/>
              </a:rPr>
              <a:t>)</a:t>
            </a:r>
          </a:p>
          <a:p>
            <a:pPr algn="just"/>
            <a:r>
              <a:rPr lang="es-ES" sz="2000" b="0" i="0" dirty="0">
                <a:effectLst/>
                <a:latin typeface="Arial" panose="020B0604020202020204" pitchFamily="34" charset="0"/>
                <a:cs typeface="Arial" panose="020B0604020202020204" pitchFamily="34" charset="0"/>
              </a:rPr>
              <a:t>Replica la estructura del servicio anterior, pero direccionando las peticiones hacia el controlador de materias (Base de datos PostgreSQL). Mapea los métodos:</a:t>
            </a:r>
          </a:p>
          <a:p>
            <a:pPr algn="just"/>
            <a:br>
              <a:rPr lang="es-ES" sz="2000" i="0" dirty="0">
                <a:effectLst/>
                <a:latin typeface="Arial" panose="020B0604020202020204" pitchFamily="34" charset="0"/>
                <a:cs typeface="Arial" panose="020B0604020202020204" pitchFamily="34" charset="0"/>
              </a:rPr>
            </a:br>
            <a:endParaRPr lang="es-ES" sz="2000"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Construcción del </a:t>
            </a:r>
            <a:r>
              <a:rPr lang="es-ES" sz="1600" b="1" dirty="0" err="1">
                <a:solidFill>
                  <a:schemeClr val="tx1"/>
                </a:solidFill>
                <a:latin typeface="Arial" panose="020B0604020202020204" pitchFamily="34" charset="0"/>
                <a:cs typeface="Arial" panose="020B0604020202020204" pitchFamily="34" charset="0"/>
              </a:rPr>
              <a:t>frontend</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9" name="Imagen 8">
            <a:extLst>
              <a:ext uri="{FF2B5EF4-FFF2-40B4-BE49-F238E27FC236}">
                <a16:creationId xmlns:a16="http://schemas.microsoft.com/office/drawing/2014/main" id="{BD33CFE7-9802-4D46-90D9-CF221011E583}"/>
              </a:ext>
            </a:extLst>
          </p:cNvPr>
          <p:cNvPicPr>
            <a:picLocks noChangeAspect="1"/>
          </p:cNvPicPr>
          <p:nvPr/>
        </p:nvPicPr>
        <p:blipFill>
          <a:blip r:embed="rId3"/>
          <a:stretch>
            <a:fillRect/>
          </a:stretch>
        </p:blipFill>
        <p:spPr>
          <a:xfrm>
            <a:off x="3467100" y="1736165"/>
            <a:ext cx="4755102" cy="5121835"/>
          </a:xfrm>
          <a:prstGeom prst="rect">
            <a:avLst/>
          </a:prstGeom>
        </p:spPr>
      </p:pic>
    </p:spTree>
    <p:extLst>
      <p:ext uri="{BB962C8B-B14F-4D97-AF65-F5344CB8AC3E}">
        <p14:creationId xmlns:p14="http://schemas.microsoft.com/office/powerpoint/2010/main" val="946667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3785652"/>
          </a:xfrm>
          <a:prstGeom prst="rect">
            <a:avLst/>
          </a:prstGeom>
          <a:noFill/>
        </p:spPr>
        <p:txBody>
          <a:bodyPr wrap="square">
            <a:spAutoFit/>
          </a:bodyPr>
          <a:lstStyle/>
          <a:p>
            <a:pPr algn="just"/>
            <a:r>
              <a:rPr lang="es-ES" sz="2000" b="1" i="0" dirty="0">
                <a:effectLst/>
                <a:latin typeface="Arial" panose="020B0604020202020204" pitchFamily="34" charset="0"/>
                <a:ea typeface="Zilla Slab" pitchFamily="2" charset="0"/>
                <a:cs typeface="Arial" panose="020B0604020202020204" pitchFamily="34" charset="0"/>
              </a:rPr>
              <a:t>B. Servicio de Cursos (</a:t>
            </a:r>
            <a:r>
              <a:rPr lang="es-ES" sz="2000" b="1" i="0" dirty="0" err="1">
                <a:effectLst/>
                <a:latin typeface="Arial" panose="020B0604020202020204" pitchFamily="34" charset="0"/>
                <a:ea typeface="Zilla Slab" pitchFamily="2" charset="0"/>
                <a:cs typeface="Arial" panose="020B0604020202020204" pitchFamily="34" charset="0"/>
              </a:rPr>
              <a:t>src</a:t>
            </a:r>
            <a:r>
              <a:rPr lang="es-ES" sz="2000" b="1" i="0" dirty="0">
                <a:effectLst/>
                <a:latin typeface="Arial" panose="020B0604020202020204" pitchFamily="34" charset="0"/>
                <a:ea typeface="Zilla Slab" pitchFamily="2" charset="0"/>
                <a:cs typeface="Arial" panose="020B0604020202020204" pitchFamily="34" charset="0"/>
              </a:rPr>
              <a:t>/app/</a:t>
            </a:r>
            <a:r>
              <a:rPr lang="es-ES" sz="2000" b="1" i="0" dirty="0" err="1">
                <a:effectLst/>
                <a:latin typeface="Arial" panose="020B0604020202020204" pitchFamily="34" charset="0"/>
                <a:ea typeface="Zilla Slab" pitchFamily="2" charset="0"/>
                <a:cs typeface="Arial" panose="020B0604020202020204" pitchFamily="34" charset="0"/>
              </a:rPr>
              <a:t>services</a:t>
            </a:r>
            <a:r>
              <a:rPr lang="es-ES" sz="2000" b="1" i="0" dirty="0">
                <a:effectLst/>
                <a:latin typeface="Arial" panose="020B0604020202020204" pitchFamily="34" charset="0"/>
                <a:ea typeface="Zilla Slab" pitchFamily="2" charset="0"/>
                <a:cs typeface="Arial" panose="020B0604020202020204" pitchFamily="34" charset="0"/>
              </a:rPr>
              <a:t>/</a:t>
            </a:r>
            <a:r>
              <a:rPr lang="es-ES" sz="2000" b="1" i="0" dirty="0" err="1">
                <a:effectLst/>
                <a:latin typeface="Arial" panose="020B0604020202020204" pitchFamily="34" charset="0"/>
                <a:ea typeface="Zilla Slab" pitchFamily="2" charset="0"/>
                <a:cs typeface="Arial" panose="020B0604020202020204" pitchFamily="34" charset="0"/>
              </a:rPr>
              <a:t>course.ts</a:t>
            </a:r>
            <a:r>
              <a:rPr lang="es-ES" sz="2000" b="1" i="0" dirty="0">
                <a:effectLst/>
                <a:latin typeface="Arial" panose="020B0604020202020204" pitchFamily="34" charset="0"/>
                <a:ea typeface="Zilla Slab" pitchFamily="2" charset="0"/>
                <a:cs typeface="Arial" panose="020B0604020202020204" pitchFamily="34" charset="0"/>
              </a:rPr>
              <a:t>)</a:t>
            </a:r>
          </a:p>
          <a:p>
            <a:pPr algn="just"/>
            <a:r>
              <a:rPr lang="es-ES" sz="2000" b="0" i="0" dirty="0">
                <a:effectLst/>
                <a:latin typeface="Arial" panose="020B0604020202020204" pitchFamily="34" charset="0"/>
                <a:ea typeface="Zilla Slab" pitchFamily="2" charset="0"/>
                <a:cs typeface="Arial" panose="020B0604020202020204" pitchFamily="34" charset="0"/>
              </a:rPr>
              <a:t>Replica la estructura del servicio anterior, pero direccionando las peticiones hacia el controlador de materias (Base de datos PostgreSQL). Mapea los métodos:</a:t>
            </a:r>
          </a:p>
          <a:p>
            <a:pPr algn="just"/>
            <a:endParaRPr lang="es-ES" sz="2000" dirty="0">
              <a:latin typeface="Arial" panose="020B0604020202020204" pitchFamily="34" charset="0"/>
              <a:ea typeface="Zilla Slab" pitchFamily="2" charset="0"/>
              <a:cs typeface="Arial" panose="020B0604020202020204" pitchFamily="34" charset="0"/>
            </a:endParaRPr>
          </a:p>
          <a:p>
            <a:pPr algn="just"/>
            <a:r>
              <a:rPr lang="es-MX" sz="2000" b="1" i="0" dirty="0" err="1">
                <a:effectLst/>
                <a:latin typeface="Arial" panose="020B0604020202020204" pitchFamily="34" charset="0"/>
                <a:ea typeface="Zilla Slab" pitchFamily="2" charset="0"/>
                <a:cs typeface="Arial" panose="020B0604020202020204" pitchFamily="34" charset="0"/>
              </a:rPr>
              <a:t>getCourses</a:t>
            </a:r>
            <a:r>
              <a:rPr lang="es-MX" sz="2000" b="1" i="0" dirty="0">
                <a:effectLst/>
                <a:latin typeface="Arial" panose="020B0604020202020204" pitchFamily="34" charset="0"/>
                <a:ea typeface="Zilla Slab" pitchFamily="2" charset="0"/>
                <a:cs typeface="Arial" panose="020B0604020202020204" pitchFamily="34" charset="0"/>
              </a:rPr>
              <a:t>(): </a:t>
            </a:r>
            <a:r>
              <a:rPr lang="es-MX" sz="2000" b="0" i="0" dirty="0">
                <a:effectLst/>
                <a:latin typeface="Arial" panose="020B0604020202020204" pitchFamily="34" charset="0"/>
                <a:ea typeface="Zilla Slab" pitchFamily="2" charset="0"/>
                <a:cs typeface="Arial" panose="020B0604020202020204" pitchFamily="34" charset="0"/>
              </a:rPr>
              <a:t>Petición GET a /</a:t>
            </a:r>
            <a:r>
              <a:rPr lang="es-MX" sz="2000" b="0" i="0" dirty="0" err="1">
                <a:effectLst/>
                <a:latin typeface="Arial" panose="020B0604020202020204" pitchFamily="34" charset="0"/>
                <a:ea typeface="Zilla Slab" pitchFamily="2" charset="0"/>
                <a:cs typeface="Arial" panose="020B0604020202020204" pitchFamily="34" charset="0"/>
              </a:rPr>
              <a:t>all</a:t>
            </a:r>
            <a:r>
              <a:rPr lang="es-MX" sz="2000" b="0" i="0" dirty="0">
                <a:effectLst/>
                <a:latin typeface="Arial" panose="020B0604020202020204" pitchFamily="34" charset="0"/>
                <a:ea typeface="Zilla Slab" pitchFamily="2" charset="0"/>
                <a:cs typeface="Arial" panose="020B0604020202020204" pitchFamily="34" charset="0"/>
              </a:rPr>
              <a:t> para extraer las materias locales.</a:t>
            </a:r>
          </a:p>
          <a:p>
            <a:pPr algn="just"/>
            <a:r>
              <a:rPr lang="es-MX" sz="2000" b="1" i="0" dirty="0" err="1">
                <a:effectLst/>
                <a:latin typeface="Arial" panose="020B0604020202020204" pitchFamily="34" charset="0"/>
                <a:ea typeface="Zilla Slab" pitchFamily="2" charset="0"/>
                <a:cs typeface="Arial" panose="020B0604020202020204" pitchFamily="34" charset="0"/>
              </a:rPr>
              <a:t>saveCourse</a:t>
            </a:r>
            <a:r>
              <a:rPr lang="es-MX" sz="2000" b="1" i="0" dirty="0">
                <a:effectLst/>
                <a:latin typeface="Arial" panose="020B0604020202020204" pitchFamily="34" charset="0"/>
                <a:ea typeface="Zilla Slab" pitchFamily="2" charset="0"/>
                <a:cs typeface="Arial" panose="020B0604020202020204" pitchFamily="34" charset="0"/>
              </a:rPr>
              <a:t>(</a:t>
            </a:r>
            <a:r>
              <a:rPr lang="es-MX" sz="2000" b="1" i="0" dirty="0" err="1">
                <a:effectLst/>
                <a:latin typeface="Arial" panose="020B0604020202020204" pitchFamily="34" charset="0"/>
                <a:ea typeface="Zilla Slab" pitchFamily="2" charset="0"/>
                <a:cs typeface="Arial" panose="020B0604020202020204" pitchFamily="34" charset="0"/>
              </a:rPr>
              <a:t>course</a:t>
            </a:r>
            <a:r>
              <a:rPr lang="es-MX" sz="2000" b="1" i="0" dirty="0">
                <a:effectLst/>
                <a:latin typeface="Arial" panose="020B0604020202020204" pitchFamily="34" charset="0"/>
                <a:ea typeface="Zilla Slab" pitchFamily="2" charset="0"/>
                <a:cs typeface="Arial" panose="020B0604020202020204" pitchFamily="34" charset="0"/>
              </a:rPr>
              <a:t>): </a:t>
            </a:r>
            <a:r>
              <a:rPr lang="es-MX" sz="2000" b="0" i="0" dirty="0">
                <a:effectLst/>
                <a:latin typeface="Arial" panose="020B0604020202020204" pitchFamily="34" charset="0"/>
                <a:ea typeface="Zilla Slab" pitchFamily="2" charset="0"/>
                <a:cs typeface="Arial" panose="020B0604020202020204" pitchFamily="34" charset="0"/>
              </a:rPr>
              <a:t>Petición POST apuntando específicamente a la ruta /</a:t>
            </a:r>
            <a:r>
              <a:rPr lang="es-MX" sz="2000" b="0" i="0" dirty="0" err="1">
                <a:effectLst/>
                <a:latin typeface="Arial" panose="020B0604020202020204" pitchFamily="34" charset="0"/>
                <a:ea typeface="Zilla Slab" pitchFamily="2" charset="0"/>
                <a:cs typeface="Arial" panose="020B0604020202020204" pitchFamily="34" charset="0"/>
              </a:rPr>
              <a:t>create</a:t>
            </a:r>
            <a:r>
              <a:rPr lang="es-MX" sz="2000" b="0" i="0" dirty="0">
                <a:effectLst/>
                <a:latin typeface="Arial" panose="020B0604020202020204" pitchFamily="34" charset="0"/>
                <a:ea typeface="Zilla Slab" pitchFamily="2" charset="0"/>
                <a:cs typeface="Arial" panose="020B0604020202020204" pitchFamily="34" charset="0"/>
              </a:rPr>
              <a:t> configurada en el </a:t>
            </a:r>
            <a:r>
              <a:rPr lang="es-MX" sz="2000" b="0" i="0" dirty="0" err="1">
                <a:effectLst/>
                <a:latin typeface="Arial" panose="020B0604020202020204" pitchFamily="34" charset="0"/>
                <a:ea typeface="Zilla Slab" pitchFamily="2" charset="0"/>
                <a:cs typeface="Arial" panose="020B0604020202020204" pitchFamily="34" charset="0"/>
              </a:rPr>
              <a:t>backend</a:t>
            </a:r>
            <a:r>
              <a:rPr lang="es-MX" sz="2000" b="0" i="0" dirty="0">
                <a:effectLst/>
                <a:latin typeface="Arial" panose="020B0604020202020204" pitchFamily="34" charset="0"/>
                <a:ea typeface="Zilla Slab" pitchFamily="2" charset="0"/>
                <a:cs typeface="Arial" panose="020B0604020202020204" pitchFamily="34" charset="0"/>
              </a:rPr>
              <a:t>.</a:t>
            </a:r>
          </a:p>
          <a:p>
            <a:pPr algn="just"/>
            <a:r>
              <a:rPr lang="es-MX" sz="2000" b="1" i="0" dirty="0" err="1">
                <a:effectLst/>
                <a:latin typeface="Arial" panose="020B0604020202020204" pitchFamily="34" charset="0"/>
                <a:ea typeface="Zilla Slab" pitchFamily="2" charset="0"/>
                <a:cs typeface="Arial" panose="020B0604020202020204" pitchFamily="34" charset="0"/>
              </a:rPr>
              <a:t>updateCourse</a:t>
            </a:r>
            <a:r>
              <a:rPr lang="es-MX" sz="2000" b="1" i="0" dirty="0">
                <a:effectLst/>
                <a:latin typeface="Arial" panose="020B0604020202020204" pitchFamily="34" charset="0"/>
                <a:ea typeface="Zilla Slab" pitchFamily="2" charset="0"/>
                <a:cs typeface="Arial" panose="020B0604020202020204" pitchFamily="34" charset="0"/>
              </a:rPr>
              <a:t>(id, </a:t>
            </a:r>
            <a:r>
              <a:rPr lang="es-MX" sz="2000" b="1" i="0" dirty="0" err="1">
                <a:effectLst/>
                <a:latin typeface="Arial" panose="020B0604020202020204" pitchFamily="34" charset="0"/>
                <a:ea typeface="Zilla Slab" pitchFamily="2" charset="0"/>
                <a:cs typeface="Arial" panose="020B0604020202020204" pitchFamily="34" charset="0"/>
              </a:rPr>
              <a:t>course</a:t>
            </a:r>
            <a:r>
              <a:rPr lang="es-MX" sz="2000" b="1" i="0" dirty="0">
                <a:effectLst/>
                <a:latin typeface="Arial" panose="020B0604020202020204" pitchFamily="34" charset="0"/>
                <a:ea typeface="Zilla Slab" pitchFamily="2" charset="0"/>
                <a:cs typeface="Arial" panose="020B0604020202020204" pitchFamily="34" charset="0"/>
              </a:rPr>
              <a:t>): </a:t>
            </a:r>
            <a:r>
              <a:rPr lang="es-MX" sz="2000" b="0" i="0" dirty="0">
                <a:effectLst/>
                <a:latin typeface="Arial" panose="020B0604020202020204" pitchFamily="34" charset="0"/>
                <a:ea typeface="Zilla Slab" pitchFamily="2" charset="0"/>
                <a:cs typeface="Arial" panose="020B0604020202020204" pitchFamily="34" charset="0"/>
              </a:rPr>
              <a:t>Petición PUT dirigida a /</a:t>
            </a:r>
            <a:r>
              <a:rPr lang="es-MX" sz="2000" b="0" i="0" dirty="0" err="1">
                <a:effectLst/>
                <a:latin typeface="Arial" panose="020B0604020202020204" pitchFamily="34" charset="0"/>
                <a:ea typeface="Zilla Slab" pitchFamily="2" charset="0"/>
                <a:cs typeface="Arial" panose="020B0604020202020204" pitchFamily="34" charset="0"/>
              </a:rPr>
              <a:t>update</a:t>
            </a:r>
            <a:r>
              <a:rPr lang="es-MX" sz="2000" b="0" i="0" dirty="0">
                <a:effectLst/>
                <a:latin typeface="Arial" panose="020B0604020202020204" pitchFamily="34" charset="0"/>
                <a:ea typeface="Zilla Slab" pitchFamily="2" charset="0"/>
                <a:cs typeface="Arial" panose="020B0604020202020204" pitchFamily="34" charset="0"/>
              </a:rPr>
              <a:t>/{id}.</a:t>
            </a:r>
          </a:p>
          <a:p>
            <a:pPr algn="just"/>
            <a:r>
              <a:rPr lang="es-MX" sz="2000" b="1" i="0" dirty="0" err="1">
                <a:effectLst/>
                <a:latin typeface="Arial" panose="020B0604020202020204" pitchFamily="34" charset="0"/>
                <a:ea typeface="Zilla Slab" pitchFamily="2" charset="0"/>
                <a:cs typeface="Arial" panose="020B0604020202020204" pitchFamily="34" charset="0"/>
              </a:rPr>
              <a:t>deleteCourse</a:t>
            </a:r>
            <a:r>
              <a:rPr lang="es-MX" sz="2000" b="1" i="0" dirty="0">
                <a:effectLst/>
                <a:latin typeface="Arial" panose="020B0604020202020204" pitchFamily="34" charset="0"/>
                <a:ea typeface="Zilla Slab" pitchFamily="2" charset="0"/>
                <a:cs typeface="Arial" panose="020B0604020202020204" pitchFamily="34" charset="0"/>
              </a:rPr>
              <a:t>(id): </a:t>
            </a:r>
            <a:r>
              <a:rPr lang="es-MX" sz="2000" b="0" i="0" dirty="0">
                <a:effectLst/>
                <a:latin typeface="Arial" panose="020B0604020202020204" pitchFamily="34" charset="0"/>
                <a:ea typeface="Zilla Slab" pitchFamily="2" charset="0"/>
                <a:cs typeface="Arial" panose="020B0604020202020204" pitchFamily="34" charset="0"/>
              </a:rPr>
              <a:t>Petición DELETE dirigida a /</a:t>
            </a:r>
            <a:r>
              <a:rPr lang="es-MX" sz="2000" b="0" i="0" dirty="0" err="1">
                <a:effectLst/>
                <a:latin typeface="Arial" panose="020B0604020202020204" pitchFamily="34" charset="0"/>
                <a:ea typeface="Zilla Slab" pitchFamily="2" charset="0"/>
                <a:cs typeface="Arial" panose="020B0604020202020204" pitchFamily="34" charset="0"/>
              </a:rPr>
              <a:t>delete</a:t>
            </a:r>
            <a:r>
              <a:rPr lang="es-MX" sz="2000" b="0" i="0" dirty="0">
                <a:effectLst/>
                <a:latin typeface="Arial" panose="020B0604020202020204" pitchFamily="34" charset="0"/>
                <a:ea typeface="Zilla Slab" pitchFamily="2" charset="0"/>
                <a:cs typeface="Arial" panose="020B0604020202020204" pitchFamily="34" charset="0"/>
              </a:rPr>
              <a:t>/{id}.</a:t>
            </a:r>
          </a:p>
          <a:p>
            <a:pPr algn="just"/>
            <a:endParaRPr lang="es-ES" sz="2000" b="0" i="0" dirty="0">
              <a:effectLst/>
              <a:latin typeface="Arial" panose="020B0604020202020204" pitchFamily="34" charset="0"/>
              <a:ea typeface="Zilla Slab" pitchFamily="2" charset="0"/>
              <a:cs typeface="Arial" panose="020B0604020202020204" pitchFamily="34" charset="0"/>
            </a:endParaRPr>
          </a:p>
          <a:p>
            <a:pPr algn="just"/>
            <a:br>
              <a:rPr lang="es-ES" sz="2000" i="0" dirty="0">
                <a:effectLst/>
                <a:latin typeface="Arial" panose="020B0604020202020204" pitchFamily="34" charset="0"/>
                <a:ea typeface="Zilla Slab" pitchFamily="2" charset="0"/>
                <a:cs typeface="Arial" panose="020B0604020202020204" pitchFamily="34" charset="0"/>
              </a:rPr>
            </a:br>
            <a:endParaRPr lang="es-ES" sz="2000" i="0" dirty="0">
              <a:effectLst/>
              <a:latin typeface="Arial" panose="020B0604020202020204" pitchFamily="34" charset="0"/>
              <a:ea typeface="Zilla Slab" pitchFamily="2"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Construcción del </a:t>
            </a:r>
            <a:r>
              <a:rPr lang="es-ES" sz="1600" b="1" dirty="0" err="1">
                <a:solidFill>
                  <a:schemeClr val="tx1"/>
                </a:solidFill>
                <a:latin typeface="Arial" panose="020B0604020202020204" pitchFamily="34" charset="0"/>
                <a:cs typeface="Arial" panose="020B0604020202020204" pitchFamily="34" charset="0"/>
              </a:rPr>
              <a:t>frontend</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spTree>
    <p:extLst>
      <p:ext uri="{BB962C8B-B14F-4D97-AF65-F5344CB8AC3E}">
        <p14:creationId xmlns:p14="http://schemas.microsoft.com/office/powerpoint/2010/main" val="4121672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4093428"/>
          </a:xfrm>
          <a:prstGeom prst="rect">
            <a:avLst/>
          </a:prstGeom>
          <a:noFill/>
        </p:spPr>
        <p:txBody>
          <a:bodyPr wrap="square">
            <a:spAutoFit/>
          </a:bodyPr>
          <a:lstStyle/>
          <a:p>
            <a:pPr algn="just"/>
            <a:r>
              <a:rPr lang="es-ES" sz="2000" b="1" dirty="0">
                <a:latin typeface="Arial" panose="020B0604020202020204" pitchFamily="34" charset="0"/>
                <a:cs typeface="Arial" panose="020B0604020202020204" pitchFamily="34" charset="0"/>
              </a:rPr>
              <a:t>Paso 2: Desarrollo de la Capa de Presentación (Componentes CRUD)</a:t>
            </a:r>
            <a:r>
              <a:rPr lang="es-ES" sz="2000" b="1" dirty="0">
                <a:latin typeface="Arial" panose="020B0604020202020204" pitchFamily="34" charset="0"/>
                <a:ea typeface="Zilla Slab" pitchFamily="2" charset="0"/>
                <a:cs typeface="Arial" panose="020B0604020202020204" pitchFamily="34" charset="0"/>
              </a:rPr>
              <a:t>:</a:t>
            </a:r>
          </a:p>
          <a:p>
            <a:pPr algn="just"/>
            <a:r>
              <a:rPr lang="es-ES" sz="2000" i="0" dirty="0">
                <a:effectLst/>
                <a:latin typeface="Arial" panose="020B0604020202020204" pitchFamily="34" charset="0"/>
                <a:ea typeface="Zilla Slab" pitchFamily="2" charset="0"/>
                <a:cs typeface="Arial" panose="020B0604020202020204" pitchFamily="34" charset="0"/>
              </a:rPr>
              <a:t>Cada componente se diseñó de forma aislada bajo una arquitectura </a:t>
            </a:r>
            <a:r>
              <a:rPr lang="es-ES" sz="2000" i="0" dirty="0" err="1">
                <a:effectLst/>
                <a:latin typeface="Arial" panose="020B0604020202020204" pitchFamily="34" charset="0"/>
                <a:ea typeface="Zilla Slab" pitchFamily="2" charset="0"/>
                <a:cs typeface="Arial" panose="020B0604020202020204" pitchFamily="34" charset="0"/>
              </a:rPr>
              <a:t>standalone</a:t>
            </a:r>
            <a:r>
              <a:rPr lang="es-ES" sz="2000" i="0" dirty="0">
                <a:effectLst/>
                <a:latin typeface="Arial" panose="020B0604020202020204" pitchFamily="34" charset="0"/>
                <a:ea typeface="Zilla Slab" pitchFamily="2" charset="0"/>
                <a:cs typeface="Arial" panose="020B0604020202020204" pitchFamily="34" charset="0"/>
              </a:rPr>
              <a:t>, encapsulando su propia lógica de control de estado y su respectiva interfaz de usuario.</a:t>
            </a:r>
            <a:br>
              <a:rPr lang="es-ES" sz="2000" i="0" dirty="0">
                <a:effectLst/>
                <a:latin typeface="Arial" panose="020B0604020202020204" pitchFamily="34" charset="0"/>
                <a:ea typeface="Zilla Slab" pitchFamily="2" charset="0"/>
                <a:cs typeface="Arial" panose="020B0604020202020204" pitchFamily="34" charset="0"/>
              </a:rPr>
            </a:br>
            <a:endParaRPr lang="es-ES" sz="2000" i="0" dirty="0">
              <a:effectLst/>
              <a:latin typeface="Arial" panose="020B0604020202020204" pitchFamily="34" charset="0"/>
              <a:ea typeface="Zilla Slab" pitchFamily="2" charset="0"/>
              <a:cs typeface="Arial" panose="020B0604020202020204" pitchFamily="34" charset="0"/>
            </a:endParaRPr>
          </a:p>
          <a:p>
            <a:pPr marL="457200" indent="-457200" algn="just">
              <a:buAutoNum type="alphaUcPeriod"/>
            </a:pPr>
            <a:r>
              <a:rPr lang="es-MX" sz="2000" b="1" i="0" dirty="0">
                <a:effectLst/>
                <a:latin typeface="Arial" panose="020B0604020202020204" pitchFamily="34" charset="0"/>
                <a:cs typeface="Arial" panose="020B0604020202020204" pitchFamily="34" charset="0"/>
              </a:rPr>
              <a:t>Módulo de Alumnos (</a:t>
            </a:r>
            <a:r>
              <a:rPr lang="es-MX" sz="2000" b="1" i="0" dirty="0" err="1">
                <a:effectLst/>
                <a:latin typeface="Arial" panose="020B0604020202020204" pitchFamily="34" charset="0"/>
                <a:cs typeface="Arial" panose="020B0604020202020204" pitchFamily="34" charset="0"/>
              </a:rPr>
              <a:t>src</a:t>
            </a:r>
            <a:r>
              <a:rPr lang="es-MX" sz="2000" b="1" i="0" dirty="0">
                <a:effectLst/>
                <a:latin typeface="Arial" panose="020B0604020202020204" pitchFamily="34" charset="0"/>
                <a:cs typeface="Arial" panose="020B0604020202020204" pitchFamily="34" charset="0"/>
              </a:rPr>
              <a:t>/app/</a:t>
            </a:r>
            <a:r>
              <a:rPr lang="es-MX" sz="2000" b="1" i="0" dirty="0" err="1">
                <a:effectLst/>
                <a:latin typeface="Arial" panose="020B0604020202020204" pitchFamily="34" charset="0"/>
                <a:cs typeface="Arial" panose="020B0604020202020204" pitchFamily="34" charset="0"/>
              </a:rPr>
              <a:t>components</a:t>
            </a:r>
            <a:r>
              <a:rPr lang="es-MX" sz="2000" b="1" i="0" dirty="0">
                <a:effectLst/>
                <a:latin typeface="Arial" panose="020B0604020202020204" pitchFamily="34" charset="0"/>
                <a:cs typeface="Arial" panose="020B0604020202020204" pitchFamily="34" charset="0"/>
              </a:rPr>
              <a:t>/</a:t>
            </a:r>
            <a:r>
              <a:rPr lang="es-MX" sz="2000" b="1" i="0" dirty="0" err="1">
                <a:effectLst/>
                <a:latin typeface="Arial" panose="020B0604020202020204" pitchFamily="34" charset="0"/>
                <a:cs typeface="Arial" panose="020B0604020202020204" pitchFamily="34" charset="0"/>
              </a:rPr>
              <a:t>student-list</a:t>
            </a:r>
            <a:r>
              <a:rPr lang="es-MX" sz="2000" b="1" i="0" dirty="0">
                <a:effectLst/>
                <a:latin typeface="Arial" panose="020B0604020202020204" pitchFamily="34" charset="0"/>
                <a:cs typeface="Arial" panose="020B0604020202020204" pitchFamily="34" charset="0"/>
              </a:rPr>
              <a:t>/)</a:t>
            </a:r>
          </a:p>
          <a:p>
            <a:pPr algn="just"/>
            <a:endParaRPr lang="es-MX" sz="2000" b="1" i="0" dirty="0">
              <a:effectLst/>
              <a:latin typeface="Arial" panose="020B0604020202020204" pitchFamily="34" charset="0"/>
              <a:cs typeface="Arial" panose="020B0604020202020204" pitchFamily="34" charset="0"/>
            </a:endParaRPr>
          </a:p>
          <a:p>
            <a:pPr algn="just"/>
            <a:r>
              <a:rPr lang="es-MX" sz="2000" b="1" i="0" dirty="0">
                <a:effectLst/>
                <a:latin typeface="Arial" panose="020B0604020202020204" pitchFamily="34" charset="0"/>
                <a:cs typeface="Arial" panose="020B0604020202020204" pitchFamily="34" charset="0"/>
              </a:rPr>
              <a:t>Lógica</a:t>
            </a:r>
            <a:r>
              <a:rPr lang="es-MX" sz="2000" b="0" i="0" dirty="0">
                <a:effectLst/>
                <a:latin typeface="Arial" panose="020B0604020202020204" pitchFamily="34" charset="0"/>
                <a:cs typeface="Arial" panose="020B0604020202020204" pitchFamily="34" charset="0"/>
              </a:rPr>
              <a:t> </a:t>
            </a:r>
            <a:r>
              <a:rPr lang="es-MX" sz="2000" b="1" i="0" dirty="0">
                <a:effectLst/>
                <a:latin typeface="Arial" panose="020B0604020202020204" pitchFamily="34" charset="0"/>
                <a:cs typeface="Arial" panose="020B0604020202020204" pitchFamily="34" charset="0"/>
              </a:rPr>
              <a:t>(</a:t>
            </a:r>
            <a:r>
              <a:rPr lang="es-MX" sz="2000" b="1" i="0" dirty="0" err="1">
                <a:effectLst/>
                <a:latin typeface="Arial" panose="020B0604020202020204" pitchFamily="34" charset="0"/>
                <a:cs typeface="Arial" panose="020B0604020202020204" pitchFamily="34" charset="0"/>
              </a:rPr>
              <a:t>student-list.ts</a:t>
            </a:r>
            <a:r>
              <a:rPr lang="es-MX" sz="2000" b="1" i="0" dirty="0">
                <a:effectLst/>
                <a:latin typeface="Arial" panose="020B0604020202020204" pitchFamily="34" charset="0"/>
                <a:cs typeface="Arial" panose="020B0604020202020204" pitchFamily="34" charset="0"/>
              </a:rPr>
              <a:t>): </a:t>
            </a:r>
            <a:r>
              <a:rPr lang="es-MX" sz="2000" b="0" i="0" dirty="0">
                <a:effectLst/>
                <a:latin typeface="Arial" panose="020B0604020202020204" pitchFamily="34" charset="0"/>
                <a:cs typeface="Arial" panose="020B0604020202020204" pitchFamily="34" charset="0"/>
              </a:rPr>
              <a:t>Se implementó la interfaz </a:t>
            </a:r>
            <a:r>
              <a:rPr lang="es-MX" sz="2000" b="1" i="0" dirty="0" err="1">
                <a:effectLst/>
                <a:latin typeface="Arial" panose="020B0604020202020204" pitchFamily="34" charset="0"/>
                <a:cs typeface="Arial" panose="020B0604020202020204" pitchFamily="34" charset="0"/>
              </a:rPr>
              <a:t>OnInit</a:t>
            </a:r>
            <a:r>
              <a:rPr lang="es-MX" sz="2000" b="0" i="0" dirty="0">
                <a:effectLst/>
                <a:latin typeface="Arial" panose="020B0604020202020204" pitchFamily="34" charset="0"/>
                <a:cs typeface="Arial" panose="020B0604020202020204" pitchFamily="34" charset="0"/>
              </a:rPr>
              <a:t> para disparar la carga inicial de datos. Se programó la función </a:t>
            </a:r>
            <a:r>
              <a:rPr lang="es-MX" sz="2000" b="1" i="0" dirty="0" err="1">
                <a:effectLst/>
                <a:latin typeface="Arial" panose="020B0604020202020204" pitchFamily="34" charset="0"/>
                <a:cs typeface="Arial" panose="020B0604020202020204" pitchFamily="34" charset="0"/>
              </a:rPr>
              <a:t>switchTab</a:t>
            </a:r>
            <a:r>
              <a:rPr lang="es-MX" sz="2000" b="1" i="0" dirty="0">
                <a:effectLst/>
                <a:latin typeface="Arial" panose="020B0604020202020204" pitchFamily="34" charset="0"/>
                <a:cs typeface="Arial" panose="020B0604020202020204" pitchFamily="34" charset="0"/>
              </a:rPr>
              <a:t>(</a:t>
            </a:r>
            <a:r>
              <a:rPr lang="es-MX" sz="2000" b="1" i="0" dirty="0" err="1">
                <a:effectLst/>
                <a:latin typeface="Arial" panose="020B0604020202020204" pitchFamily="34" charset="0"/>
                <a:cs typeface="Arial" panose="020B0604020202020204" pitchFamily="34" charset="0"/>
              </a:rPr>
              <a:t>tabName</a:t>
            </a:r>
            <a:r>
              <a:rPr lang="es-MX" sz="2000" b="0" i="0" dirty="0">
                <a:effectLst/>
                <a:latin typeface="Arial" panose="020B0604020202020204" pitchFamily="34" charset="0"/>
                <a:cs typeface="Arial" panose="020B0604020202020204" pitchFamily="34" charset="0"/>
              </a:rPr>
              <a:t>) para gestionar un sistema de pestañas dinámicas mediante la variable </a:t>
            </a:r>
            <a:r>
              <a:rPr lang="es-MX" sz="2000" b="1" i="0" dirty="0" err="1">
                <a:effectLst/>
                <a:latin typeface="Arial" panose="020B0604020202020204" pitchFamily="34" charset="0"/>
                <a:cs typeface="Arial" panose="020B0604020202020204" pitchFamily="34" charset="0"/>
              </a:rPr>
              <a:t>activeTab</a:t>
            </a:r>
            <a:r>
              <a:rPr lang="es-MX" sz="2000" b="0" i="0" dirty="0">
                <a:effectLst/>
                <a:latin typeface="Arial" panose="020B0604020202020204" pitchFamily="34" charset="0"/>
                <a:cs typeface="Arial" panose="020B0604020202020204" pitchFamily="34" charset="0"/>
              </a:rPr>
              <a:t> (</a:t>
            </a:r>
            <a:r>
              <a:rPr lang="es-MX" sz="2000" b="1" i="0" dirty="0">
                <a:effectLst/>
                <a:latin typeface="Arial" panose="020B0604020202020204" pitchFamily="34" charset="0"/>
                <a:cs typeface="Arial" panose="020B0604020202020204" pitchFamily="34" charset="0"/>
              </a:rPr>
              <a:t>'</a:t>
            </a:r>
            <a:r>
              <a:rPr lang="es-MX" sz="2000" b="1" i="0" dirty="0" err="1">
                <a:effectLst/>
                <a:latin typeface="Arial" panose="020B0604020202020204" pitchFamily="34" charset="0"/>
                <a:cs typeface="Arial" panose="020B0604020202020204" pitchFamily="34" charset="0"/>
              </a:rPr>
              <a:t>all</a:t>
            </a:r>
            <a:r>
              <a:rPr lang="es-MX" sz="2000" b="0" i="0" dirty="0">
                <a:effectLst/>
                <a:latin typeface="Arial" panose="020B0604020202020204" pitchFamily="34" charset="0"/>
                <a:cs typeface="Arial" panose="020B0604020202020204" pitchFamily="34" charset="0"/>
              </a:rPr>
              <a:t>', </a:t>
            </a:r>
            <a:r>
              <a:rPr lang="es-MX" sz="2000" b="1" i="0" dirty="0">
                <a:effectLst/>
                <a:latin typeface="Arial" panose="020B0604020202020204" pitchFamily="34" charset="0"/>
                <a:cs typeface="Arial" panose="020B0604020202020204" pitchFamily="34" charset="0"/>
              </a:rPr>
              <a:t>'</a:t>
            </a:r>
            <a:r>
              <a:rPr lang="es-MX" sz="2000" b="1" i="0" dirty="0" err="1">
                <a:effectLst/>
                <a:latin typeface="Arial" panose="020B0604020202020204" pitchFamily="34" charset="0"/>
                <a:cs typeface="Arial" panose="020B0604020202020204" pitchFamily="34" charset="0"/>
              </a:rPr>
              <a:t>search</a:t>
            </a:r>
            <a:r>
              <a:rPr lang="es-MX" sz="2000" b="0" i="0" dirty="0">
                <a:effectLst/>
                <a:latin typeface="Arial" panose="020B0604020202020204" pitchFamily="34" charset="0"/>
                <a:cs typeface="Arial" panose="020B0604020202020204" pitchFamily="34" charset="0"/>
              </a:rPr>
              <a:t>', </a:t>
            </a:r>
            <a:r>
              <a:rPr lang="es-MX" sz="2000" b="1" i="0" dirty="0">
                <a:effectLst/>
                <a:latin typeface="Arial" panose="020B0604020202020204" pitchFamily="34" charset="0"/>
                <a:cs typeface="Arial" panose="020B0604020202020204" pitchFamily="34" charset="0"/>
              </a:rPr>
              <a:t>'</a:t>
            </a:r>
            <a:r>
              <a:rPr lang="es-MX" sz="2000" b="1" i="0" dirty="0" err="1">
                <a:effectLst/>
                <a:latin typeface="Arial" panose="020B0604020202020204" pitchFamily="34" charset="0"/>
                <a:cs typeface="Arial" panose="020B0604020202020204" pitchFamily="34" charset="0"/>
              </a:rPr>
              <a:t>create</a:t>
            </a:r>
            <a:r>
              <a:rPr lang="es-MX" sz="2000" b="0" i="0" dirty="0">
                <a:effectLst/>
                <a:latin typeface="Arial" panose="020B0604020202020204" pitchFamily="34" charset="0"/>
                <a:cs typeface="Arial" panose="020B0604020202020204" pitchFamily="34" charset="0"/>
              </a:rPr>
              <a:t>', </a:t>
            </a:r>
            <a:r>
              <a:rPr lang="es-MX" sz="2000" b="1" i="0" dirty="0">
                <a:effectLst/>
                <a:latin typeface="Arial" panose="020B0604020202020204" pitchFamily="34" charset="0"/>
                <a:cs typeface="Arial" panose="020B0604020202020204" pitchFamily="34" charset="0"/>
              </a:rPr>
              <a:t>'</a:t>
            </a:r>
            <a:r>
              <a:rPr lang="es-MX" sz="2000" b="1" i="0" dirty="0" err="1">
                <a:effectLst/>
                <a:latin typeface="Arial" panose="020B0604020202020204" pitchFamily="34" charset="0"/>
                <a:cs typeface="Arial" panose="020B0604020202020204" pitchFamily="34" charset="0"/>
              </a:rPr>
              <a:t>edit</a:t>
            </a:r>
            <a:r>
              <a:rPr lang="es-MX" sz="2000" b="0" i="0" dirty="0">
                <a:effectLst/>
                <a:latin typeface="Arial" panose="020B0604020202020204" pitchFamily="34" charset="0"/>
                <a:cs typeface="Arial" panose="020B0604020202020204" pitchFamily="34" charset="0"/>
              </a:rPr>
              <a:t>', </a:t>
            </a:r>
            <a:r>
              <a:rPr lang="es-MX" sz="2000" b="1" i="0" dirty="0">
                <a:effectLst/>
                <a:latin typeface="Arial" panose="020B0604020202020204" pitchFamily="34" charset="0"/>
                <a:cs typeface="Arial" panose="020B0604020202020204" pitchFamily="34" charset="0"/>
              </a:rPr>
              <a:t>'</a:t>
            </a:r>
            <a:r>
              <a:rPr lang="es-MX" sz="2000" b="1" i="0" dirty="0" err="1">
                <a:effectLst/>
                <a:latin typeface="Arial" panose="020B0604020202020204" pitchFamily="34" charset="0"/>
                <a:cs typeface="Arial" panose="020B0604020202020204" pitchFamily="34" charset="0"/>
              </a:rPr>
              <a:t>delete</a:t>
            </a:r>
            <a:r>
              <a:rPr lang="es-MX" sz="2000" b="0" i="0" dirty="0">
                <a:effectLst/>
                <a:latin typeface="Arial" panose="020B0604020202020204" pitchFamily="34" charset="0"/>
                <a:cs typeface="Arial" panose="020B0604020202020204" pitchFamily="34" charset="0"/>
              </a:rPr>
              <a:t>'). Para mitigar el desfase de renderizado asíncrono al recargar la página (F5), se inyectó la herramienta </a:t>
            </a:r>
            <a:r>
              <a:rPr lang="es-MX" sz="2000" b="1" i="0" dirty="0" err="1">
                <a:effectLst/>
                <a:latin typeface="Arial" panose="020B0604020202020204" pitchFamily="34" charset="0"/>
                <a:cs typeface="Arial" panose="020B0604020202020204" pitchFamily="34" charset="0"/>
              </a:rPr>
              <a:t>ChangeDetectorRef</a:t>
            </a:r>
            <a:r>
              <a:rPr lang="es-MX" sz="2000" b="0" i="0" dirty="0">
                <a:effectLst/>
                <a:latin typeface="Arial" panose="020B0604020202020204" pitchFamily="34" charset="0"/>
                <a:cs typeface="Arial" panose="020B0604020202020204" pitchFamily="34" charset="0"/>
              </a:rPr>
              <a:t>, forzando la actualización visual en el método </a:t>
            </a:r>
            <a:r>
              <a:rPr lang="es-MX" sz="2000" b="1" i="0" dirty="0" err="1">
                <a:effectLst/>
                <a:latin typeface="Arial" panose="020B0604020202020204" pitchFamily="34" charset="0"/>
                <a:cs typeface="Arial" panose="020B0604020202020204" pitchFamily="34" charset="0"/>
              </a:rPr>
              <a:t>cdRef</a:t>
            </a:r>
            <a:r>
              <a:rPr lang="es-MX" sz="2000" b="0" i="0" dirty="0" err="1">
                <a:effectLst/>
                <a:latin typeface="Arial" panose="020B0604020202020204" pitchFamily="34" charset="0"/>
                <a:cs typeface="Arial" panose="020B0604020202020204" pitchFamily="34" charset="0"/>
              </a:rPr>
              <a:t>.</a:t>
            </a:r>
            <a:r>
              <a:rPr lang="es-MX" sz="2000" b="1" i="0" dirty="0" err="1">
                <a:effectLst/>
                <a:latin typeface="Arial" panose="020B0604020202020204" pitchFamily="34" charset="0"/>
                <a:cs typeface="Arial" panose="020B0604020202020204" pitchFamily="34" charset="0"/>
              </a:rPr>
              <a:t>detectChanges</a:t>
            </a:r>
            <a:r>
              <a:rPr lang="es-MX" sz="2000" b="0" i="0" dirty="0">
                <a:effectLst/>
                <a:latin typeface="Arial" panose="020B0604020202020204" pitchFamily="34" charset="0"/>
                <a:cs typeface="Arial" panose="020B0604020202020204" pitchFamily="34" charset="0"/>
              </a:rPr>
              <a:t>() inmediatamente después de recibir las respuestas JSON exitosas del Gateway.</a:t>
            </a:r>
          </a:p>
          <a:p>
            <a:pPr algn="just"/>
            <a:endParaRPr lang="es-ES" sz="2000" i="0" dirty="0">
              <a:effectLst/>
              <a:latin typeface="Arial" panose="020B0604020202020204" pitchFamily="34" charset="0"/>
              <a:ea typeface="Zilla Slab" pitchFamily="2"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Construcción del </a:t>
            </a:r>
            <a:r>
              <a:rPr lang="es-ES" sz="1600" b="1" dirty="0" err="1">
                <a:solidFill>
                  <a:schemeClr val="tx1"/>
                </a:solidFill>
                <a:latin typeface="Arial" panose="020B0604020202020204" pitchFamily="34" charset="0"/>
                <a:cs typeface="Arial" panose="020B0604020202020204" pitchFamily="34" charset="0"/>
              </a:rPr>
              <a:t>frontend</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spTree>
    <p:extLst>
      <p:ext uri="{BB962C8B-B14F-4D97-AF65-F5344CB8AC3E}">
        <p14:creationId xmlns:p14="http://schemas.microsoft.com/office/powerpoint/2010/main" val="2865563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938992"/>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Paso 2: Desarrollo de la Capa de Presentación (Componentes CRUD)</a:t>
            </a:r>
            <a:r>
              <a:rPr lang="es-ES" sz="2000" dirty="0">
                <a:latin typeface="Arial" panose="020B0604020202020204" pitchFamily="34" charset="0"/>
                <a:ea typeface="Zilla Slab" pitchFamily="2" charset="0"/>
                <a:cs typeface="Arial" panose="020B0604020202020204" pitchFamily="34" charset="0"/>
              </a:rPr>
              <a:t>:</a:t>
            </a:r>
          </a:p>
          <a:p>
            <a:pPr algn="just"/>
            <a:r>
              <a:rPr lang="es-ES" sz="2000" i="0" dirty="0">
                <a:effectLst/>
                <a:latin typeface="Arial" panose="020B0604020202020204" pitchFamily="34" charset="0"/>
                <a:ea typeface="Zilla Slab" pitchFamily="2" charset="0"/>
                <a:cs typeface="Arial" panose="020B0604020202020204" pitchFamily="34" charset="0"/>
              </a:rPr>
              <a:t>Cada componente se diseñó de forma aislada bajo una arquitectura </a:t>
            </a:r>
            <a:r>
              <a:rPr lang="es-ES" sz="2000" i="0" dirty="0" err="1">
                <a:effectLst/>
                <a:latin typeface="Arial" panose="020B0604020202020204" pitchFamily="34" charset="0"/>
                <a:ea typeface="Zilla Slab" pitchFamily="2" charset="0"/>
                <a:cs typeface="Arial" panose="020B0604020202020204" pitchFamily="34" charset="0"/>
              </a:rPr>
              <a:t>standalone</a:t>
            </a:r>
            <a:r>
              <a:rPr lang="es-ES" sz="2000" i="0" dirty="0">
                <a:effectLst/>
                <a:latin typeface="Arial" panose="020B0604020202020204" pitchFamily="34" charset="0"/>
                <a:ea typeface="Zilla Slab" pitchFamily="2" charset="0"/>
                <a:cs typeface="Arial" panose="020B0604020202020204" pitchFamily="34" charset="0"/>
              </a:rPr>
              <a:t>, encapsulando su propia lógica de control de estado y su respectiva interfaz de usuario.</a:t>
            </a:r>
            <a:br>
              <a:rPr lang="es-ES" sz="2000" i="0" dirty="0">
                <a:effectLst/>
                <a:latin typeface="Arial" panose="020B0604020202020204" pitchFamily="34" charset="0"/>
                <a:ea typeface="Zilla Slab" pitchFamily="2" charset="0"/>
                <a:cs typeface="Arial" panose="020B0604020202020204" pitchFamily="34" charset="0"/>
              </a:rPr>
            </a:br>
            <a:endParaRPr lang="es-ES" sz="2000" i="0" dirty="0">
              <a:effectLst/>
              <a:latin typeface="Arial" panose="020B0604020202020204" pitchFamily="34" charset="0"/>
              <a:ea typeface="Zilla Slab" pitchFamily="2" charset="0"/>
              <a:cs typeface="Arial" panose="020B0604020202020204" pitchFamily="34" charset="0"/>
            </a:endParaRPr>
          </a:p>
          <a:p>
            <a:pPr marL="457200" indent="-457200" algn="just">
              <a:buAutoNum type="alphaUcPeriod"/>
            </a:pPr>
            <a:r>
              <a:rPr lang="es-MX" sz="2000" b="1" i="0" dirty="0">
                <a:effectLst/>
                <a:latin typeface="Arial" panose="020B0604020202020204" pitchFamily="34" charset="0"/>
                <a:cs typeface="Arial" panose="020B0604020202020204" pitchFamily="34" charset="0"/>
              </a:rPr>
              <a:t>Módulo de Alumnos (</a:t>
            </a:r>
            <a:r>
              <a:rPr lang="es-MX" sz="2000" b="1" i="0" dirty="0" err="1">
                <a:effectLst/>
                <a:latin typeface="Arial" panose="020B0604020202020204" pitchFamily="34" charset="0"/>
                <a:cs typeface="Arial" panose="020B0604020202020204" pitchFamily="34" charset="0"/>
              </a:rPr>
              <a:t>src</a:t>
            </a:r>
            <a:r>
              <a:rPr lang="es-MX" sz="2000" b="1" i="0" dirty="0">
                <a:effectLst/>
                <a:latin typeface="Arial" panose="020B0604020202020204" pitchFamily="34" charset="0"/>
                <a:cs typeface="Arial" panose="020B0604020202020204" pitchFamily="34" charset="0"/>
              </a:rPr>
              <a:t>/app/</a:t>
            </a:r>
            <a:r>
              <a:rPr lang="es-MX" sz="2000" b="1" i="0" dirty="0" err="1">
                <a:effectLst/>
                <a:latin typeface="Arial" panose="020B0604020202020204" pitchFamily="34" charset="0"/>
                <a:cs typeface="Arial" panose="020B0604020202020204" pitchFamily="34" charset="0"/>
              </a:rPr>
              <a:t>components</a:t>
            </a:r>
            <a:r>
              <a:rPr lang="es-MX" sz="2000" b="1" i="0" dirty="0">
                <a:effectLst/>
                <a:latin typeface="Arial" panose="020B0604020202020204" pitchFamily="34" charset="0"/>
                <a:cs typeface="Arial" panose="020B0604020202020204" pitchFamily="34" charset="0"/>
              </a:rPr>
              <a:t>/</a:t>
            </a:r>
            <a:r>
              <a:rPr lang="es-MX" sz="2000" b="1" i="0" dirty="0" err="1">
                <a:effectLst/>
                <a:latin typeface="Arial" panose="020B0604020202020204" pitchFamily="34" charset="0"/>
                <a:cs typeface="Arial" panose="020B0604020202020204" pitchFamily="34" charset="0"/>
              </a:rPr>
              <a:t>student-list</a:t>
            </a:r>
            <a:r>
              <a:rPr lang="es-MX" sz="2000" b="1" i="0" dirty="0">
                <a:effectLst/>
                <a:latin typeface="Arial" panose="020B0604020202020204" pitchFamily="34" charset="0"/>
                <a:cs typeface="Arial" panose="020B0604020202020204" pitchFamily="34" charset="0"/>
              </a:rPr>
              <a:t>/)</a:t>
            </a:r>
          </a:p>
          <a:p>
            <a:pPr algn="just"/>
            <a:endParaRPr lang="es-ES" sz="2000" i="0" dirty="0">
              <a:effectLst/>
              <a:latin typeface="Arial" panose="020B0604020202020204" pitchFamily="34" charset="0"/>
              <a:ea typeface="Zilla Slab" pitchFamily="2"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Construcción del </a:t>
            </a:r>
            <a:r>
              <a:rPr lang="es-ES" sz="1600" b="1" dirty="0" err="1">
                <a:solidFill>
                  <a:schemeClr val="tx1"/>
                </a:solidFill>
                <a:latin typeface="Arial" panose="020B0604020202020204" pitchFamily="34" charset="0"/>
                <a:cs typeface="Arial" panose="020B0604020202020204" pitchFamily="34" charset="0"/>
              </a:rPr>
              <a:t>frontend</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DE12803D-DF1F-45DA-9A75-2A8510BC541B}"/>
              </a:ext>
            </a:extLst>
          </p:cNvPr>
          <p:cNvPicPr>
            <a:picLocks noChangeAspect="1"/>
          </p:cNvPicPr>
          <p:nvPr/>
        </p:nvPicPr>
        <p:blipFill>
          <a:blip r:embed="rId3"/>
          <a:stretch>
            <a:fillRect/>
          </a:stretch>
        </p:blipFill>
        <p:spPr>
          <a:xfrm>
            <a:off x="459105" y="2321548"/>
            <a:ext cx="4828476" cy="4412627"/>
          </a:xfrm>
          <a:prstGeom prst="rect">
            <a:avLst/>
          </a:prstGeom>
        </p:spPr>
      </p:pic>
      <p:pic>
        <p:nvPicPr>
          <p:cNvPr id="10" name="Imagen 9">
            <a:extLst>
              <a:ext uri="{FF2B5EF4-FFF2-40B4-BE49-F238E27FC236}">
                <a16:creationId xmlns:a16="http://schemas.microsoft.com/office/drawing/2014/main" id="{CF87956C-B521-417C-BF6A-E3E595297A6E}"/>
              </a:ext>
            </a:extLst>
          </p:cNvPr>
          <p:cNvPicPr>
            <a:picLocks noChangeAspect="1"/>
          </p:cNvPicPr>
          <p:nvPr/>
        </p:nvPicPr>
        <p:blipFill>
          <a:blip r:embed="rId4"/>
          <a:stretch>
            <a:fillRect/>
          </a:stretch>
        </p:blipFill>
        <p:spPr>
          <a:xfrm>
            <a:off x="6129338" y="2342339"/>
            <a:ext cx="3843338" cy="4268180"/>
          </a:xfrm>
          <a:prstGeom prst="rect">
            <a:avLst/>
          </a:prstGeom>
        </p:spPr>
      </p:pic>
    </p:spTree>
    <p:extLst>
      <p:ext uri="{BB962C8B-B14F-4D97-AF65-F5344CB8AC3E}">
        <p14:creationId xmlns:p14="http://schemas.microsoft.com/office/powerpoint/2010/main" val="2818223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2246769"/>
          </a:xfrm>
          <a:prstGeom prst="rect">
            <a:avLst/>
          </a:prstGeom>
          <a:noFill/>
        </p:spPr>
        <p:txBody>
          <a:bodyPr wrap="square">
            <a:spAutoFit/>
          </a:bodyPr>
          <a:lstStyle/>
          <a:p>
            <a:pPr marL="457200" indent="-457200" algn="just">
              <a:buAutoNum type="alphaUcPeriod"/>
            </a:pPr>
            <a:r>
              <a:rPr lang="es-MX" sz="2000" b="1" i="0" dirty="0">
                <a:effectLst/>
                <a:latin typeface="Arial" panose="020B0604020202020204" pitchFamily="34" charset="0"/>
                <a:cs typeface="Arial" panose="020B0604020202020204" pitchFamily="34" charset="0"/>
              </a:rPr>
              <a:t>Módulo de Alumnos (</a:t>
            </a:r>
            <a:r>
              <a:rPr lang="es-MX" sz="2000" b="1" i="0" dirty="0" err="1">
                <a:effectLst/>
                <a:latin typeface="Arial" panose="020B0604020202020204" pitchFamily="34" charset="0"/>
                <a:cs typeface="Arial" panose="020B0604020202020204" pitchFamily="34" charset="0"/>
              </a:rPr>
              <a:t>src</a:t>
            </a:r>
            <a:r>
              <a:rPr lang="es-MX" sz="2000" b="1" i="0" dirty="0">
                <a:effectLst/>
                <a:latin typeface="Arial" panose="020B0604020202020204" pitchFamily="34" charset="0"/>
                <a:cs typeface="Arial" panose="020B0604020202020204" pitchFamily="34" charset="0"/>
              </a:rPr>
              <a:t>/app/</a:t>
            </a:r>
            <a:r>
              <a:rPr lang="es-MX" sz="2000" b="1" i="0" dirty="0" err="1">
                <a:effectLst/>
                <a:latin typeface="Arial" panose="020B0604020202020204" pitchFamily="34" charset="0"/>
                <a:cs typeface="Arial" panose="020B0604020202020204" pitchFamily="34" charset="0"/>
              </a:rPr>
              <a:t>components</a:t>
            </a:r>
            <a:r>
              <a:rPr lang="es-MX" sz="2000" b="1" i="0" dirty="0">
                <a:effectLst/>
                <a:latin typeface="Arial" panose="020B0604020202020204" pitchFamily="34" charset="0"/>
                <a:cs typeface="Arial" panose="020B0604020202020204" pitchFamily="34" charset="0"/>
              </a:rPr>
              <a:t>/</a:t>
            </a:r>
            <a:r>
              <a:rPr lang="es-MX" sz="2000" b="1" i="0" dirty="0" err="1">
                <a:effectLst/>
                <a:latin typeface="Arial" panose="020B0604020202020204" pitchFamily="34" charset="0"/>
                <a:cs typeface="Arial" panose="020B0604020202020204" pitchFamily="34" charset="0"/>
              </a:rPr>
              <a:t>student-list</a:t>
            </a:r>
            <a:r>
              <a:rPr lang="es-MX" sz="2000" b="1" i="0" dirty="0">
                <a:effectLst/>
                <a:latin typeface="Arial" panose="020B0604020202020204" pitchFamily="34" charset="0"/>
                <a:cs typeface="Arial" panose="020B0604020202020204" pitchFamily="34" charset="0"/>
              </a:rPr>
              <a:t>/)</a:t>
            </a:r>
          </a:p>
          <a:p>
            <a:pPr algn="just"/>
            <a:endParaRPr lang="es-MX" sz="2000" b="1" i="0" dirty="0">
              <a:effectLst/>
              <a:latin typeface="Arial" panose="020B0604020202020204" pitchFamily="34" charset="0"/>
              <a:cs typeface="Arial" panose="020B0604020202020204" pitchFamily="34" charset="0"/>
            </a:endParaRPr>
          </a:p>
          <a:p>
            <a:pPr algn="just"/>
            <a:r>
              <a:rPr lang="es-ES" sz="2000" b="1" i="0" dirty="0">
                <a:effectLst/>
                <a:latin typeface="Arial" panose="020B0604020202020204" pitchFamily="34" charset="0"/>
                <a:cs typeface="Arial" panose="020B0604020202020204" pitchFamily="34" charset="0"/>
              </a:rPr>
              <a:t>Vista (student-list.html):</a:t>
            </a:r>
            <a:r>
              <a:rPr lang="es-ES" sz="2000" b="0" i="0" dirty="0">
                <a:effectLst/>
                <a:latin typeface="Arial" panose="020B0604020202020204" pitchFamily="34" charset="0"/>
                <a:cs typeface="Arial" panose="020B0604020202020204" pitchFamily="34" charset="0"/>
              </a:rPr>
              <a:t> Contiene un menú superior de botones interactivos ligados al evento (</a:t>
            </a:r>
            <a:r>
              <a:rPr lang="es-ES" sz="2000" b="1" i="0" dirty="0" err="1">
                <a:effectLst/>
                <a:latin typeface="Arial" panose="020B0604020202020204" pitchFamily="34" charset="0"/>
                <a:cs typeface="Arial" panose="020B0604020202020204" pitchFamily="34" charset="0"/>
              </a:rPr>
              <a:t>click</a:t>
            </a:r>
            <a:r>
              <a:rPr lang="es-ES" sz="2000" b="0" i="0" dirty="0">
                <a:effectLst/>
                <a:latin typeface="Arial" panose="020B0604020202020204" pitchFamily="34" charset="0"/>
                <a:cs typeface="Arial" panose="020B0604020202020204" pitchFamily="34" charset="0"/>
              </a:rPr>
              <a:t>). Empleando directivas estructurales de Angular como </a:t>
            </a:r>
            <a:r>
              <a:rPr lang="es-ES" sz="2000" b="1" i="0" dirty="0">
                <a:effectLst/>
                <a:latin typeface="Arial" panose="020B0604020202020204" pitchFamily="34" charset="0"/>
                <a:cs typeface="Arial" panose="020B0604020202020204" pitchFamily="34" charset="0"/>
              </a:rPr>
              <a:t>*</a:t>
            </a:r>
            <a:r>
              <a:rPr lang="es-ES" sz="2000" b="1" i="0" dirty="0" err="1">
                <a:effectLst/>
                <a:latin typeface="Arial" panose="020B0604020202020204" pitchFamily="34" charset="0"/>
                <a:cs typeface="Arial" panose="020B0604020202020204" pitchFamily="34" charset="0"/>
              </a:rPr>
              <a:t>ngIf</a:t>
            </a:r>
            <a:r>
              <a:rPr lang="es-ES" sz="2000" b="0" i="0" dirty="0">
                <a:effectLst/>
                <a:latin typeface="Arial" panose="020B0604020202020204" pitchFamily="34" charset="0"/>
                <a:cs typeface="Arial" panose="020B0604020202020204" pitchFamily="34" charset="0"/>
              </a:rPr>
              <a:t>, el HTML oculta o muestra dinámicamente las secciones según la pestaña activa: la tabla general iterada con </a:t>
            </a:r>
            <a:r>
              <a:rPr lang="es-ES" sz="2000" b="1" i="0" dirty="0">
                <a:effectLst/>
                <a:latin typeface="Arial" panose="020B0604020202020204" pitchFamily="34" charset="0"/>
                <a:cs typeface="Arial" panose="020B0604020202020204" pitchFamily="34" charset="0"/>
              </a:rPr>
              <a:t>*</a:t>
            </a:r>
            <a:r>
              <a:rPr lang="es-ES" sz="2000" b="1" i="0" dirty="0" err="1">
                <a:effectLst/>
                <a:latin typeface="Arial" panose="020B0604020202020204" pitchFamily="34" charset="0"/>
                <a:cs typeface="Arial" panose="020B0604020202020204" pitchFamily="34" charset="0"/>
              </a:rPr>
              <a:t>ngFor</a:t>
            </a:r>
            <a:r>
              <a:rPr lang="es-ES" sz="2000" b="0" i="0" dirty="0">
                <a:effectLst/>
                <a:latin typeface="Arial" panose="020B0604020202020204" pitchFamily="34" charset="0"/>
                <a:cs typeface="Arial" panose="020B0604020202020204" pitchFamily="34" charset="0"/>
              </a:rPr>
              <a:t>, el buscador de registros individuales por ID, o los formularios reactivos equipados con la directiva de doble vía [(</a:t>
            </a:r>
            <a:r>
              <a:rPr lang="es-ES" sz="2000" b="1" i="0" dirty="0" err="1">
                <a:effectLst/>
                <a:latin typeface="Arial" panose="020B0604020202020204" pitchFamily="34" charset="0"/>
                <a:cs typeface="Arial" panose="020B0604020202020204" pitchFamily="34" charset="0"/>
              </a:rPr>
              <a:t>ngModel</a:t>
            </a:r>
            <a:r>
              <a:rPr lang="es-ES" sz="2000" b="0" i="0" dirty="0">
                <a:effectLst/>
                <a:latin typeface="Arial" panose="020B0604020202020204" pitchFamily="34" charset="0"/>
                <a:cs typeface="Arial" panose="020B0604020202020204" pitchFamily="34" charset="0"/>
              </a:rPr>
              <a:t>)] para capturar las entradas de texto del usuario.</a:t>
            </a:r>
            <a:endParaRPr lang="es-ES" sz="2000" i="0" dirty="0">
              <a:effectLst/>
              <a:latin typeface="Arial" panose="020B0604020202020204" pitchFamily="34" charset="0"/>
              <a:ea typeface="Zilla Slab" pitchFamily="2"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Construcción del </a:t>
            </a:r>
            <a:r>
              <a:rPr lang="es-ES" sz="1600" b="1" dirty="0" err="1">
                <a:solidFill>
                  <a:schemeClr val="tx1"/>
                </a:solidFill>
                <a:latin typeface="Arial" panose="020B0604020202020204" pitchFamily="34" charset="0"/>
                <a:cs typeface="Arial" panose="020B0604020202020204" pitchFamily="34" charset="0"/>
              </a:rPr>
              <a:t>frontend</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E390F1B2-F7F7-4A9E-BDCD-B6A1A0DBABCA}"/>
              </a:ext>
            </a:extLst>
          </p:cNvPr>
          <p:cNvPicPr>
            <a:picLocks noChangeAspect="1"/>
          </p:cNvPicPr>
          <p:nvPr/>
        </p:nvPicPr>
        <p:blipFill>
          <a:blip r:embed="rId3"/>
          <a:stretch>
            <a:fillRect/>
          </a:stretch>
        </p:blipFill>
        <p:spPr>
          <a:xfrm>
            <a:off x="3724274" y="3026444"/>
            <a:ext cx="4307917" cy="3707731"/>
          </a:xfrm>
          <a:prstGeom prst="rect">
            <a:avLst/>
          </a:prstGeom>
        </p:spPr>
      </p:pic>
    </p:spTree>
    <p:extLst>
      <p:ext uri="{BB962C8B-B14F-4D97-AF65-F5344CB8AC3E}">
        <p14:creationId xmlns:p14="http://schemas.microsoft.com/office/powerpoint/2010/main" val="2096659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4708981"/>
          </a:xfrm>
          <a:prstGeom prst="rect">
            <a:avLst/>
          </a:prstGeom>
          <a:noFill/>
        </p:spPr>
        <p:txBody>
          <a:bodyPr wrap="square">
            <a:spAutoFit/>
          </a:bodyPr>
          <a:lstStyle/>
          <a:p>
            <a:pPr algn="just"/>
            <a:r>
              <a:rPr lang="es-ES" sz="2000" b="1" i="0" dirty="0">
                <a:effectLst/>
                <a:latin typeface="Arial" panose="020B0604020202020204" pitchFamily="34" charset="0"/>
                <a:cs typeface="Arial" panose="020B0604020202020204" pitchFamily="34" charset="0"/>
              </a:rPr>
              <a:t>B. Módulo de Cursos (</a:t>
            </a:r>
            <a:r>
              <a:rPr lang="es-ES" sz="2000" b="1" i="0" dirty="0" err="1">
                <a:effectLst/>
                <a:latin typeface="Arial" panose="020B0604020202020204" pitchFamily="34" charset="0"/>
                <a:cs typeface="Arial" panose="020B0604020202020204" pitchFamily="34" charset="0"/>
              </a:rPr>
              <a:t>src</a:t>
            </a:r>
            <a:r>
              <a:rPr lang="es-ES" sz="2000" b="1" i="0" dirty="0">
                <a:effectLst/>
                <a:latin typeface="Arial" panose="020B0604020202020204" pitchFamily="34" charset="0"/>
                <a:cs typeface="Arial" panose="020B0604020202020204" pitchFamily="34" charset="0"/>
              </a:rPr>
              <a:t>/app/</a:t>
            </a:r>
            <a:r>
              <a:rPr lang="es-ES" sz="2000" b="1" i="0" dirty="0" err="1">
                <a:effectLst/>
                <a:latin typeface="Arial" panose="020B0604020202020204" pitchFamily="34" charset="0"/>
                <a:cs typeface="Arial" panose="020B0604020202020204" pitchFamily="34" charset="0"/>
              </a:rPr>
              <a:t>components</a:t>
            </a:r>
            <a:r>
              <a:rPr lang="es-ES" sz="2000" b="1" i="0" dirty="0">
                <a:effectLst/>
                <a:latin typeface="Arial" panose="020B0604020202020204" pitchFamily="34" charset="0"/>
                <a:cs typeface="Arial" panose="020B0604020202020204" pitchFamily="34" charset="0"/>
              </a:rPr>
              <a:t>/</a:t>
            </a:r>
            <a:r>
              <a:rPr lang="es-ES" sz="2000" b="1" i="0" dirty="0" err="1">
                <a:effectLst/>
                <a:latin typeface="Arial" panose="020B0604020202020204" pitchFamily="34" charset="0"/>
                <a:cs typeface="Arial" panose="020B0604020202020204" pitchFamily="34" charset="0"/>
              </a:rPr>
              <a:t>course-list</a:t>
            </a:r>
            <a:r>
              <a:rPr lang="es-ES" sz="2000" b="1" i="0" dirty="0">
                <a:effectLst/>
                <a:latin typeface="Arial" panose="020B0604020202020204" pitchFamily="34" charset="0"/>
                <a:cs typeface="Arial" panose="020B0604020202020204" pitchFamily="34" charset="0"/>
              </a:rPr>
              <a:t>/)</a:t>
            </a:r>
          </a:p>
          <a:p>
            <a:pPr algn="just"/>
            <a:r>
              <a:rPr lang="es-ES" sz="2000" b="0" i="0" dirty="0">
                <a:effectLst/>
                <a:latin typeface="Arial" panose="020B0604020202020204" pitchFamily="34" charset="0"/>
                <a:cs typeface="Arial" panose="020B0604020202020204" pitchFamily="34" charset="0"/>
              </a:rPr>
              <a:t>Se desarrolló siguiendo de manera simétrica la misma arquitectura del componente de alumnos, adaptando las variables y el renderizado a la estructura de la base de datos PostgreSQL.</a:t>
            </a:r>
          </a:p>
          <a:p>
            <a:pPr algn="just"/>
            <a:br>
              <a:rPr lang="es-ES" sz="2000" b="0" i="0" dirty="0">
                <a:effectLst/>
                <a:latin typeface="Arial" panose="020B0604020202020204" pitchFamily="34" charset="0"/>
                <a:cs typeface="Arial" panose="020B0604020202020204" pitchFamily="34" charset="0"/>
              </a:rPr>
            </a:br>
            <a:endParaRPr lang="es-ES" sz="2000" b="0" i="0" dirty="0">
              <a:effectLst/>
              <a:latin typeface="Arial" panose="020B0604020202020204" pitchFamily="34" charset="0"/>
              <a:cs typeface="Arial" panose="020B0604020202020204" pitchFamily="34" charset="0"/>
            </a:endParaRPr>
          </a:p>
          <a:p>
            <a:pPr algn="just"/>
            <a:r>
              <a:rPr lang="es-ES" sz="2000" b="1" i="0" dirty="0">
                <a:effectLst/>
                <a:latin typeface="Arial" panose="020B0604020202020204" pitchFamily="34" charset="0"/>
                <a:cs typeface="Arial" panose="020B0604020202020204" pitchFamily="34" charset="0"/>
              </a:rPr>
              <a:t>Lógica</a:t>
            </a:r>
            <a:r>
              <a:rPr lang="es-ES" sz="2000" b="0" i="0" dirty="0">
                <a:effectLst/>
                <a:latin typeface="Arial" panose="020B0604020202020204" pitchFamily="34" charset="0"/>
                <a:cs typeface="Arial" panose="020B0604020202020204" pitchFamily="34" charset="0"/>
              </a:rPr>
              <a:t> (</a:t>
            </a:r>
            <a:r>
              <a:rPr lang="es-ES" sz="2000" b="1" i="0" dirty="0" err="1">
                <a:effectLst/>
                <a:latin typeface="Arial" panose="020B0604020202020204" pitchFamily="34" charset="0"/>
                <a:cs typeface="Arial" panose="020B0604020202020204" pitchFamily="34" charset="0"/>
              </a:rPr>
              <a:t>course-list.ts</a:t>
            </a:r>
            <a:r>
              <a:rPr lang="es-ES" sz="2000" b="0" i="0" dirty="0">
                <a:effectLst/>
                <a:latin typeface="Arial" panose="020B0604020202020204" pitchFamily="34" charset="0"/>
                <a:cs typeface="Arial" panose="020B0604020202020204" pitchFamily="34" charset="0"/>
              </a:rPr>
              <a:t>): Controla el estado local del formulario de materias (id, </a:t>
            </a:r>
            <a:r>
              <a:rPr lang="es-ES" sz="2000" b="0" i="0" dirty="0" err="1">
                <a:effectLst/>
                <a:latin typeface="Arial" panose="020B0604020202020204" pitchFamily="34" charset="0"/>
                <a:cs typeface="Arial" panose="020B0604020202020204" pitchFamily="34" charset="0"/>
              </a:rPr>
              <a:t>name</a:t>
            </a:r>
            <a:r>
              <a:rPr lang="es-ES" sz="2000" b="0" i="0" dirty="0">
                <a:effectLst/>
                <a:latin typeface="Arial" panose="020B0604020202020204" pitchFamily="34" charset="0"/>
                <a:cs typeface="Arial" panose="020B0604020202020204" pitchFamily="34" charset="0"/>
              </a:rPr>
              <a:t>, </a:t>
            </a:r>
            <a:r>
              <a:rPr lang="es-ES" sz="2000" b="0" i="0" dirty="0" err="1">
                <a:effectLst/>
                <a:latin typeface="Arial" panose="020B0604020202020204" pitchFamily="34" charset="0"/>
                <a:cs typeface="Arial" panose="020B0604020202020204" pitchFamily="34" charset="0"/>
              </a:rPr>
              <a:t>teacher</a:t>
            </a:r>
            <a:r>
              <a:rPr lang="es-ES" sz="2000" b="0" i="0" dirty="0">
                <a:effectLst/>
                <a:latin typeface="Arial" panose="020B0604020202020204" pitchFamily="34" charset="0"/>
                <a:cs typeface="Arial" panose="020B0604020202020204" pitchFamily="34" charset="0"/>
              </a:rPr>
              <a:t>) y coordina las llamadas asíncronas hacia el </a:t>
            </a:r>
            <a:r>
              <a:rPr lang="es-ES" sz="2000" b="1" i="0" dirty="0" err="1">
                <a:effectLst/>
                <a:latin typeface="Arial" panose="020B0604020202020204" pitchFamily="34" charset="0"/>
                <a:cs typeface="Arial" panose="020B0604020202020204" pitchFamily="34" charset="0"/>
              </a:rPr>
              <a:t>CourseService</a:t>
            </a:r>
            <a:r>
              <a:rPr lang="es-ES" sz="2000" b="0" i="0" dirty="0">
                <a:effectLst/>
                <a:latin typeface="Arial" panose="020B0604020202020204" pitchFamily="34" charset="0"/>
                <a:cs typeface="Arial" panose="020B0604020202020204" pitchFamily="34" charset="0"/>
              </a:rPr>
              <a:t>. También implementa el uso de </a:t>
            </a:r>
            <a:r>
              <a:rPr lang="es-ES" sz="2000" b="1" i="0" dirty="0" err="1">
                <a:effectLst/>
                <a:latin typeface="Arial" panose="020B0604020202020204" pitchFamily="34" charset="0"/>
                <a:cs typeface="Arial" panose="020B0604020202020204" pitchFamily="34" charset="0"/>
              </a:rPr>
              <a:t>ChangeDetectorRef</a:t>
            </a:r>
            <a:r>
              <a:rPr lang="es-ES" sz="2000" b="0" i="0" dirty="0">
                <a:effectLst/>
                <a:latin typeface="Arial" panose="020B0604020202020204" pitchFamily="34" charset="0"/>
                <a:cs typeface="Arial" panose="020B0604020202020204" pitchFamily="34" charset="0"/>
              </a:rPr>
              <a:t> para mantener estable la visualización de datos tras las recargas del navegador.</a:t>
            </a:r>
          </a:p>
          <a:p>
            <a:pPr algn="just"/>
            <a:endParaRPr lang="es-ES" sz="2000" b="0" i="0" dirty="0">
              <a:effectLst/>
              <a:latin typeface="Arial" panose="020B0604020202020204" pitchFamily="34" charset="0"/>
              <a:cs typeface="Arial" panose="020B0604020202020204" pitchFamily="34" charset="0"/>
            </a:endParaRPr>
          </a:p>
          <a:p>
            <a:pPr algn="just"/>
            <a:r>
              <a:rPr lang="es-ES" sz="2000" b="0" i="0" dirty="0">
                <a:effectLst/>
                <a:latin typeface="Arial" panose="020B0604020202020204" pitchFamily="34" charset="0"/>
                <a:cs typeface="Arial" panose="020B0604020202020204" pitchFamily="34" charset="0"/>
              </a:rPr>
              <a:t>Vista (</a:t>
            </a:r>
            <a:r>
              <a:rPr lang="es-ES" sz="2000" b="1" i="0" dirty="0">
                <a:effectLst/>
                <a:latin typeface="Arial" panose="020B0604020202020204" pitchFamily="34" charset="0"/>
                <a:cs typeface="Arial" panose="020B0604020202020204" pitchFamily="34" charset="0"/>
              </a:rPr>
              <a:t>course-list.html</a:t>
            </a:r>
            <a:r>
              <a:rPr lang="es-ES" sz="2000" b="0" i="0" dirty="0">
                <a:effectLst/>
                <a:latin typeface="Arial" panose="020B0604020202020204" pitchFamily="34" charset="0"/>
                <a:cs typeface="Arial" panose="020B0604020202020204" pitchFamily="34" charset="0"/>
              </a:rPr>
              <a:t>): Despliega de forma independiente el menú operacional de cursos (color temático azul para diferenciarlo visualmente de alumnos), la tabla de materias enlazada a las variables del </a:t>
            </a:r>
            <a:r>
              <a:rPr lang="es-ES" sz="2000" b="1" i="1" dirty="0" err="1">
                <a:effectLst/>
                <a:latin typeface="Arial" panose="020B0604020202020204" pitchFamily="34" charset="0"/>
                <a:cs typeface="Arial" panose="020B0604020202020204" pitchFamily="34" charset="0"/>
              </a:rPr>
              <a:t>backend</a:t>
            </a:r>
            <a:r>
              <a:rPr lang="es-ES" sz="2000" b="0" i="0" dirty="0">
                <a:effectLst/>
                <a:latin typeface="Arial" panose="020B0604020202020204" pitchFamily="34" charset="0"/>
                <a:cs typeface="Arial" panose="020B0604020202020204" pitchFamily="34" charset="0"/>
              </a:rPr>
              <a:t>, y los bloques para buscar, dar de alta y actualizar la información de los profesores y asignaturas.</a:t>
            </a:r>
          </a:p>
          <a:p>
            <a:pPr algn="just"/>
            <a:endParaRPr lang="es-ES" sz="2000" i="0" dirty="0">
              <a:effectLst/>
              <a:latin typeface="Arial" panose="020B0604020202020204" pitchFamily="34" charset="0"/>
              <a:ea typeface="Zilla Slab" pitchFamily="2"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Construcción del </a:t>
            </a:r>
            <a:r>
              <a:rPr lang="es-ES" sz="1600" b="1" dirty="0" err="1">
                <a:solidFill>
                  <a:schemeClr val="tx1"/>
                </a:solidFill>
                <a:latin typeface="Arial" panose="020B0604020202020204" pitchFamily="34" charset="0"/>
                <a:cs typeface="Arial" panose="020B0604020202020204" pitchFamily="34" charset="0"/>
              </a:rPr>
              <a:t>frontend</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spTree>
    <p:extLst>
      <p:ext uri="{BB962C8B-B14F-4D97-AF65-F5344CB8AC3E}">
        <p14:creationId xmlns:p14="http://schemas.microsoft.com/office/powerpoint/2010/main" val="24368439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707886"/>
          </a:xfrm>
          <a:prstGeom prst="rect">
            <a:avLst/>
          </a:prstGeom>
          <a:noFill/>
        </p:spPr>
        <p:txBody>
          <a:bodyPr wrap="square">
            <a:spAutoFit/>
          </a:bodyPr>
          <a:lstStyle/>
          <a:p>
            <a:pPr algn="just"/>
            <a:r>
              <a:rPr lang="es-ES" sz="2000" b="1" i="0" dirty="0">
                <a:effectLst/>
                <a:latin typeface="Arial" panose="020B0604020202020204" pitchFamily="34" charset="0"/>
                <a:cs typeface="Arial" panose="020B0604020202020204" pitchFamily="34" charset="0"/>
              </a:rPr>
              <a:t>B. Módulo de Cursos (</a:t>
            </a:r>
            <a:r>
              <a:rPr lang="es-ES" sz="2000" b="1" i="0" dirty="0" err="1">
                <a:effectLst/>
                <a:latin typeface="Arial" panose="020B0604020202020204" pitchFamily="34" charset="0"/>
                <a:cs typeface="Arial" panose="020B0604020202020204" pitchFamily="34" charset="0"/>
              </a:rPr>
              <a:t>src</a:t>
            </a:r>
            <a:r>
              <a:rPr lang="es-ES" sz="2000" b="1" i="0" dirty="0">
                <a:effectLst/>
                <a:latin typeface="Arial" panose="020B0604020202020204" pitchFamily="34" charset="0"/>
                <a:cs typeface="Arial" panose="020B0604020202020204" pitchFamily="34" charset="0"/>
              </a:rPr>
              <a:t>/app/</a:t>
            </a:r>
            <a:r>
              <a:rPr lang="es-ES" sz="2000" b="1" i="0" dirty="0" err="1">
                <a:effectLst/>
                <a:latin typeface="Arial" panose="020B0604020202020204" pitchFamily="34" charset="0"/>
                <a:cs typeface="Arial" panose="020B0604020202020204" pitchFamily="34" charset="0"/>
              </a:rPr>
              <a:t>components</a:t>
            </a:r>
            <a:r>
              <a:rPr lang="es-ES" sz="2000" b="1" i="0" dirty="0">
                <a:effectLst/>
                <a:latin typeface="Arial" panose="020B0604020202020204" pitchFamily="34" charset="0"/>
                <a:cs typeface="Arial" panose="020B0604020202020204" pitchFamily="34" charset="0"/>
              </a:rPr>
              <a:t>/</a:t>
            </a:r>
            <a:r>
              <a:rPr lang="es-ES" sz="2000" b="1" i="0" dirty="0" err="1">
                <a:effectLst/>
                <a:latin typeface="Arial" panose="020B0604020202020204" pitchFamily="34" charset="0"/>
                <a:cs typeface="Arial" panose="020B0604020202020204" pitchFamily="34" charset="0"/>
              </a:rPr>
              <a:t>course-list</a:t>
            </a:r>
            <a:r>
              <a:rPr lang="es-ES" sz="2000" b="1" i="0" dirty="0">
                <a:effectLst/>
                <a:latin typeface="Arial" panose="020B0604020202020204" pitchFamily="34" charset="0"/>
                <a:cs typeface="Arial" panose="020B0604020202020204" pitchFamily="34" charset="0"/>
              </a:rPr>
              <a:t>/)</a:t>
            </a:r>
          </a:p>
          <a:p>
            <a:pPr algn="just"/>
            <a:endParaRPr lang="es-ES" sz="2000" i="0" dirty="0">
              <a:effectLst/>
              <a:latin typeface="Arial" panose="020B0604020202020204" pitchFamily="34" charset="0"/>
              <a:ea typeface="Zilla Slab" pitchFamily="2"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Construcción del </a:t>
            </a:r>
            <a:r>
              <a:rPr lang="es-ES" sz="1600" b="1" dirty="0" err="1">
                <a:solidFill>
                  <a:schemeClr val="tx1"/>
                </a:solidFill>
                <a:latin typeface="Arial" panose="020B0604020202020204" pitchFamily="34" charset="0"/>
                <a:cs typeface="Arial" panose="020B0604020202020204" pitchFamily="34" charset="0"/>
              </a:rPr>
              <a:t>frontend</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F1600BC6-2D87-4693-973D-CC1F251505FD}"/>
              </a:ext>
            </a:extLst>
          </p:cNvPr>
          <p:cNvPicPr>
            <a:picLocks noChangeAspect="1"/>
          </p:cNvPicPr>
          <p:nvPr/>
        </p:nvPicPr>
        <p:blipFill>
          <a:blip r:embed="rId3"/>
          <a:stretch>
            <a:fillRect/>
          </a:stretch>
        </p:blipFill>
        <p:spPr>
          <a:xfrm>
            <a:off x="542925" y="1319418"/>
            <a:ext cx="5200548" cy="5060139"/>
          </a:xfrm>
          <a:prstGeom prst="rect">
            <a:avLst/>
          </a:prstGeom>
        </p:spPr>
      </p:pic>
      <p:pic>
        <p:nvPicPr>
          <p:cNvPr id="10" name="Imagen 9">
            <a:extLst>
              <a:ext uri="{FF2B5EF4-FFF2-40B4-BE49-F238E27FC236}">
                <a16:creationId xmlns:a16="http://schemas.microsoft.com/office/drawing/2014/main" id="{D3FEE14C-B89D-4FD9-A0DE-71FFF3FD90B7}"/>
              </a:ext>
            </a:extLst>
          </p:cNvPr>
          <p:cNvPicPr>
            <a:picLocks noChangeAspect="1"/>
          </p:cNvPicPr>
          <p:nvPr/>
        </p:nvPicPr>
        <p:blipFill>
          <a:blip r:embed="rId4"/>
          <a:stretch>
            <a:fillRect/>
          </a:stretch>
        </p:blipFill>
        <p:spPr>
          <a:xfrm>
            <a:off x="5867298" y="1319418"/>
            <a:ext cx="5962585" cy="5060140"/>
          </a:xfrm>
          <a:prstGeom prst="rect">
            <a:avLst/>
          </a:prstGeom>
        </p:spPr>
      </p:pic>
    </p:spTree>
    <p:extLst>
      <p:ext uri="{BB962C8B-B14F-4D97-AF65-F5344CB8AC3E}">
        <p14:creationId xmlns:p14="http://schemas.microsoft.com/office/powerpoint/2010/main" val="710287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3477875"/>
          </a:xfrm>
          <a:prstGeom prst="rect">
            <a:avLst/>
          </a:prstGeom>
          <a:noFill/>
        </p:spPr>
        <p:txBody>
          <a:bodyPr wrap="square">
            <a:spAutoFit/>
          </a:bodyPr>
          <a:lstStyle/>
          <a:p>
            <a:pPr algn="just"/>
            <a:r>
              <a:rPr lang="es-ES" sz="2000" b="1" dirty="0">
                <a:latin typeface="Arial" panose="020B0604020202020204" pitchFamily="34" charset="0"/>
                <a:cs typeface="Arial" panose="020B0604020202020204" pitchFamily="34" charset="0"/>
              </a:rPr>
              <a:t>Paso 3: Integración e Inyección en el Componente Principal</a:t>
            </a:r>
          </a:p>
          <a:p>
            <a:pPr algn="just"/>
            <a:r>
              <a:rPr lang="es-ES" sz="2000" dirty="0">
                <a:latin typeface="Arial" panose="020B0604020202020204" pitchFamily="34" charset="0"/>
                <a:cs typeface="Arial" panose="020B0604020202020204" pitchFamily="34" charset="0"/>
              </a:rPr>
              <a:t>Una vez que ambos módulos (Alumnos y Cursos) funcionaban de manera autónoma, se procedió a unificarlos dentro de la raíz de la aplicación para que se presentaran de forma conjunta en una sola interfaz web.</a:t>
            </a:r>
          </a:p>
          <a:p>
            <a:pPr algn="just"/>
            <a:endParaRPr lang="es-ES" sz="2000" dirty="0">
              <a:latin typeface="Arial" panose="020B0604020202020204" pitchFamily="34" charset="0"/>
              <a:cs typeface="Arial" panose="020B0604020202020204" pitchFamily="34" charset="0"/>
            </a:endParaRPr>
          </a:p>
          <a:p>
            <a:pPr algn="just"/>
            <a:r>
              <a:rPr lang="es-ES" sz="2000" b="1" i="0" dirty="0">
                <a:effectLst/>
                <a:latin typeface="Arial" panose="020B0604020202020204" pitchFamily="34" charset="0"/>
                <a:cs typeface="Arial" panose="020B0604020202020204" pitchFamily="34" charset="0"/>
              </a:rPr>
              <a:t>A. Configuración Lógica de la Raíz (</a:t>
            </a:r>
            <a:r>
              <a:rPr lang="es-ES" sz="2000" b="1" i="0" dirty="0" err="1">
                <a:effectLst/>
                <a:latin typeface="Arial" panose="020B0604020202020204" pitchFamily="34" charset="0"/>
                <a:cs typeface="Arial" panose="020B0604020202020204" pitchFamily="34" charset="0"/>
              </a:rPr>
              <a:t>src</a:t>
            </a:r>
            <a:r>
              <a:rPr lang="es-ES" sz="2000" b="1" i="0" dirty="0">
                <a:effectLst/>
                <a:latin typeface="Arial" panose="020B0604020202020204" pitchFamily="34" charset="0"/>
                <a:cs typeface="Arial" panose="020B0604020202020204" pitchFamily="34" charset="0"/>
              </a:rPr>
              <a:t>/app/</a:t>
            </a:r>
            <a:r>
              <a:rPr lang="es-ES" sz="2000" b="1" i="0" dirty="0" err="1">
                <a:effectLst/>
                <a:latin typeface="Arial" panose="020B0604020202020204" pitchFamily="34" charset="0"/>
                <a:cs typeface="Arial" panose="020B0604020202020204" pitchFamily="34" charset="0"/>
              </a:rPr>
              <a:t>app.ts</a:t>
            </a:r>
            <a:r>
              <a:rPr lang="es-ES" sz="2000" b="1" i="0" dirty="0">
                <a:effectLst/>
                <a:latin typeface="Arial" panose="020B0604020202020204" pitchFamily="34" charset="0"/>
                <a:cs typeface="Arial" panose="020B0604020202020204" pitchFamily="34" charset="0"/>
              </a:rPr>
              <a:t>)</a:t>
            </a:r>
          </a:p>
          <a:p>
            <a:pPr algn="just"/>
            <a:r>
              <a:rPr lang="es-ES" sz="2000" b="0" i="0" dirty="0">
                <a:effectLst/>
                <a:latin typeface="Arial" panose="020B0604020202020204" pitchFamily="34" charset="0"/>
                <a:cs typeface="Arial" panose="020B0604020202020204" pitchFamily="34" charset="0"/>
              </a:rPr>
              <a:t>Al trabajar bajo el esquema moderno </a:t>
            </a:r>
            <a:r>
              <a:rPr lang="es-ES" sz="2000" b="0" i="0" dirty="0" err="1">
                <a:effectLst/>
                <a:latin typeface="Arial" panose="020B0604020202020204" pitchFamily="34" charset="0"/>
                <a:cs typeface="Arial" panose="020B0604020202020204" pitchFamily="34" charset="0"/>
              </a:rPr>
              <a:t>standalone</a:t>
            </a:r>
            <a:r>
              <a:rPr lang="es-ES" sz="2000" b="0" i="0" dirty="0">
                <a:effectLst/>
                <a:latin typeface="Arial" panose="020B0604020202020204" pitchFamily="34" charset="0"/>
                <a:cs typeface="Arial" panose="020B0604020202020204" pitchFamily="34" charset="0"/>
              </a:rPr>
              <a:t> de Angular 19, no se cuenta con un archivo tradicional de módulos (</a:t>
            </a:r>
            <a:r>
              <a:rPr lang="es-ES" sz="2000" b="0" i="0" dirty="0" err="1">
                <a:effectLst/>
                <a:latin typeface="Arial" panose="020B0604020202020204" pitchFamily="34" charset="0"/>
                <a:cs typeface="Arial" panose="020B0604020202020204" pitchFamily="34" charset="0"/>
              </a:rPr>
              <a:t>NgModule</a:t>
            </a:r>
            <a:r>
              <a:rPr lang="es-ES" sz="2000" b="0" i="0" dirty="0">
                <a:effectLst/>
                <a:latin typeface="Arial" panose="020B0604020202020204" pitchFamily="34" charset="0"/>
                <a:cs typeface="Arial" panose="020B0604020202020204" pitchFamily="34" charset="0"/>
              </a:rPr>
              <a:t>). Por lo tanto, la importación e inyección de los componentes se realizó directamente en los metadatos del decorador @Component de la clase principal App:</a:t>
            </a:r>
          </a:p>
          <a:p>
            <a:pPr algn="just"/>
            <a:endParaRPr lang="es-ES" sz="2000" dirty="0">
              <a:latin typeface="Arial" panose="020B0604020202020204" pitchFamily="34" charset="0"/>
              <a:cs typeface="Arial" panose="020B0604020202020204" pitchFamily="34" charset="0"/>
            </a:endParaRPr>
          </a:p>
          <a:p>
            <a:pPr algn="just"/>
            <a:endParaRPr lang="es-ES" sz="2000" i="0" dirty="0">
              <a:effectLst/>
              <a:latin typeface="Arial" panose="020B0604020202020204" pitchFamily="34" charset="0"/>
              <a:ea typeface="Zilla Slab" pitchFamily="2"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Construcción del </a:t>
            </a:r>
            <a:r>
              <a:rPr lang="es-ES" sz="1600" b="1" dirty="0" err="1">
                <a:solidFill>
                  <a:schemeClr val="tx1"/>
                </a:solidFill>
                <a:latin typeface="Arial" panose="020B0604020202020204" pitchFamily="34" charset="0"/>
                <a:cs typeface="Arial" panose="020B0604020202020204" pitchFamily="34" charset="0"/>
              </a:rPr>
              <a:t>frontend</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727E8D14-4358-4176-B132-A31318A2D505}"/>
              </a:ext>
            </a:extLst>
          </p:cNvPr>
          <p:cNvPicPr>
            <a:picLocks noChangeAspect="1"/>
          </p:cNvPicPr>
          <p:nvPr/>
        </p:nvPicPr>
        <p:blipFill>
          <a:blip r:embed="rId3"/>
          <a:stretch>
            <a:fillRect/>
          </a:stretch>
        </p:blipFill>
        <p:spPr>
          <a:xfrm>
            <a:off x="2305050" y="3648369"/>
            <a:ext cx="7248525" cy="3063448"/>
          </a:xfrm>
          <a:prstGeom prst="rect">
            <a:avLst/>
          </a:prstGeom>
        </p:spPr>
      </p:pic>
    </p:spTree>
    <p:extLst>
      <p:ext uri="{BB962C8B-B14F-4D97-AF65-F5344CB8AC3E}">
        <p14:creationId xmlns:p14="http://schemas.microsoft.com/office/powerpoint/2010/main" val="2743951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938992"/>
          </a:xfrm>
          <a:prstGeom prst="rect">
            <a:avLst/>
          </a:prstGeom>
          <a:noFill/>
        </p:spPr>
        <p:txBody>
          <a:bodyPr wrap="square">
            <a:spAutoFit/>
          </a:bodyPr>
          <a:lstStyle/>
          <a:p>
            <a:pPr algn="just"/>
            <a:r>
              <a:rPr lang="es-ES" sz="2000" b="1" i="0" dirty="0">
                <a:effectLst/>
                <a:latin typeface="Arial" panose="020B0604020202020204" pitchFamily="34" charset="0"/>
                <a:cs typeface="Arial" panose="020B0604020202020204" pitchFamily="34" charset="0"/>
              </a:rPr>
              <a:t>B. Maquetado de la Vista Principal (</a:t>
            </a:r>
            <a:r>
              <a:rPr lang="es-ES" sz="2000" b="1" i="0" dirty="0" err="1">
                <a:effectLst/>
                <a:latin typeface="Arial" panose="020B0604020202020204" pitchFamily="34" charset="0"/>
                <a:cs typeface="Arial" panose="020B0604020202020204" pitchFamily="34" charset="0"/>
              </a:rPr>
              <a:t>src</a:t>
            </a:r>
            <a:r>
              <a:rPr lang="es-ES" sz="2000" b="1" i="0" dirty="0">
                <a:effectLst/>
                <a:latin typeface="Arial" panose="020B0604020202020204" pitchFamily="34" charset="0"/>
                <a:cs typeface="Arial" panose="020B0604020202020204" pitchFamily="34" charset="0"/>
              </a:rPr>
              <a:t>/app/app.html)</a:t>
            </a:r>
          </a:p>
          <a:p>
            <a:pPr algn="just"/>
            <a:r>
              <a:rPr lang="es-ES" sz="2000" b="0" i="0" dirty="0">
                <a:effectLst/>
                <a:latin typeface="Arial" panose="020B0604020202020204" pitchFamily="34" charset="0"/>
                <a:cs typeface="Arial" panose="020B0604020202020204" pitchFamily="34" charset="0"/>
              </a:rPr>
              <a:t>Se limpió el código por defecto generado por la CLI de Angular y se incrustaron las etiquetas personalizadas de los selectores de ambos componentes, separados por una línea divisoria estructural. Esto permitió renderizar los dos bloques de microservicios simultáneamente en la misma pantalla:</a:t>
            </a:r>
          </a:p>
          <a:p>
            <a:pPr algn="just"/>
            <a:endParaRPr lang="es-ES" sz="2000" i="0" dirty="0">
              <a:effectLst/>
              <a:latin typeface="Arial" panose="020B0604020202020204" pitchFamily="34" charset="0"/>
              <a:ea typeface="Zilla Slab" pitchFamily="2"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Construcción del </a:t>
            </a:r>
            <a:r>
              <a:rPr lang="es-ES" sz="1600" b="1" dirty="0" err="1">
                <a:solidFill>
                  <a:schemeClr val="tx1"/>
                </a:solidFill>
                <a:latin typeface="Arial" panose="020B0604020202020204" pitchFamily="34" charset="0"/>
                <a:cs typeface="Arial" panose="020B0604020202020204" pitchFamily="34" charset="0"/>
              </a:rPr>
              <a:t>frontend</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1A78B45F-8421-4A2D-8C05-34862958A1BB}"/>
              </a:ext>
            </a:extLst>
          </p:cNvPr>
          <p:cNvPicPr>
            <a:picLocks noChangeAspect="1"/>
          </p:cNvPicPr>
          <p:nvPr/>
        </p:nvPicPr>
        <p:blipFill>
          <a:blip r:embed="rId3"/>
          <a:stretch>
            <a:fillRect/>
          </a:stretch>
        </p:blipFill>
        <p:spPr>
          <a:xfrm>
            <a:off x="1780090" y="2509709"/>
            <a:ext cx="7773485" cy="1838582"/>
          </a:xfrm>
          <a:prstGeom prst="rect">
            <a:avLst/>
          </a:prstGeom>
        </p:spPr>
      </p:pic>
    </p:spTree>
    <p:extLst>
      <p:ext uri="{BB962C8B-B14F-4D97-AF65-F5344CB8AC3E}">
        <p14:creationId xmlns:p14="http://schemas.microsoft.com/office/powerpoint/2010/main" val="399286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5016758"/>
          </a:xfrm>
          <a:prstGeom prst="rect">
            <a:avLst/>
          </a:prstGeom>
          <a:noFill/>
        </p:spPr>
        <p:txBody>
          <a:bodyPr wrap="square">
            <a:spAutoFit/>
          </a:bodyPr>
          <a:lstStyle/>
          <a:p>
            <a:pPr marL="457200" indent="-457200" algn="just">
              <a:buAutoNum type="alphaUcPeriod"/>
            </a:pPr>
            <a:r>
              <a:rPr lang="es-ES" sz="2000" b="1" i="0" dirty="0">
                <a:effectLst/>
                <a:latin typeface="Arial" panose="020B0604020202020204" pitchFamily="34" charset="0"/>
                <a:cs typeface="Arial" panose="020B0604020202020204" pitchFamily="34" charset="0"/>
              </a:rPr>
              <a:t>Diagnóstico del Problema de Origen Cruzado (CORS)</a:t>
            </a:r>
          </a:p>
          <a:p>
            <a:pPr algn="just"/>
            <a:endParaRPr lang="es-ES" sz="2000" b="0" i="0" dirty="0">
              <a:effectLst/>
              <a:latin typeface="Arial" panose="020B0604020202020204" pitchFamily="34" charset="0"/>
              <a:cs typeface="Arial" panose="020B0604020202020204" pitchFamily="34" charset="0"/>
            </a:endParaRPr>
          </a:p>
          <a:p>
            <a:pPr algn="just"/>
            <a:r>
              <a:rPr lang="es-ES" sz="2000" b="0" i="0" dirty="0">
                <a:effectLst/>
                <a:latin typeface="Arial" panose="020B0604020202020204" pitchFamily="34" charset="0"/>
                <a:cs typeface="Arial" panose="020B0604020202020204" pitchFamily="34" charset="0"/>
              </a:rPr>
              <a:t>Al acoplar la interfaz gráfica al sistema distribuido, se presentó un error de seguridad en la consola del navegador que bloqueó el flujo de datos. Este problema se conoce como CORS (Cross-</a:t>
            </a:r>
            <a:r>
              <a:rPr lang="es-ES" sz="2000" b="0" i="0" dirty="0" err="1">
                <a:effectLst/>
                <a:latin typeface="Arial" panose="020B0604020202020204" pitchFamily="34" charset="0"/>
                <a:cs typeface="Arial" panose="020B0604020202020204" pitchFamily="34" charset="0"/>
              </a:rPr>
              <a:t>Origin</a:t>
            </a:r>
            <a:r>
              <a:rPr lang="es-ES" sz="2000" b="0" i="0" dirty="0">
                <a:effectLst/>
                <a:latin typeface="Arial" panose="020B0604020202020204" pitchFamily="34" charset="0"/>
                <a:cs typeface="Arial" panose="020B0604020202020204" pitchFamily="34" charset="0"/>
              </a:rPr>
              <a:t> </a:t>
            </a:r>
            <a:r>
              <a:rPr lang="es-ES" sz="2000" b="0" i="0" dirty="0" err="1">
                <a:effectLst/>
                <a:latin typeface="Arial" panose="020B0604020202020204" pitchFamily="34" charset="0"/>
                <a:cs typeface="Arial" panose="020B0604020202020204" pitchFamily="34" charset="0"/>
              </a:rPr>
              <a:t>Resource</a:t>
            </a:r>
            <a:r>
              <a:rPr lang="es-ES" sz="2000" b="0" i="0" dirty="0">
                <a:effectLst/>
                <a:latin typeface="Arial" panose="020B0604020202020204" pitchFamily="34" charset="0"/>
                <a:cs typeface="Arial" panose="020B0604020202020204" pitchFamily="34" charset="0"/>
              </a:rPr>
              <a:t> </a:t>
            </a:r>
            <a:r>
              <a:rPr lang="es-ES" sz="2000" b="0" i="0" dirty="0" err="1">
                <a:effectLst/>
                <a:latin typeface="Arial" panose="020B0604020202020204" pitchFamily="34" charset="0"/>
                <a:cs typeface="Arial" panose="020B0604020202020204" pitchFamily="34" charset="0"/>
              </a:rPr>
              <a:t>Sharing</a:t>
            </a:r>
            <a:r>
              <a:rPr lang="es-ES" sz="2000" b="0" i="0" dirty="0">
                <a:effectLst/>
                <a:latin typeface="Arial" panose="020B0604020202020204" pitchFamily="34" charset="0"/>
                <a:cs typeface="Arial" panose="020B0604020202020204" pitchFamily="34" charset="0"/>
              </a:rPr>
              <a:t> / Intercambio de Recursos de Origen Cruzado).</a:t>
            </a:r>
          </a:p>
          <a:p>
            <a:pPr algn="just"/>
            <a:r>
              <a:rPr lang="es-ES" sz="2000" b="0" i="0" dirty="0">
                <a:effectLst/>
                <a:latin typeface="Arial" panose="020B0604020202020204" pitchFamily="34" charset="0"/>
                <a:cs typeface="Arial" panose="020B0604020202020204" pitchFamily="34" charset="0"/>
              </a:rPr>
              <a:t>Por seguridad, los navegadores modernos aplican la política de mismo origen (</a:t>
            </a:r>
            <a:r>
              <a:rPr lang="es-ES" sz="2000" b="0" i="0" dirty="0" err="1">
                <a:effectLst/>
                <a:latin typeface="Arial" panose="020B0604020202020204" pitchFamily="34" charset="0"/>
                <a:cs typeface="Arial" panose="020B0604020202020204" pitchFamily="34" charset="0"/>
              </a:rPr>
              <a:t>Same-Origin</a:t>
            </a:r>
            <a:r>
              <a:rPr lang="es-ES" sz="2000" b="0" i="0" dirty="0">
                <a:effectLst/>
                <a:latin typeface="Arial" panose="020B0604020202020204" pitchFamily="34" charset="0"/>
                <a:cs typeface="Arial" panose="020B0604020202020204" pitchFamily="34" charset="0"/>
              </a:rPr>
              <a:t> </a:t>
            </a:r>
            <a:r>
              <a:rPr lang="es-ES" sz="2000" b="0" i="0" dirty="0" err="1">
                <a:effectLst/>
                <a:latin typeface="Arial" panose="020B0604020202020204" pitchFamily="34" charset="0"/>
                <a:cs typeface="Arial" panose="020B0604020202020204" pitchFamily="34" charset="0"/>
              </a:rPr>
              <a:t>Policy</a:t>
            </a:r>
            <a:r>
              <a:rPr lang="es-ES" sz="2000" b="0" i="0" dirty="0">
                <a:effectLst/>
                <a:latin typeface="Arial" panose="020B0604020202020204" pitchFamily="34" charset="0"/>
                <a:cs typeface="Arial" panose="020B0604020202020204" pitchFamily="34" charset="0"/>
              </a:rPr>
              <a:t>), la cual prohíbe que una aplicación web alojada en un dominio o puerto específico realice peticiones HTTP hacia un servidor que se encuentra en un puerto distinto. En nuestro escenario:</a:t>
            </a:r>
          </a:p>
          <a:p>
            <a:pPr algn="just"/>
            <a:br>
              <a:rPr lang="es-ES" sz="2000" b="0" i="0" dirty="0">
                <a:effectLst/>
                <a:latin typeface="Arial" panose="020B0604020202020204" pitchFamily="34" charset="0"/>
                <a:cs typeface="Arial" panose="020B0604020202020204" pitchFamily="34" charset="0"/>
              </a:rPr>
            </a:br>
            <a:endParaRPr lang="es-ES" sz="2000" b="0" i="0" dirty="0">
              <a:effectLst/>
              <a:latin typeface="Arial" panose="020B0604020202020204" pitchFamily="34" charset="0"/>
              <a:cs typeface="Arial" panose="020B0604020202020204" pitchFamily="34" charset="0"/>
            </a:endParaRPr>
          </a:p>
          <a:p>
            <a:pPr algn="just"/>
            <a:r>
              <a:rPr lang="es-ES" sz="2000" b="1" i="0" dirty="0">
                <a:effectLst/>
                <a:latin typeface="Arial" panose="020B0604020202020204" pitchFamily="34" charset="0"/>
                <a:cs typeface="Arial" panose="020B0604020202020204" pitchFamily="34" charset="0"/>
              </a:rPr>
              <a:t>El </a:t>
            </a:r>
            <a:r>
              <a:rPr lang="es-ES" sz="2000" b="1" i="0" dirty="0" err="1">
                <a:effectLst/>
                <a:latin typeface="Arial" panose="020B0604020202020204" pitchFamily="34" charset="0"/>
                <a:cs typeface="Arial" panose="020B0604020202020204" pitchFamily="34" charset="0"/>
              </a:rPr>
              <a:t>Frontend</a:t>
            </a:r>
            <a:r>
              <a:rPr lang="es-ES" sz="2000" b="1" i="0" dirty="0">
                <a:effectLst/>
                <a:latin typeface="Arial" panose="020B0604020202020204" pitchFamily="34" charset="0"/>
                <a:cs typeface="Arial" panose="020B0604020202020204" pitchFamily="34" charset="0"/>
              </a:rPr>
              <a:t> de Angular estaba montado en</a:t>
            </a:r>
            <a:r>
              <a:rPr lang="es-ES" sz="2000" b="0" i="0" dirty="0">
                <a:effectLst/>
                <a:latin typeface="Arial" panose="020B0604020202020204" pitchFamily="34" charset="0"/>
                <a:cs typeface="Arial" panose="020B0604020202020204" pitchFamily="34" charset="0"/>
              </a:rPr>
              <a:t>: http://localhost:4200</a:t>
            </a:r>
          </a:p>
          <a:p>
            <a:pPr algn="just"/>
            <a:r>
              <a:rPr lang="es-ES" sz="2000" b="1" i="0" dirty="0">
                <a:effectLst/>
                <a:latin typeface="Arial" panose="020B0604020202020204" pitchFamily="34" charset="0"/>
                <a:cs typeface="Arial" panose="020B0604020202020204" pitchFamily="34" charset="0"/>
              </a:rPr>
              <a:t>El </a:t>
            </a:r>
            <a:r>
              <a:rPr lang="es-ES" sz="2000" b="1" i="0" dirty="0" err="1">
                <a:effectLst/>
                <a:latin typeface="Arial" panose="020B0604020202020204" pitchFamily="34" charset="0"/>
                <a:cs typeface="Arial" panose="020B0604020202020204" pitchFamily="34" charset="0"/>
              </a:rPr>
              <a:t>Backend</a:t>
            </a:r>
            <a:r>
              <a:rPr lang="es-ES" sz="2000" b="1" i="0" dirty="0">
                <a:effectLst/>
                <a:latin typeface="Arial" panose="020B0604020202020204" pitchFamily="34" charset="0"/>
                <a:cs typeface="Arial" panose="020B0604020202020204" pitchFamily="34" charset="0"/>
              </a:rPr>
              <a:t> (API Gateway central) estaba escuchando en</a:t>
            </a:r>
            <a:r>
              <a:rPr lang="es-ES" sz="2000" b="0" i="0" dirty="0">
                <a:effectLst/>
                <a:latin typeface="Arial" panose="020B0604020202020204" pitchFamily="34" charset="0"/>
                <a:cs typeface="Arial" panose="020B0604020202020204" pitchFamily="34" charset="0"/>
              </a:rPr>
              <a:t>: http://localhost:8080</a:t>
            </a:r>
          </a:p>
          <a:p>
            <a:pPr algn="just"/>
            <a:r>
              <a:rPr lang="es-ES" sz="2000" b="0" i="0" dirty="0">
                <a:effectLst/>
                <a:latin typeface="Arial" panose="020B0604020202020204" pitchFamily="34" charset="0"/>
                <a:cs typeface="Arial" panose="020B0604020202020204" pitchFamily="34" charset="0"/>
              </a:rPr>
              <a:t>Debido a que los puertos 4200 y 8080 son técnicamente orígenes diferentes, el navegador interceptó las respuestas del API Gateway y las bloqueó al no detectar las cabeceras de autorización correspondientes.</a:t>
            </a:r>
          </a:p>
          <a:p>
            <a:pPr algn="just"/>
            <a:endParaRPr lang="es-ES" sz="2000" i="0" dirty="0">
              <a:effectLst/>
              <a:latin typeface="Arial" panose="020B0604020202020204" pitchFamily="34" charset="0"/>
              <a:ea typeface="Zilla Slab" pitchFamily="2"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099" y="419689"/>
            <a:ext cx="820102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Configuraciones en el </a:t>
            </a:r>
            <a:r>
              <a:rPr lang="es-ES" sz="1600" b="1" dirty="0" err="1">
                <a:solidFill>
                  <a:schemeClr val="tx1"/>
                </a:solidFill>
                <a:latin typeface="Arial" panose="020B0604020202020204" pitchFamily="34" charset="0"/>
                <a:cs typeface="Arial" panose="020B0604020202020204" pitchFamily="34" charset="0"/>
              </a:rPr>
              <a:t>Backend</a:t>
            </a:r>
            <a:r>
              <a:rPr lang="es-ES" sz="1600" b="1" dirty="0">
                <a:solidFill>
                  <a:schemeClr val="tx1"/>
                </a:solidFill>
                <a:latin typeface="Arial" panose="020B0604020202020204" pitchFamily="34" charset="0"/>
                <a:cs typeface="Arial" panose="020B0604020202020204" pitchFamily="34" charset="0"/>
              </a:rPr>
              <a:t> (IntelliJ IDEA): Resolución del Bloqueo de CORS</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spTree>
    <p:extLst>
      <p:ext uri="{BB962C8B-B14F-4D97-AF65-F5344CB8AC3E}">
        <p14:creationId xmlns:p14="http://schemas.microsoft.com/office/powerpoint/2010/main" val="3183658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3785652"/>
          </a:xfrm>
          <a:prstGeom prst="rect">
            <a:avLst/>
          </a:prstGeom>
          <a:noFill/>
        </p:spPr>
        <p:txBody>
          <a:bodyPr wrap="square">
            <a:spAutoFit/>
          </a:bodyPr>
          <a:lstStyle/>
          <a:p>
            <a:pPr algn="just"/>
            <a:r>
              <a:rPr lang="es-ES" sz="2000" b="1" i="0" dirty="0">
                <a:effectLst/>
                <a:latin typeface="Arial" panose="020B0604020202020204" pitchFamily="34" charset="0"/>
                <a:cs typeface="Arial" panose="020B0604020202020204" pitchFamily="34" charset="0"/>
              </a:rPr>
              <a:t>B. Implementación de la Solución paso a paso en Spring </a:t>
            </a:r>
            <a:r>
              <a:rPr lang="es-ES" sz="2000" b="1" i="0" dirty="0" err="1">
                <a:effectLst/>
                <a:latin typeface="Arial" panose="020B0604020202020204" pitchFamily="34" charset="0"/>
                <a:cs typeface="Arial" panose="020B0604020202020204" pitchFamily="34" charset="0"/>
              </a:rPr>
              <a:t>Boot</a:t>
            </a:r>
            <a:endParaRPr lang="es-ES" sz="2000" b="1" i="0" dirty="0">
              <a:effectLst/>
              <a:latin typeface="Arial" panose="020B0604020202020204" pitchFamily="34" charset="0"/>
              <a:cs typeface="Arial" panose="020B0604020202020204" pitchFamily="34" charset="0"/>
            </a:endParaRPr>
          </a:p>
          <a:p>
            <a:pPr algn="just"/>
            <a:r>
              <a:rPr lang="es-ES" sz="2000" b="0" i="0" dirty="0">
                <a:effectLst/>
                <a:latin typeface="Arial" panose="020B0604020202020204" pitchFamily="34" charset="0"/>
                <a:cs typeface="Arial" panose="020B0604020202020204" pitchFamily="34" charset="0"/>
              </a:rPr>
              <a:t>Para abrir el puente de comunicación de manera segura y permitir que Angular pudiera consumir, registrar, modificar y eliminar datos, implementamos la solución directamente sobre los controladores de la arquitectura en IntelliJ.</a:t>
            </a:r>
          </a:p>
          <a:p>
            <a:pPr algn="just"/>
            <a:br>
              <a:rPr lang="es-ES" sz="2000" b="0" i="0" dirty="0">
                <a:effectLst/>
                <a:latin typeface="Arial" panose="020B0604020202020204" pitchFamily="34" charset="0"/>
                <a:cs typeface="Arial" panose="020B0604020202020204" pitchFamily="34" charset="0"/>
              </a:rPr>
            </a:br>
            <a:endParaRPr lang="es-ES" sz="2000" b="0" i="0" dirty="0">
              <a:effectLst/>
              <a:latin typeface="Arial" panose="020B0604020202020204" pitchFamily="34" charset="0"/>
              <a:cs typeface="Arial" panose="020B0604020202020204" pitchFamily="34" charset="0"/>
            </a:endParaRPr>
          </a:p>
          <a:p>
            <a:pPr algn="just"/>
            <a:r>
              <a:rPr lang="es-ES" sz="2000" b="1" i="0" dirty="0">
                <a:effectLst/>
                <a:latin typeface="Arial" panose="020B0604020202020204" pitchFamily="34" charset="0"/>
                <a:cs typeface="Arial" panose="020B0604020202020204" pitchFamily="34" charset="0"/>
              </a:rPr>
              <a:t>1. Modificación en el Microservicio de Estudiantes</a:t>
            </a:r>
          </a:p>
          <a:p>
            <a:pPr algn="just"/>
            <a:r>
              <a:rPr lang="es-ES" sz="2000" b="0" i="0" dirty="0">
                <a:effectLst/>
                <a:latin typeface="Arial" panose="020B0604020202020204" pitchFamily="34" charset="0"/>
                <a:cs typeface="Arial" panose="020B0604020202020204" pitchFamily="34" charset="0"/>
              </a:rPr>
              <a:t>Abrimos el archivo principal de control de la capa web, StudentController.java, y le inyectamos la anotación de seguridad @CrossOrigin justo arriba de la declaración de la clase. Con esto, le indicamos explícitamente a Spring Security y al servidor embebido de Tomcat que confiara en el origen del </a:t>
            </a:r>
            <a:r>
              <a:rPr lang="es-ES" sz="2000" b="0" i="0" dirty="0" err="1">
                <a:effectLst/>
                <a:latin typeface="Arial" panose="020B0604020202020204" pitchFamily="34" charset="0"/>
                <a:cs typeface="Arial" panose="020B0604020202020204" pitchFamily="34" charset="0"/>
              </a:rPr>
              <a:t>frontend</a:t>
            </a:r>
            <a:r>
              <a:rPr lang="es-ES" sz="2000" b="0" i="0" dirty="0">
                <a:effectLst/>
                <a:latin typeface="Arial" panose="020B0604020202020204" pitchFamily="34" charset="0"/>
                <a:cs typeface="Arial" panose="020B0604020202020204" pitchFamily="34" charset="0"/>
              </a:rPr>
              <a:t>.</a:t>
            </a:r>
          </a:p>
          <a:p>
            <a:pPr algn="just"/>
            <a:endParaRPr lang="es-ES" sz="2000" i="0" dirty="0">
              <a:effectLst/>
              <a:latin typeface="Arial" panose="020B0604020202020204" pitchFamily="34" charset="0"/>
              <a:ea typeface="Zilla Slab" pitchFamily="2"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099" y="419689"/>
            <a:ext cx="820102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Configuraciones en el </a:t>
            </a:r>
            <a:r>
              <a:rPr lang="es-ES" sz="1600" b="1" dirty="0" err="1">
                <a:solidFill>
                  <a:schemeClr val="tx1"/>
                </a:solidFill>
                <a:latin typeface="Arial" panose="020B0604020202020204" pitchFamily="34" charset="0"/>
                <a:cs typeface="Arial" panose="020B0604020202020204" pitchFamily="34" charset="0"/>
              </a:rPr>
              <a:t>Backend</a:t>
            </a:r>
            <a:r>
              <a:rPr lang="es-ES" sz="1600" b="1" dirty="0">
                <a:solidFill>
                  <a:schemeClr val="tx1"/>
                </a:solidFill>
                <a:latin typeface="Arial" panose="020B0604020202020204" pitchFamily="34" charset="0"/>
                <a:cs typeface="Arial" panose="020B0604020202020204" pitchFamily="34" charset="0"/>
              </a:rPr>
              <a:t> (IntelliJ IDEA): Resolución del Bloqueo de CORS</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spTree>
    <p:extLst>
      <p:ext uri="{BB962C8B-B14F-4D97-AF65-F5344CB8AC3E}">
        <p14:creationId xmlns:p14="http://schemas.microsoft.com/office/powerpoint/2010/main" val="3603144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400110"/>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El código se configuró de la siguiente manera:</a:t>
            </a:r>
            <a:endParaRPr lang="es-ES" sz="2000" i="0" dirty="0">
              <a:effectLst/>
              <a:latin typeface="Arial" panose="020B0604020202020204" pitchFamily="34" charset="0"/>
              <a:ea typeface="Zilla Slab" pitchFamily="2"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099" y="419689"/>
            <a:ext cx="820102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Configuraciones en el </a:t>
            </a:r>
            <a:r>
              <a:rPr lang="es-ES" sz="1600" b="1" dirty="0" err="1">
                <a:solidFill>
                  <a:schemeClr val="tx1"/>
                </a:solidFill>
                <a:latin typeface="Arial" panose="020B0604020202020204" pitchFamily="34" charset="0"/>
                <a:cs typeface="Arial" panose="020B0604020202020204" pitchFamily="34" charset="0"/>
              </a:rPr>
              <a:t>Backend</a:t>
            </a:r>
            <a:r>
              <a:rPr lang="es-ES" sz="1600" b="1" dirty="0">
                <a:solidFill>
                  <a:schemeClr val="tx1"/>
                </a:solidFill>
                <a:latin typeface="Arial" panose="020B0604020202020204" pitchFamily="34" charset="0"/>
                <a:cs typeface="Arial" panose="020B0604020202020204" pitchFamily="34" charset="0"/>
              </a:rPr>
              <a:t> (IntelliJ IDEA): Resolución del Bloqueo de CORS</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21411C97-8AFE-4F5B-AADB-E2E99300FC22}"/>
              </a:ext>
            </a:extLst>
          </p:cNvPr>
          <p:cNvPicPr>
            <a:picLocks noChangeAspect="1"/>
          </p:cNvPicPr>
          <p:nvPr/>
        </p:nvPicPr>
        <p:blipFill>
          <a:blip r:embed="rId3"/>
          <a:stretch>
            <a:fillRect/>
          </a:stretch>
        </p:blipFill>
        <p:spPr>
          <a:xfrm>
            <a:off x="1671020" y="1510653"/>
            <a:ext cx="8840434" cy="4744112"/>
          </a:xfrm>
          <a:prstGeom prst="rect">
            <a:avLst/>
          </a:prstGeom>
        </p:spPr>
      </p:pic>
    </p:spTree>
    <p:extLst>
      <p:ext uri="{BB962C8B-B14F-4D97-AF65-F5344CB8AC3E}">
        <p14:creationId xmlns:p14="http://schemas.microsoft.com/office/powerpoint/2010/main" val="985745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323439"/>
          </a:xfrm>
          <a:prstGeom prst="rect">
            <a:avLst/>
          </a:prstGeom>
          <a:noFill/>
        </p:spPr>
        <p:txBody>
          <a:bodyPr wrap="square">
            <a:spAutoFit/>
          </a:bodyPr>
          <a:lstStyle/>
          <a:p>
            <a:pPr algn="just"/>
            <a:r>
              <a:rPr lang="es-ES" sz="2000" b="1" dirty="0">
                <a:latin typeface="Arial" panose="020B0604020202020204" pitchFamily="34" charset="0"/>
                <a:cs typeface="Arial" panose="020B0604020202020204" pitchFamily="34" charset="0"/>
              </a:rPr>
              <a:t>2. Modificación en el Microservicio de Cursos </a:t>
            </a:r>
          </a:p>
          <a:p>
            <a:pPr algn="just"/>
            <a:r>
              <a:rPr lang="es-ES" sz="2000" dirty="0">
                <a:latin typeface="Arial" panose="020B0604020202020204" pitchFamily="34" charset="0"/>
                <a:cs typeface="Arial" panose="020B0604020202020204" pitchFamily="34" charset="0"/>
              </a:rPr>
              <a:t>De forma simétrica, repetimos el proceso en el archivo CourseController.java en IntelliJ. Al añadir la misma anotación, aseguramos que las peticiones destinadas a la base de datos de PostgreSQL tampoco fueran rebotadas por el navegador. El controlador quedó estructurado así:</a:t>
            </a:r>
            <a:endParaRPr lang="es-ES" sz="2000" i="0" dirty="0">
              <a:effectLst/>
              <a:latin typeface="Arial" panose="020B0604020202020204" pitchFamily="34" charset="0"/>
              <a:ea typeface="Zilla Slab" pitchFamily="2"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099" y="419689"/>
            <a:ext cx="820102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Configuraciones en el </a:t>
            </a:r>
            <a:r>
              <a:rPr lang="es-ES" sz="1600" b="1" dirty="0" err="1">
                <a:solidFill>
                  <a:schemeClr val="tx1"/>
                </a:solidFill>
                <a:latin typeface="Arial" panose="020B0604020202020204" pitchFamily="34" charset="0"/>
                <a:cs typeface="Arial" panose="020B0604020202020204" pitchFamily="34" charset="0"/>
              </a:rPr>
              <a:t>Backend</a:t>
            </a:r>
            <a:r>
              <a:rPr lang="es-ES" sz="1600" b="1" dirty="0">
                <a:solidFill>
                  <a:schemeClr val="tx1"/>
                </a:solidFill>
                <a:latin typeface="Arial" panose="020B0604020202020204" pitchFamily="34" charset="0"/>
                <a:cs typeface="Arial" panose="020B0604020202020204" pitchFamily="34" charset="0"/>
              </a:rPr>
              <a:t> (IntelliJ IDEA): Resolución del Bloqueo de CORS</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9" name="Imagen 8">
            <a:extLst>
              <a:ext uri="{FF2B5EF4-FFF2-40B4-BE49-F238E27FC236}">
                <a16:creationId xmlns:a16="http://schemas.microsoft.com/office/drawing/2014/main" id="{634E1EBD-0F45-49A6-936F-376A3ECBA9C6}"/>
              </a:ext>
            </a:extLst>
          </p:cNvPr>
          <p:cNvPicPr>
            <a:picLocks noChangeAspect="1"/>
          </p:cNvPicPr>
          <p:nvPr/>
        </p:nvPicPr>
        <p:blipFill>
          <a:blip r:embed="rId3"/>
          <a:stretch>
            <a:fillRect/>
          </a:stretch>
        </p:blipFill>
        <p:spPr>
          <a:xfrm>
            <a:off x="818413" y="2113922"/>
            <a:ext cx="10545647" cy="4496427"/>
          </a:xfrm>
          <a:prstGeom prst="rect">
            <a:avLst/>
          </a:prstGeom>
        </p:spPr>
      </p:pic>
    </p:spTree>
    <p:extLst>
      <p:ext uri="{BB962C8B-B14F-4D97-AF65-F5344CB8AC3E}">
        <p14:creationId xmlns:p14="http://schemas.microsoft.com/office/powerpoint/2010/main" val="300589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2862322"/>
          </a:xfrm>
          <a:prstGeom prst="rect">
            <a:avLst/>
          </a:prstGeom>
          <a:noFill/>
        </p:spPr>
        <p:txBody>
          <a:bodyPr wrap="square">
            <a:spAutoFit/>
          </a:bodyPr>
          <a:lstStyle/>
          <a:p>
            <a:pPr algn="just"/>
            <a:r>
              <a:rPr lang="es-ES" b="0" i="0" dirty="0">
                <a:effectLst/>
                <a:latin typeface="Arial" panose="020B0604020202020204" pitchFamily="34" charset="0"/>
                <a:cs typeface="Arial" panose="020B0604020202020204" pitchFamily="34" charset="0"/>
              </a:rPr>
              <a:t>Tras completar las configuraciones tanto en el </a:t>
            </a:r>
            <a:r>
              <a:rPr lang="es-ES" b="0" i="0" dirty="0" err="1">
                <a:effectLst/>
                <a:latin typeface="Arial" panose="020B0604020202020204" pitchFamily="34" charset="0"/>
                <a:cs typeface="Arial" panose="020B0604020202020204" pitchFamily="34" charset="0"/>
              </a:rPr>
              <a:t>Frontend</a:t>
            </a:r>
            <a:r>
              <a:rPr lang="es-ES" b="0" i="0" dirty="0">
                <a:effectLst/>
                <a:latin typeface="Arial" panose="020B0604020202020204" pitchFamily="34" charset="0"/>
                <a:cs typeface="Arial" panose="020B0604020202020204" pitchFamily="34" charset="0"/>
              </a:rPr>
              <a:t> como en el </a:t>
            </a:r>
            <a:r>
              <a:rPr lang="es-ES" b="0" i="0" dirty="0" err="1">
                <a:effectLst/>
                <a:latin typeface="Arial" panose="020B0604020202020204" pitchFamily="34" charset="0"/>
                <a:cs typeface="Arial" panose="020B0604020202020204" pitchFamily="34" charset="0"/>
              </a:rPr>
              <a:t>Backend</a:t>
            </a:r>
            <a:r>
              <a:rPr lang="es-ES" b="0" i="0" dirty="0">
                <a:effectLst/>
                <a:latin typeface="Arial" panose="020B0604020202020204" pitchFamily="34" charset="0"/>
                <a:cs typeface="Arial" panose="020B0604020202020204" pitchFamily="34" charset="0"/>
              </a:rPr>
              <a:t>, procedimos a verificar el funcionamiento del sistema. Los resultados obtenidos confirman que la comunicación entre las capas de la arquitectura distribuida es totalmente exitosa:</a:t>
            </a:r>
          </a:p>
          <a:p>
            <a:pPr algn="just"/>
            <a:endParaRPr lang="es-ES" b="0" i="0" dirty="0">
              <a:effectLst/>
              <a:latin typeface="Arial" panose="020B0604020202020204" pitchFamily="34" charset="0"/>
              <a:cs typeface="Arial" panose="020B0604020202020204" pitchFamily="34" charset="0"/>
            </a:endParaRPr>
          </a:p>
          <a:p>
            <a:pPr algn="just"/>
            <a:r>
              <a:rPr lang="es-ES" b="0" i="0" dirty="0">
                <a:effectLst/>
                <a:latin typeface="Arial" panose="020B0604020202020204" pitchFamily="34" charset="0"/>
                <a:cs typeface="Arial" panose="020B0604020202020204" pitchFamily="34" charset="0"/>
              </a:rPr>
              <a:t>A. Visualización Exitosa de Datos (Consumo del </a:t>
            </a:r>
            <a:r>
              <a:rPr lang="es-ES" b="0" i="0" dirty="0" err="1">
                <a:effectLst/>
                <a:latin typeface="Arial" panose="020B0604020202020204" pitchFamily="34" charset="0"/>
                <a:cs typeface="Arial" panose="020B0604020202020204" pitchFamily="34" charset="0"/>
              </a:rPr>
              <a:t>Backend</a:t>
            </a:r>
            <a:r>
              <a:rPr lang="es-ES" b="0" i="0" dirty="0">
                <a:effectLst/>
                <a:latin typeface="Arial" panose="020B0604020202020204" pitchFamily="34" charset="0"/>
                <a:cs typeface="Arial" panose="020B0604020202020204" pitchFamily="34" charset="0"/>
              </a:rPr>
              <a:t>)</a:t>
            </a:r>
          </a:p>
          <a:p>
            <a:pPr algn="just"/>
            <a:r>
              <a:rPr lang="es-ES" b="0" i="0" dirty="0">
                <a:effectLst/>
                <a:latin typeface="Arial" panose="020B0604020202020204" pitchFamily="34" charset="0"/>
                <a:cs typeface="Arial" panose="020B0604020202020204" pitchFamily="34" charset="0"/>
              </a:rPr>
              <a:t>El resultado principal es la proyección en tiempo real de la información almacenada en las bases de datos. Al cargar la aplicación en el navegador (localhost:4200), confirmamos lo siguiente:</a:t>
            </a:r>
          </a:p>
          <a:p>
            <a:pPr algn="just"/>
            <a:br>
              <a:rPr lang="es-ES" b="0" i="0" dirty="0">
                <a:effectLst/>
                <a:latin typeface="Arial" panose="020B0604020202020204" pitchFamily="34" charset="0"/>
                <a:cs typeface="Arial" panose="020B0604020202020204" pitchFamily="34" charset="0"/>
              </a:rPr>
            </a:br>
            <a:br>
              <a:rPr lang="es-ES" i="0" dirty="0">
                <a:effectLst/>
                <a:latin typeface="Arial" panose="020B0604020202020204" pitchFamily="34" charset="0"/>
                <a:cs typeface="Arial" panose="020B0604020202020204" pitchFamily="34" charset="0"/>
              </a:rPr>
            </a:br>
            <a:endParaRPr lang="es-ES"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Resultados y Verificación de la Integración</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48312E18-EA51-4B8F-9818-878084A38D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6999" y="2968809"/>
            <a:ext cx="6848476" cy="3134232"/>
          </a:xfrm>
          <a:prstGeom prst="rect">
            <a:avLst/>
          </a:prstGeom>
        </p:spPr>
      </p:pic>
    </p:spTree>
    <p:extLst>
      <p:ext uri="{BB962C8B-B14F-4D97-AF65-F5344CB8AC3E}">
        <p14:creationId xmlns:p14="http://schemas.microsoft.com/office/powerpoint/2010/main" val="41090910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2031325"/>
          </a:xfrm>
          <a:prstGeom prst="rect">
            <a:avLst/>
          </a:prstGeom>
          <a:noFill/>
        </p:spPr>
        <p:txBody>
          <a:bodyPr wrap="square">
            <a:spAutoFit/>
          </a:bodyPr>
          <a:lstStyle/>
          <a:p>
            <a:pPr algn="just"/>
            <a:r>
              <a:rPr lang="es-ES" b="1" i="0" dirty="0">
                <a:effectLst/>
                <a:latin typeface="Arial" panose="020B0604020202020204" pitchFamily="34" charset="0"/>
                <a:cs typeface="Arial" panose="020B0604020202020204" pitchFamily="34" charset="0"/>
              </a:rPr>
              <a:t>Módulo de Estudiantes: </a:t>
            </a:r>
            <a:r>
              <a:rPr lang="es-ES" b="0" i="0" dirty="0">
                <a:effectLst/>
                <a:latin typeface="Arial" panose="020B0604020202020204" pitchFamily="34" charset="0"/>
                <a:cs typeface="Arial" panose="020B0604020202020204" pitchFamily="34" charset="0"/>
              </a:rPr>
              <a:t>La interfaz muestra correctamente la lista de alumnos recuperados desde el microservicio de Estudiantes, los cuales residen físicamente en el SGBD MySQL.</a:t>
            </a:r>
          </a:p>
          <a:p>
            <a:pPr algn="just"/>
            <a:endParaRPr lang="es-ES" b="0" i="0" dirty="0">
              <a:effectLst/>
              <a:latin typeface="Arial" panose="020B0604020202020204" pitchFamily="34" charset="0"/>
              <a:cs typeface="Arial" panose="020B0604020202020204" pitchFamily="34" charset="0"/>
            </a:endParaRPr>
          </a:p>
          <a:p>
            <a:pPr algn="just"/>
            <a:r>
              <a:rPr lang="es-ES" b="1" i="0" dirty="0">
                <a:effectLst/>
                <a:latin typeface="Arial" panose="020B0604020202020204" pitchFamily="34" charset="0"/>
                <a:cs typeface="Arial" panose="020B0604020202020204" pitchFamily="34" charset="0"/>
              </a:rPr>
              <a:t>Módulo de Cursos</a:t>
            </a:r>
            <a:r>
              <a:rPr lang="es-ES" b="0" i="0" dirty="0">
                <a:effectLst/>
                <a:latin typeface="Arial" panose="020B0604020202020204" pitchFamily="34" charset="0"/>
                <a:cs typeface="Arial" panose="020B0604020202020204" pitchFamily="34" charset="0"/>
              </a:rPr>
              <a:t>: De forma simultánea y en la misma pantalla, se despliegan las materias y profesores obtenidos desde el microservicio de Cursos, provenientes de la base de datos PostgreSQL.</a:t>
            </a:r>
          </a:p>
          <a:p>
            <a:pPr algn="just"/>
            <a:br>
              <a:rPr lang="es-ES" i="0" dirty="0">
                <a:effectLst/>
                <a:latin typeface="Arial" panose="020B0604020202020204" pitchFamily="34" charset="0"/>
                <a:cs typeface="Arial" panose="020B0604020202020204" pitchFamily="34" charset="0"/>
              </a:rPr>
            </a:br>
            <a:endParaRPr lang="es-ES" i="0" dirty="0">
              <a:effectLst/>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Resultados y Verificación de la Integración</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D764D42E-6613-42C9-9953-7F3C86FD78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551" y="3293592"/>
            <a:ext cx="5657850" cy="2991610"/>
          </a:xfrm>
          <a:prstGeom prst="rect">
            <a:avLst/>
          </a:prstGeom>
        </p:spPr>
      </p:pic>
      <p:pic>
        <p:nvPicPr>
          <p:cNvPr id="10" name="Imagen 9">
            <a:extLst>
              <a:ext uri="{FF2B5EF4-FFF2-40B4-BE49-F238E27FC236}">
                <a16:creationId xmlns:a16="http://schemas.microsoft.com/office/drawing/2014/main" id="{3598C73E-971B-4E2F-B44E-B71959AE2F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9337" y="3193620"/>
            <a:ext cx="6096000" cy="2789858"/>
          </a:xfrm>
          <a:prstGeom prst="rect">
            <a:avLst/>
          </a:prstGeom>
        </p:spPr>
      </p:pic>
    </p:spTree>
    <p:extLst>
      <p:ext uri="{BB962C8B-B14F-4D97-AF65-F5344CB8AC3E}">
        <p14:creationId xmlns:p14="http://schemas.microsoft.com/office/powerpoint/2010/main" val="24352475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42925" y="754959"/>
            <a:ext cx="11096625" cy="1754326"/>
          </a:xfrm>
          <a:prstGeom prst="rect">
            <a:avLst/>
          </a:prstGeom>
          <a:noFill/>
        </p:spPr>
        <p:txBody>
          <a:bodyPr wrap="square">
            <a:spAutoFit/>
          </a:bodyPr>
          <a:lstStyle/>
          <a:p>
            <a:pPr algn="just"/>
            <a:r>
              <a:rPr lang="es-ES" b="1" i="0" dirty="0">
                <a:effectLst/>
                <a:latin typeface="Arial" panose="020B0604020202020204" pitchFamily="34" charset="0"/>
                <a:cs typeface="Arial" panose="020B0604020202020204" pitchFamily="34" charset="0"/>
              </a:rPr>
              <a:t>Consola del Navegador Limpia (Cero Errores)</a:t>
            </a:r>
          </a:p>
          <a:p>
            <a:pPr algn="just"/>
            <a:endParaRPr lang="es-ES" b="1" i="0" dirty="0">
              <a:effectLst/>
              <a:latin typeface="Arial" panose="020B0604020202020204" pitchFamily="34" charset="0"/>
              <a:cs typeface="Arial" panose="020B0604020202020204" pitchFamily="34" charset="0"/>
            </a:endParaRPr>
          </a:p>
          <a:p>
            <a:pPr algn="just"/>
            <a:r>
              <a:rPr lang="es-ES" b="0" i="0" dirty="0">
                <a:effectLst/>
                <a:latin typeface="Arial" panose="020B0604020202020204" pitchFamily="34" charset="0"/>
                <a:cs typeface="Arial" panose="020B0604020202020204" pitchFamily="34" charset="0"/>
              </a:rPr>
              <a:t>Como resultado técnico final, se verificó la Consola de Desarrollador (F12) del navegador. Tras aplicar la configuración de @CrossOrigin en IntelliJ, la consola ya no reporta errores de seguridad ni bloqueos de red. Las peticiones fluyen con códigos de estado 200 OK (para consultas) y 201 </a:t>
            </a:r>
            <a:r>
              <a:rPr lang="es-ES" b="0" i="0" dirty="0" err="1">
                <a:effectLst/>
                <a:latin typeface="Arial" panose="020B0604020202020204" pitchFamily="34" charset="0"/>
                <a:cs typeface="Arial" panose="020B0604020202020204" pitchFamily="34" charset="0"/>
              </a:rPr>
              <a:t>Created</a:t>
            </a:r>
            <a:r>
              <a:rPr lang="es-ES" b="0" i="0" dirty="0">
                <a:effectLst/>
                <a:latin typeface="Arial" panose="020B0604020202020204" pitchFamily="34" charset="0"/>
                <a:cs typeface="Arial" panose="020B0604020202020204" pitchFamily="34" charset="0"/>
              </a:rPr>
              <a:t> (para registros nuevos), lo que garantiza una integración profesional y funcional al 100%.</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1600" b="1" dirty="0">
                <a:solidFill>
                  <a:schemeClr val="tx1"/>
                </a:solidFill>
                <a:latin typeface="Arial" panose="020B0604020202020204" pitchFamily="34" charset="0"/>
                <a:cs typeface="Arial" panose="020B0604020202020204" pitchFamily="34" charset="0"/>
              </a:rPr>
              <a:t>Resultados y Verificación de la Integración</a:t>
            </a:r>
            <a:endParaRPr lang="es-MX"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pic>
        <p:nvPicPr>
          <p:cNvPr id="3" name="Imagen 2">
            <a:extLst>
              <a:ext uri="{FF2B5EF4-FFF2-40B4-BE49-F238E27FC236}">
                <a16:creationId xmlns:a16="http://schemas.microsoft.com/office/drawing/2014/main" id="{AA11D47D-4003-4C1A-B612-F88025DC9054}"/>
              </a:ext>
            </a:extLst>
          </p:cNvPr>
          <p:cNvPicPr>
            <a:picLocks noChangeAspect="1"/>
          </p:cNvPicPr>
          <p:nvPr/>
        </p:nvPicPr>
        <p:blipFill>
          <a:blip r:embed="rId3"/>
          <a:stretch>
            <a:fillRect/>
          </a:stretch>
        </p:blipFill>
        <p:spPr>
          <a:xfrm>
            <a:off x="1514474" y="3156315"/>
            <a:ext cx="8268651" cy="2016534"/>
          </a:xfrm>
          <a:prstGeom prst="rect">
            <a:avLst/>
          </a:prstGeom>
        </p:spPr>
      </p:pic>
    </p:spTree>
    <p:extLst>
      <p:ext uri="{BB962C8B-B14F-4D97-AF65-F5344CB8AC3E}">
        <p14:creationId xmlns:p14="http://schemas.microsoft.com/office/powerpoint/2010/main" val="22952594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459105" y="984148"/>
            <a:ext cx="11096625" cy="3477875"/>
          </a:xfrm>
          <a:prstGeom prst="rect">
            <a:avLst/>
          </a:prstGeom>
          <a:noFill/>
        </p:spPr>
        <p:txBody>
          <a:bodyPr wrap="square">
            <a:spAutoFit/>
          </a:bodyPr>
          <a:lstStyle/>
          <a:p>
            <a:pPr algn="just"/>
            <a:r>
              <a:rPr lang="es-ES" sz="2000" dirty="0">
                <a:latin typeface="Arial" panose="020B0604020202020204" pitchFamily="34" charset="0"/>
                <a:cs typeface="Arial" panose="020B0604020202020204" pitchFamily="34" charset="0"/>
              </a:rPr>
              <a:t>La realización de esta práctica nos permitió entender la importancia de la integración entre el </a:t>
            </a:r>
            <a:r>
              <a:rPr lang="es-ES" sz="2000" dirty="0" err="1">
                <a:latin typeface="Arial" panose="020B0604020202020204" pitchFamily="34" charset="0"/>
                <a:cs typeface="Arial" panose="020B0604020202020204" pitchFamily="34" charset="0"/>
              </a:rPr>
              <a:t>frontend</a:t>
            </a:r>
            <a:r>
              <a:rPr lang="es-ES" sz="2000" dirty="0">
                <a:latin typeface="Arial" panose="020B0604020202020204" pitchFamily="34" charset="0"/>
                <a:cs typeface="Arial" panose="020B0604020202020204" pitchFamily="34" charset="0"/>
              </a:rPr>
              <a:t> y el </a:t>
            </a:r>
            <a:r>
              <a:rPr lang="es-ES" sz="2000" dirty="0" err="1">
                <a:latin typeface="Arial" panose="020B0604020202020204" pitchFamily="34" charset="0"/>
                <a:cs typeface="Arial" panose="020B0604020202020204" pitchFamily="34" charset="0"/>
              </a:rPr>
              <a:t>backend</a:t>
            </a:r>
            <a:r>
              <a:rPr lang="es-ES" sz="2000" dirty="0">
                <a:latin typeface="Arial" panose="020B0604020202020204" pitchFamily="34" charset="0"/>
                <a:cs typeface="Arial" panose="020B0604020202020204" pitchFamily="34" charset="0"/>
              </a:rPr>
              <a:t> en entornos empresariales. Desarrollar microservicios independientes no es suficiente si no se cuenta con una capa de presentación capaz de consumir esos datos de forma eficiente y segura.</a:t>
            </a:r>
          </a:p>
          <a:p>
            <a:pPr algn="just"/>
            <a:endParaRPr lang="es-ES" sz="2000" dirty="0">
              <a:latin typeface="Arial" panose="020B0604020202020204" pitchFamily="34" charset="0"/>
              <a:cs typeface="Arial" panose="020B0604020202020204" pitchFamily="34" charset="0"/>
            </a:endParaRPr>
          </a:p>
          <a:p>
            <a:pPr algn="just"/>
            <a:r>
              <a:rPr lang="es-ES" sz="2000" dirty="0">
                <a:latin typeface="Arial" panose="020B0604020202020204" pitchFamily="34" charset="0"/>
                <a:cs typeface="Arial" panose="020B0604020202020204" pitchFamily="34" charset="0"/>
              </a:rPr>
              <a:t>Aprendimos a solucionar problemas críticos de comunicación como el bloqueo de CORS y el desfase en el renderizado asíncrono de componentes web en Angular 19. Al final, logramos unificar dos módulos de negocio completamente independientes (Alumnos en MySQL y Cursos en PostgreSQL) bajo una misma experiencia de usuario centralizada, interactiva y libre de errores en la consola del navegador. El proyecto cumple con éxito todos los requerimientos técnicos y arquitectónicos establecidos para sistemas distribuidos.</a:t>
            </a: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b="1" dirty="0">
                <a:solidFill>
                  <a:schemeClr val="tx1"/>
                </a:solidFill>
                <a:latin typeface="Arial" panose="020B0604020202020204" pitchFamily="34" charset="0"/>
                <a:cs typeface="Arial" panose="020B0604020202020204" pitchFamily="34" charset="0"/>
              </a:rPr>
              <a:t>Conclusión</a:t>
            </a:r>
            <a:endParaRPr lang="es-MX" sz="2000"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spTree>
    <p:extLst>
      <p:ext uri="{BB962C8B-B14F-4D97-AF65-F5344CB8AC3E}">
        <p14:creationId xmlns:p14="http://schemas.microsoft.com/office/powerpoint/2010/main" val="12236745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descr="Resultado de imagen de fondos png">
            <a:extLst>
              <a:ext uri="{FF2B5EF4-FFF2-40B4-BE49-F238E27FC236}">
                <a16:creationId xmlns:a16="http://schemas.microsoft.com/office/drawing/2014/main" id="{ADF88253-865B-47EC-A7E5-D8C9101E0B4F}"/>
              </a:ext>
            </a:extLst>
          </p:cNvPr>
          <p:cNvPicPr/>
          <p:nvPr/>
        </p:nvPicPr>
        <p:blipFill>
          <a:blip r:embed="rId2" cstate="print"/>
          <a:stretch>
            <a:fillRect/>
          </a:stretch>
        </p:blipFill>
        <p:spPr>
          <a:xfrm>
            <a:off x="0" y="0"/>
            <a:ext cx="459105" cy="6858000"/>
          </a:xfrm>
          <a:prstGeom prst="rect">
            <a:avLst/>
          </a:prstGeom>
        </p:spPr>
      </p:pic>
      <p:pic>
        <p:nvPicPr>
          <p:cNvPr id="5" name="image1.png" descr="Resultado de imagen de fondos png">
            <a:extLst>
              <a:ext uri="{FF2B5EF4-FFF2-40B4-BE49-F238E27FC236}">
                <a16:creationId xmlns:a16="http://schemas.microsoft.com/office/drawing/2014/main" id="{B4918E82-7A5B-4284-BA49-A7E12F7D1204}"/>
              </a:ext>
            </a:extLst>
          </p:cNvPr>
          <p:cNvPicPr/>
          <p:nvPr/>
        </p:nvPicPr>
        <p:blipFill>
          <a:blip r:embed="rId2" cstate="print"/>
          <a:stretch>
            <a:fillRect/>
          </a:stretch>
        </p:blipFill>
        <p:spPr>
          <a:xfrm>
            <a:off x="11763375" y="0"/>
            <a:ext cx="459105" cy="6858000"/>
          </a:xfrm>
          <a:prstGeom prst="rect">
            <a:avLst/>
          </a:prstGeom>
        </p:spPr>
      </p:pic>
      <p:pic>
        <p:nvPicPr>
          <p:cNvPr id="6" name="image1.png" descr="Resultado de imagen de fondos png">
            <a:extLst>
              <a:ext uri="{FF2B5EF4-FFF2-40B4-BE49-F238E27FC236}">
                <a16:creationId xmlns:a16="http://schemas.microsoft.com/office/drawing/2014/main" id="{A1AB415F-6170-4547-AF25-5F154A5A9921}"/>
              </a:ext>
            </a:extLst>
          </p:cNvPr>
          <p:cNvPicPr/>
          <p:nvPr/>
        </p:nvPicPr>
        <p:blipFill>
          <a:blip r:embed="rId2" cstate="print"/>
          <a:stretch>
            <a:fillRect/>
          </a:stretch>
        </p:blipFill>
        <p:spPr>
          <a:xfrm rot="5400000">
            <a:off x="5991701" y="-5762150"/>
            <a:ext cx="247651" cy="11771951"/>
          </a:xfrm>
          <a:prstGeom prst="rect">
            <a:avLst/>
          </a:prstGeom>
        </p:spPr>
      </p:pic>
      <p:pic>
        <p:nvPicPr>
          <p:cNvPr id="7" name="image1.png" descr="Resultado de imagen de fondos png">
            <a:extLst>
              <a:ext uri="{FF2B5EF4-FFF2-40B4-BE49-F238E27FC236}">
                <a16:creationId xmlns:a16="http://schemas.microsoft.com/office/drawing/2014/main" id="{24875C65-5A98-4DFC-8737-01C536BAC731}"/>
              </a:ext>
            </a:extLst>
          </p:cNvPr>
          <p:cNvPicPr/>
          <p:nvPr/>
        </p:nvPicPr>
        <p:blipFill>
          <a:blip r:embed="rId2" cstate="print"/>
          <a:stretch>
            <a:fillRect/>
          </a:stretch>
        </p:blipFill>
        <p:spPr>
          <a:xfrm rot="5400000">
            <a:off x="5972174" y="848199"/>
            <a:ext cx="247651" cy="11771951"/>
          </a:xfrm>
          <a:prstGeom prst="rect">
            <a:avLst/>
          </a:prstGeom>
        </p:spPr>
      </p:pic>
      <p:sp>
        <p:nvSpPr>
          <p:cNvPr id="8" name="CuadroTexto 7">
            <a:extLst>
              <a:ext uri="{FF2B5EF4-FFF2-40B4-BE49-F238E27FC236}">
                <a16:creationId xmlns:a16="http://schemas.microsoft.com/office/drawing/2014/main" id="{633F3B5A-AFEC-40C0-8F93-4E0AFBF6F840}"/>
              </a:ext>
            </a:extLst>
          </p:cNvPr>
          <p:cNvSpPr txBox="1"/>
          <p:nvPr/>
        </p:nvSpPr>
        <p:spPr>
          <a:xfrm>
            <a:off x="581024" y="1088334"/>
            <a:ext cx="11096625" cy="5324535"/>
          </a:xfrm>
          <a:prstGeom prst="rect">
            <a:avLst/>
          </a:prstGeom>
          <a:noFill/>
        </p:spPr>
        <p:txBody>
          <a:bodyPr wrap="square">
            <a:spAutoFit/>
          </a:bodyPr>
          <a:lstStyle/>
          <a:p>
            <a:pPr algn="just"/>
            <a:r>
              <a:rPr lang="es-MX" sz="2000" b="1" i="0" dirty="0">
                <a:effectLst/>
                <a:latin typeface="Arial" panose="020B0604020202020204" pitchFamily="34" charset="0"/>
                <a:cs typeface="Arial" panose="020B0604020202020204" pitchFamily="34" charset="0"/>
              </a:rPr>
              <a:t>Angular. (2026). Componentes </a:t>
            </a:r>
            <a:r>
              <a:rPr lang="es-MX" sz="2000" b="1" i="0" dirty="0" err="1">
                <a:effectLst/>
                <a:latin typeface="Arial" panose="020B0604020202020204" pitchFamily="34" charset="0"/>
                <a:cs typeface="Arial" panose="020B0604020202020204" pitchFamily="34" charset="0"/>
              </a:rPr>
              <a:t>Standalone</a:t>
            </a:r>
            <a:r>
              <a:rPr lang="es-MX" sz="2000" b="1" i="0" dirty="0">
                <a:effectLst/>
                <a:latin typeface="Arial" panose="020B0604020202020204" pitchFamily="34" charset="0"/>
                <a:cs typeface="Arial" panose="020B0604020202020204" pitchFamily="34" charset="0"/>
              </a:rPr>
              <a:t> en Angular</a:t>
            </a:r>
            <a:r>
              <a:rPr lang="es-MX" sz="2000" b="0" i="0" dirty="0">
                <a:effectLst/>
                <a:latin typeface="Arial" panose="020B0604020202020204" pitchFamily="34" charset="0"/>
                <a:cs typeface="Arial" panose="020B0604020202020204" pitchFamily="34" charset="0"/>
              </a:rPr>
              <a:t>: Guía de Arquitectura Moderna. Angular Dev. </a:t>
            </a:r>
            <a:r>
              <a:rPr lang="es-MX" sz="2000" b="0" i="0" dirty="0">
                <a:effectLst/>
                <a:latin typeface="Arial" panose="020B0604020202020204" pitchFamily="34" charset="0"/>
                <a:cs typeface="Arial" panose="020B0604020202020204" pitchFamily="34" charset="0"/>
                <a:hlinkClick r:id="rId3"/>
              </a:rPr>
              <a:t>https://angular.dev/guide/components/standalone</a:t>
            </a:r>
            <a:endParaRPr lang="es-MX" sz="2000" b="0" i="0" dirty="0">
              <a:effectLst/>
              <a:latin typeface="Arial" panose="020B0604020202020204" pitchFamily="34" charset="0"/>
              <a:cs typeface="Arial" panose="020B0604020202020204" pitchFamily="34" charset="0"/>
            </a:endParaRPr>
          </a:p>
          <a:p>
            <a:pPr algn="just"/>
            <a:endParaRPr lang="es-MX" sz="2000" b="0" i="0" dirty="0">
              <a:effectLst/>
              <a:latin typeface="Arial" panose="020B0604020202020204" pitchFamily="34" charset="0"/>
              <a:cs typeface="Arial" panose="020B0604020202020204" pitchFamily="34" charset="0"/>
            </a:endParaRPr>
          </a:p>
          <a:p>
            <a:pPr algn="just"/>
            <a:r>
              <a:rPr lang="es-MX" sz="2000" b="1" i="0" dirty="0">
                <a:effectLst/>
                <a:latin typeface="Arial" panose="020B0604020202020204" pitchFamily="34" charset="0"/>
                <a:cs typeface="Arial" panose="020B0604020202020204" pitchFamily="34" charset="0"/>
              </a:rPr>
              <a:t>Angular. (2026). Realización de peticiones HTTP con </a:t>
            </a:r>
            <a:r>
              <a:rPr lang="es-MX" sz="2000" b="1" i="0" dirty="0" err="1">
                <a:effectLst/>
                <a:latin typeface="Arial" panose="020B0604020202020204" pitchFamily="34" charset="0"/>
                <a:cs typeface="Arial" panose="020B0604020202020204" pitchFamily="34" charset="0"/>
              </a:rPr>
              <a:t>HttpClient</a:t>
            </a:r>
            <a:r>
              <a:rPr lang="es-MX" sz="2000" b="1" i="0" dirty="0">
                <a:effectLst/>
                <a:latin typeface="Arial" panose="020B0604020202020204" pitchFamily="34" charset="0"/>
                <a:cs typeface="Arial" panose="020B0604020202020204" pitchFamily="34" charset="0"/>
              </a:rPr>
              <a:t>. Angular Dev. </a:t>
            </a:r>
            <a:r>
              <a:rPr lang="es-MX" sz="2000" b="0" i="0" dirty="0">
                <a:effectLst/>
                <a:latin typeface="Arial" panose="020B0604020202020204" pitchFamily="34" charset="0"/>
                <a:cs typeface="Arial" panose="020B0604020202020204" pitchFamily="34" charset="0"/>
                <a:hlinkClick r:id="rId4"/>
              </a:rPr>
              <a:t>https://angular.dev/guide/http/making-requests</a:t>
            </a:r>
            <a:endParaRPr lang="es-MX" sz="2000" b="0" i="0" dirty="0">
              <a:effectLst/>
              <a:latin typeface="Arial" panose="020B0604020202020204" pitchFamily="34" charset="0"/>
              <a:cs typeface="Arial" panose="020B0604020202020204" pitchFamily="34" charset="0"/>
            </a:endParaRPr>
          </a:p>
          <a:p>
            <a:pPr algn="just"/>
            <a:endParaRPr lang="es-MX" sz="2000" b="0" i="0" dirty="0">
              <a:effectLst/>
              <a:latin typeface="Arial" panose="020B0604020202020204" pitchFamily="34" charset="0"/>
              <a:cs typeface="Arial" panose="020B0604020202020204" pitchFamily="34" charset="0"/>
            </a:endParaRPr>
          </a:p>
          <a:p>
            <a:pPr algn="just"/>
            <a:r>
              <a:rPr lang="es-MX" sz="2000" b="1" i="0" dirty="0">
                <a:effectLst/>
                <a:latin typeface="Arial" panose="020B0604020202020204" pitchFamily="34" charset="0"/>
                <a:cs typeface="Arial" panose="020B0604020202020204" pitchFamily="34" charset="0"/>
              </a:rPr>
              <a:t>Dev </a:t>
            </a:r>
            <a:r>
              <a:rPr lang="es-MX" sz="2000" b="1" i="0" dirty="0" err="1">
                <a:effectLst/>
                <a:latin typeface="Arial" panose="020B0604020202020204" pitchFamily="34" charset="0"/>
                <a:cs typeface="Arial" panose="020B0604020202020204" pitchFamily="34" charset="0"/>
              </a:rPr>
              <a:t>Predator</a:t>
            </a:r>
            <a:r>
              <a:rPr lang="es-MX" sz="2000" b="1" i="0" dirty="0">
                <a:effectLst/>
                <a:latin typeface="Arial" panose="020B0604020202020204" pitchFamily="34" charset="0"/>
                <a:cs typeface="Arial" panose="020B0604020202020204" pitchFamily="34" charset="0"/>
              </a:rPr>
              <a:t>. (22 de febrero de 2021). TUTORIAL ANGULAR - Consumir Microservicios </a:t>
            </a:r>
            <a:r>
              <a:rPr lang="es-MX" sz="2000" b="1" i="0" dirty="0" err="1">
                <a:effectLst/>
                <a:latin typeface="Arial" panose="020B0604020202020204" pitchFamily="34" charset="0"/>
                <a:cs typeface="Arial" panose="020B0604020202020204" pitchFamily="34" charset="0"/>
              </a:rPr>
              <a:t>SpringBoot</a:t>
            </a:r>
            <a:r>
              <a:rPr lang="es-MX" sz="2000" b="1" i="0" dirty="0">
                <a:effectLst/>
                <a:latin typeface="Arial" panose="020B0604020202020204" pitchFamily="34" charset="0"/>
                <a:cs typeface="Arial" panose="020B0604020202020204" pitchFamily="34" charset="0"/>
              </a:rPr>
              <a:t> - Parte 1 </a:t>
            </a:r>
            <a:r>
              <a:rPr lang="es-MX" sz="2000" b="0" i="0" dirty="0">
                <a:effectLst/>
                <a:latin typeface="Arial" panose="020B0604020202020204" pitchFamily="34" charset="0"/>
                <a:cs typeface="Arial" panose="020B0604020202020204" pitchFamily="34" charset="0"/>
              </a:rPr>
              <a:t>[Video]. YouTube. </a:t>
            </a:r>
            <a:r>
              <a:rPr lang="es-MX" sz="2000" b="0" i="0" dirty="0">
                <a:effectLst/>
                <a:latin typeface="Arial" panose="020B0604020202020204" pitchFamily="34" charset="0"/>
                <a:cs typeface="Arial" panose="020B0604020202020204" pitchFamily="34" charset="0"/>
                <a:hlinkClick r:id="rId5"/>
              </a:rPr>
              <a:t>http://www.youtube.com/watch?v=jxZh0gQ9oZc</a:t>
            </a:r>
            <a:endParaRPr lang="es-MX" sz="2000" b="0" i="0" dirty="0">
              <a:effectLst/>
              <a:latin typeface="Arial" panose="020B0604020202020204" pitchFamily="34" charset="0"/>
              <a:cs typeface="Arial" panose="020B0604020202020204" pitchFamily="34" charset="0"/>
            </a:endParaRPr>
          </a:p>
          <a:p>
            <a:pPr algn="just"/>
            <a:endParaRPr lang="es-MX" sz="2000" b="0" i="0" dirty="0">
              <a:effectLst/>
              <a:latin typeface="Arial" panose="020B0604020202020204" pitchFamily="34" charset="0"/>
              <a:cs typeface="Arial" panose="020B0604020202020204" pitchFamily="34" charset="0"/>
            </a:endParaRPr>
          </a:p>
          <a:p>
            <a:pPr algn="just"/>
            <a:r>
              <a:rPr lang="es-MX" sz="2000" b="1" i="0" dirty="0">
                <a:effectLst/>
                <a:latin typeface="Arial" panose="020B0604020202020204" pitchFamily="34" charset="0"/>
                <a:cs typeface="Arial" panose="020B0604020202020204" pitchFamily="34" charset="0"/>
              </a:rPr>
              <a:t>Mozilla </a:t>
            </a:r>
            <a:r>
              <a:rPr lang="es-MX" sz="2000" b="1" i="0" dirty="0" err="1">
                <a:effectLst/>
                <a:latin typeface="Arial" panose="020B0604020202020204" pitchFamily="34" charset="0"/>
                <a:cs typeface="Arial" panose="020B0604020202020204" pitchFamily="34" charset="0"/>
              </a:rPr>
              <a:t>Contributors</a:t>
            </a:r>
            <a:r>
              <a:rPr lang="es-MX" sz="2000" b="1" i="0" dirty="0">
                <a:effectLst/>
                <a:latin typeface="Arial" panose="020B0604020202020204" pitchFamily="34" charset="0"/>
                <a:cs typeface="Arial" panose="020B0604020202020204" pitchFamily="34" charset="0"/>
              </a:rPr>
              <a:t>. (2026). Intercambio de Recursos de Origen Cruzado (CORS). </a:t>
            </a:r>
            <a:r>
              <a:rPr lang="es-MX" sz="2000" b="0" i="0" dirty="0">
                <a:effectLst/>
                <a:latin typeface="Arial" panose="020B0604020202020204" pitchFamily="34" charset="0"/>
                <a:cs typeface="Arial" panose="020B0604020202020204" pitchFamily="34" charset="0"/>
              </a:rPr>
              <a:t>MDN Web Docs. </a:t>
            </a:r>
            <a:r>
              <a:rPr lang="es-MX" sz="2000" b="0" i="0" dirty="0">
                <a:effectLst/>
                <a:latin typeface="Arial" panose="020B0604020202020204" pitchFamily="34" charset="0"/>
                <a:cs typeface="Arial" panose="020B0604020202020204" pitchFamily="34" charset="0"/>
                <a:hlinkClick r:id="rId6"/>
              </a:rPr>
              <a:t>https://developer.mozilla.org/es/docs/Web/HTTP/CORS</a:t>
            </a:r>
            <a:endParaRPr lang="es-MX" sz="2000" b="0" i="0" dirty="0">
              <a:effectLst/>
              <a:latin typeface="Arial" panose="020B0604020202020204" pitchFamily="34" charset="0"/>
              <a:cs typeface="Arial" panose="020B0604020202020204" pitchFamily="34" charset="0"/>
            </a:endParaRPr>
          </a:p>
          <a:p>
            <a:pPr algn="just"/>
            <a:endParaRPr lang="es-MX" sz="2000" b="0" i="0" dirty="0">
              <a:effectLst/>
              <a:latin typeface="Arial" panose="020B0604020202020204" pitchFamily="34" charset="0"/>
              <a:cs typeface="Arial" panose="020B0604020202020204" pitchFamily="34" charset="0"/>
            </a:endParaRPr>
          </a:p>
          <a:p>
            <a:pPr algn="just"/>
            <a:r>
              <a:rPr lang="es-MX" sz="2000" b="1" i="0" dirty="0">
                <a:effectLst/>
                <a:latin typeface="Arial" panose="020B0604020202020204" pitchFamily="34" charset="0"/>
                <a:cs typeface="Arial" panose="020B0604020202020204" pitchFamily="34" charset="0"/>
              </a:rPr>
              <a:t>Spring </a:t>
            </a:r>
            <a:r>
              <a:rPr lang="es-MX" sz="2000" b="1" i="0" dirty="0" err="1">
                <a:effectLst/>
                <a:latin typeface="Arial" panose="020B0604020202020204" pitchFamily="34" charset="0"/>
                <a:cs typeface="Arial" panose="020B0604020202020204" pitchFamily="34" charset="0"/>
              </a:rPr>
              <a:t>by</a:t>
            </a:r>
            <a:r>
              <a:rPr lang="es-MX" sz="2000" b="1" i="0" dirty="0">
                <a:effectLst/>
                <a:latin typeface="Arial" panose="020B0604020202020204" pitchFamily="34" charset="0"/>
                <a:cs typeface="Arial" panose="020B0604020202020204" pitchFamily="34" charset="0"/>
              </a:rPr>
              <a:t> VMware. (2026). Habilitación de peticiones de origen cruzado (CORS) en </a:t>
            </a:r>
            <a:r>
              <a:rPr lang="es-MX" sz="2000" b="1" i="0" dirty="0" err="1">
                <a:effectLst/>
                <a:latin typeface="Arial" panose="020B0604020202020204" pitchFamily="34" charset="0"/>
                <a:cs typeface="Arial" panose="020B0604020202020204" pitchFamily="34" charset="0"/>
              </a:rPr>
              <a:t>RESTful</a:t>
            </a:r>
            <a:r>
              <a:rPr lang="es-MX" sz="2000" b="1" i="0" dirty="0">
                <a:effectLst/>
                <a:latin typeface="Arial" panose="020B0604020202020204" pitchFamily="34" charset="0"/>
                <a:cs typeface="Arial" panose="020B0604020202020204" pitchFamily="34" charset="0"/>
              </a:rPr>
              <a:t> Web </a:t>
            </a:r>
            <a:r>
              <a:rPr lang="es-MX" sz="2000" b="1" i="0" dirty="0" err="1">
                <a:effectLst/>
                <a:latin typeface="Arial" panose="020B0604020202020204" pitchFamily="34" charset="0"/>
                <a:cs typeface="Arial" panose="020B0604020202020204" pitchFamily="34" charset="0"/>
              </a:rPr>
              <a:t>Services</a:t>
            </a:r>
            <a:r>
              <a:rPr lang="es-MX" sz="2000" b="1" i="0" dirty="0">
                <a:effectLst/>
                <a:latin typeface="Arial" panose="020B0604020202020204" pitchFamily="34" charset="0"/>
                <a:cs typeface="Arial" panose="020B0604020202020204" pitchFamily="34" charset="0"/>
              </a:rPr>
              <a:t>. </a:t>
            </a:r>
            <a:r>
              <a:rPr lang="es-MX" sz="2000" b="0" i="0" dirty="0">
                <a:effectLst/>
                <a:latin typeface="Arial" panose="020B0604020202020204" pitchFamily="34" charset="0"/>
                <a:cs typeface="Arial" panose="020B0604020202020204" pitchFamily="34" charset="0"/>
              </a:rPr>
              <a:t>Spring Guides. </a:t>
            </a:r>
            <a:r>
              <a:rPr lang="es-MX" sz="2000" b="0" i="0" dirty="0">
                <a:effectLst/>
                <a:latin typeface="Arial" panose="020B0604020202020204" pitchFamily="34" charset="0"/>
                <a:cs typeface="Arial" panose="020B0604020202020204" pitchFamily="34" charset="0"/>
                <a:hlinkClick r:id="rId7"/>
              </a:rPr>
              <a:t>https://spring.io/guides/gs/rest-service-cors/</a:t>
            </a:r>
            <a:endParaRPr lang="es-MX" sz="2000" b="0" i="0" dirty="0">
              <a:effectLst/>
              <a:latin typeface="Arial" panose="020B0604020202020204" pitchFamily="34" charset="0"/>
              <a:cs typeface="Arial" panose="020B0604020202020204" pitchFamily="34" charset="0"/>
            </a:endParaRPr>
          </a:p>
          <a:p>
            <a:pPr algn="just"/>
            <a:endParaRPr lang="es-MX" sz="2000" b="0" i="0" dirty="0">
              <a:effectLst/>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a:p>
            <a:pPr algn="just"/>
            <a:endParaRPr lang="es-ES" sz="2000" dirty="0">
              <a:latin typeface="Arial" panose="020B0604020202020204" pitchFamily="34" charset="0"/>
              <a:cs typeface="Arial" panose="020B0604020202020204" pitchFamily="34" charset="0"/>
            </a:endParaRPr>
          </a:p>
        </p:txBody>
      </p:sp>
      <p:sp>
        <p:nvSpPr>
          <p:cNvPr id="15" name="Rectángulo: esquinas redondeadas 14">
            <a:extLst>
              <a:ext uri="{FF2B5EF4-FFF2-40B4-BE49-F238E27FC236}">
                <a16:creationId xmlns:a16="http://schemas.microsoft.com/office/drawing/2014/main" id="{FC991EB5-EFA7-4406-99AA-FC1D06252384}"/>
              </a:ext>
            </a:extLst>
          </p:cNvPr>
          <p:cNvSpPr/>
          <p:nvPr/>
        </p:nvSpPr>
        <p:spPr>
          <a:xfrm>
            <a:off x="2705100" y="419689"/>
            <a:ext cx="6848475" cy="34479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MX" b="1" dirty="0">
                <a:solidFill>
                  <a:schemeClr val="tx1"/>
                </a:solidFill>
                <a:latin typeface="Arial" panose="020B0604020202020204" pitchFamily="34" charset="0"/>
                <a:cs typeface="Arial" panose="020B0604020202020204" pitchFamily="34" charset="0"/>
              </a:rPr>
              <a:t>Fuentes</a:t>
            </a:r>
            <a:endParaRPr lang="es-MX" sz="2000" b="1" dirty="0">
              <a:solidFill>
                <a:schemeClr val="tx1"/>
              </a:solidFill>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2054029B-F9D5-4F36-8DCB-C5E82D3E1736}"/>
              </a:ext>
            </a:extLst>
          </p:cNvPr>
          <p:cNvSpPr/>
          <p:nvPr/>
        </p:nvSpPr>
        <p:spPr>
          <a:xfrm>
            <a:off x="2413635" y="377770"/>
            <a:ext cx="441960" cy="434340"/>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MX"/>
          </a:p>
        </p:txBody>
      </p:sp>
    </p:spTree>
    <p:extLst>
      <p:ext uri="{BB962C8B-B14F-4D97-AF65-F5344CB8AC3E}">
        <p14:creationId xmlns:p14="http://schemas.microsoft.com/office/powerpoint/2010/main" val="159603847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629</TotalTime>
  <Words>2890</Words>
  <Application>Microsoft Office PowerPoint</Application>
  <PresentationFormat>Panorámica</PresentationFormat>
  <Paragraphs>193</Paragraphs>
  <Slides>30</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30</vt:i4>
      </vt:variant>
    </vt:vector>
  </HeadingPairs>
  <TitlesOfParts>
    <vt:vector size="34"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VANNI GUTIÉRREZ PÉREZ</dc:creator>
  <cp:lastModifiedBy>VANNI GUTIÉRREZ PÉREZ</cp:lastModifiedBy>
  <cp:revision>13</cp:revision>
  <dcterms:created xsi:type="dcterms:W3CDTF">2026-05-17T14:35:27Z</dcterms:created>
  <dcterms:modified xsi:type="dcterms:W3CDTF">2026-06-12T04:39:12Z</dcterms:modified>
</cp:coreProperties>
</file>