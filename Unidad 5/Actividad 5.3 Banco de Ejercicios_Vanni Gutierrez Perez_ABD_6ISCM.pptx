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jpe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7" r:id="rId2"/>
    <p:sldId id="258" r:id="rId3"/>
    <p:sldId id="259" r:id="rId4"/>
    <p:sldId id="260" r:id="rId5"/>
    <p:sldId id="263" r:id="rId6"/>
    <p:sldId id="314" r:id="rId7"/>
    <p:sldId id="315" r:id="rId8"/>
    <p:sldId id="316" r:id="rId9"/>
    <p:sldId id="317" r:id="rId10"/>
    <p:sldId id="318" r:id="rId11"/>
    <p:sldId id="319" r:id="rId12"/>
    <p:sldId id="320" r:id="rId13"/>
    <p:sldId id="321" r:id="rId14"/>
    <p:sldId id="322" r:id="rId15"/>
    <p:sldId id="323" r:id="rId16"/>
    <p:sldId id="324" r:id="rId17"/>
    <p:sldId id="325" r:id="rId18"/>
    <p:sldId id="326" r:id="rId19"/>
    <p:sldId id="327" r:id="rId20"/>
    <p:sldId id="328" r:id="rId21"/>
    <p:sldId id="329" r:id="rId22"/>
    <p:sldId id="330" r:id="rId23"/>
    <p:sldId id="331" r:id="rId24"/>
    <p:sldId id="332" r:id="rId25"/>
    <p:sldId id="333" r:id="rId26"/>
    <p:sldId id="334" r:id="rId27"/>
    <p:sldId id="335" r:id="rId28"/>
    <p:sldId id="336" r:id="rId29"/>
    <p:sldId id="337" r:id="rId30"/>
    <p:sldId id="338" r:id="rId31"/>
    <p:sldId id="276" r:id="rId32"/>
    <p:sldId id="313" r:id="rId33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7197EE-1D47-4BEB-97C4-33ACB4DA86BE}" type="datetimeFigureOut">
              <a:rPr lang="es-MX" smtClean="0"/>
              <a:t>11/06/2026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0D2E37-E437-4343-A048-22BEE454EAE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08152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7897C4-617F-4BF5-A5E4-E09C1A297CC1}" type="slidenum">
              <a:rPr lang="es-MX" smtClean="0"/>
              <a:t>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74752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03B691-FCA9-4A64-8200-6DA924D0E0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6985697-147A-42D6-B0BB-0F907C2822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AE8414-FAF2-4B3D-AD47-CAB7F25E0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33741-F9CF-4D07-A01B-20C54C2FE651}" type="datetimeFigureOut">
              <a:rPr lang="es-MX" smtClean="0"/>
              <a:t>11/06/2026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89A2BF1-E43E-4F31-9F3F-9FFFF58F3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DCECAB0-17FA-4065-9F01-B0F03FA3F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9C296-620F-49E2-BFBF-4ED8A9E41BE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59487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2DB2B9-CBBD-404D-8BF2-F88089086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8E91122-E878-4198-9CBB-55D746429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56480F7-475B-4B89-9B58-5B56F5673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33741-F9CF-4D07-A01B-20C54C2FE651}" type="datetimeFigureOut">
              <a:rPr lang="es-MX" smtClean="0"/>
              <a:t>11/06/2026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8F1112B-5325-48DC-B81C-861C098FC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9E954B4-A6C8-4FAC-8B8C-E517E2BA1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9C296-620F-49E2-BFBF-4ED8A9E41BE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2166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D420A1-74DB-44D1-810D-B4BE2FDB8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3813C18-CDB4-44DC-B172-329AEBB701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814EBAB-4158-45BB-A325-270AAB6CA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33741-F9CF-4D07-A01B-20C54C2FE651}" type="datetimeFigureOut">
              <a:rPr lang="es-MX" smtClean="0"/>
              <a:t>11/06/2026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888A46F-FD81-4B57-A01D-E9B8A49BC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13A57CF-1D02-4A4D-99D3-A71DE5A39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9C296-620F-49E2-BFBF-4ED8A9E41BE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01731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8978C7-43BD-403E-B095-58840B98D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C698D2A-79EA-4410-B6B0-4519BE16F8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F9E8B4F-62D3-4FC4-9A3F-6963681A51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8E61AB8-18B3-4F90-9D3F-415FAB389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33741-F9CF-4D07-A01B-20C54C2FE651}" type="datetimeFigureOut">
              <a:rPr lang="es-MX" smtClean="0"/>
              <a:t>11/06/2026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4DCB8A6-51A5-4108-996C-4992B8458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70D6EF2-211C-49A6-A70B-82EF1B4CC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9C296-620F-49E2-BFBF-4ED8A9E41BE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57899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84D9D4-57A2-4561-8BA1-719B1B3D9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3D241B9-61A5-467D-BFED-FC25737E7D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A8B4E33-B90C-44E6-A78A-B781135165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02ECD49-0C47-4332-B3D6-430558FD00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13DA1AE-875D-4546-BD77-62F1BA37B1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79060F6-9DFF-44A1-9533-E860DFCC8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33741-F9CF-4D07-A01B-20C54C2FE651}" type="datetimeFigureOut">
              <a:rPr lang="es-MX" smtClean="0"/>
              <a:t>11/06/2026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6236608-536C-4A25-B04F-96706DF63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2131ACC-BC36-48EC-86C7-8982A0752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9C296-620F-49E2-BFBF-4ED8A9E41BE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3794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675E06-1447-4268-8A39-276C6FA83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E839883-4DFE-4A11-9F9B-FE28C326F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33741-F9CF-4D07-A01B-20C54C2FE651}" type="datetimeFigureOut">
              <a:rPr lang="es-MX" smtClean="0"/>
              <a:t>11/06/2026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E2DBFB9-00B3-4D49-8CC7-F6466482D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CFFDD0E-0110-41F0-981E-53642558A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9C296-620F-49E2-BFBF-4ED8A9E41BE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01264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C5B237A-8BB4-4406-B8E8-44D5BCBCA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33741-F9CF-4D07-A01B-20C54C2FE651}" type="datetimeFigureOut">
              <a:rPr lang="es-MX" smtClean="0"/>
              <a:t>11/06/2026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BF1715E-4759-4E94-855D-D8122ED08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E66A6BA-C2C5-44E3-B690-33F6F5FD9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9C296-620F-49E2-BFBF-4ED8A9E41BE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86378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4F1A86-6332-41A1-BD2C-64E46ECC1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0E023F1-4A96-4CB5-B296-2752BD3C35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C31BD6B-A598-40F1-965A-C465E2F61C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25B17EE-8079-4885-8B95-57156518E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33741-F9CF-4D07-A01B-20C54C2FE651}" type="datetimeFigureOut">
              <a:rPr lang="es-MX" smtClean="0"/>
              <a:t>11/06/2026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A7B4BA8-936C-4275-84E7-D76898CC1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72BC19C-8CE1-4D27-B56F-617FD56AF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9C296-620F-49E2-BFBF-4ED8A9E41BE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84428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4E65B4-D39D-4C2E-B6C5-DFEF87355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2F20CB8-5870-4603-AB7F-CA8FD7AD26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CC6A857-3BBB-482D-B247-04FB3D4C67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00A7D66-5B45-4440-B96F-9D510385F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33741-F9CF-4D07-A01B-20C54C2FE651}" type="datetimeFigureOut">
              <a:rPr lang="es-MX" smtClean="0"/>
              <a:t>11/06/2026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EC3CFE5-F7A9-44A3-86AE-061F29DDD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0DBE679-08A7-4869-B0BF-4F4D7F3CE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9C296-620F-49E2-BFBF-4ED8A9E41BE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72291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7AB456-3087-4F37-8A87-0EAFB86DD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6189410-9D52-497D-905F-5128DE7F72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F1FEA28-0732-45E9-A0F8-DBBBB2197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33741-F9CF-4D07-A01B-20C54C2FE651}" type="datetimeFigureOut">
              <a:rPr lang="es-MX" smtClean="0"/>
              <a:t>11/06/2026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FC36205-8FA2-4FEC-815C-A96AC15B7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1BA243-7B90-403A-B9A6-138C400A2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9C296-620F-49E2-BFBF-4ED8A9E41BE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73410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4506CC8-15FC-4726-B508-C8A53F50AA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D952A83-CD49-46BD-B634-0261CB2B49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2214059-87BA-4EBF-8DB5-44ACB37DB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33741-F9CF-4D07-A01B-20C54C2FE651}" type="datetimeFigureOut">
              <a:rPr lang="es-MX" smtClean="0"/>
              <a:t>11/06/2026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CFDBD6-8CA3-49E4-BC31-D35D3079B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8EC67D1-9779-4696-86A8-432BFB543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9C296-620F-49E2-BFBF-4ED8A9E41BE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30394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9E7D8E-0815-4174-9CC2-A4D88CE5E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F5AB6FA-5544-474D-8192-D019E31892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52EDBDD-63AE-4C57-A004-D699D7CD6E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F33741-F9CF-4D07-A01B-20C54C2FE651}" type="datetimeFigureOut">
              <a:rPr lang="es-MX" smtClean="0"/>
              <a:t>11/06/2026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F70614E-843C-490E-818B-6FE3DA9637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E78DD7B-9A6F-46C8-BD30-B63B4DB849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B9C296-620F-49E2-BFBF-4ED8A9E41BE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70019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tm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angular.dev/guide/components/standalone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ngular.dev/guide/http/making-requests" TargetMode="External"/><Relationship Id="rId5" Type="http://schemas.openxmlformats.org/officeDocument/2006/relationships/hyperlink" Target="https://developer.mozilla.org/es/docs/Web/HTTP/CORS" TargetMode="External"/><Relationship Id="rId4" Type="http://schemas.openxmlformats.org/officeDocument/2006/relationships/hyperlink" Target="https://spring.io/guides/gs/rest-service-cor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1.png" descr="Resultado de imagen de fondos png">
            <a:extLst>
              <a:ext uri="{FF2B5EF4-FFF2-40B4-BE49-F238E27FC236}">
                <a16:creationId xmlns:a16="http://schemas.microsoft.com/office/drawing/2014/main" id="{ADF88253-865B-47EC-A7E5-D8C9101E0B4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9105" cy="6858000"/>
          </a:xfrm>
          <a:prstGeom prst="rect">
            <a:avLst/>
          </a:prstGeom>
        </p:spPr>
      </p:pic>
      <p:pic>
        <p:nvPicPr>
          <p:cNvPr id="5" name="image1.png" descr="Resultado de imagen de fondos png">
            <a:extLst>
              <a:ext uri="{FF2B5EF4-FFF2-40B4-BE49-F238E27FC236}">
                <a16:creationId xmlns:a16="http://schemas.microsoft.com/office/drawing/2014/main" id="{B4918E82-7A5B-4284-BA49-A7E12F7D120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63375" y="0"/>
            <a:ext cx="459105" cy="6858000"/>
          </a:xfrm>
          <a:prstGeom prst="rect">
            <a:avLst/>
          </a:prstGeom>
        </p:spPr>
      </p:pic>
      <p:pic>
        <p:nvPicPr>
          <p:cNvPr id="6" name="image1.png" descr="Resultado de imagen de fondos png">
            <a:extLst>
              <a:ext uri="{FF2B5EF4-FFF2-40B4-BE49-F238E27FC236}">
                <a16:creationId xmlns:a16="http://schemas.microsoft.com/office/drawing/2014/main" id="{A1AB415F-6170-4547-AF25-5F154A5A992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 rot="5400000">
            <a:off x="5991701" y="-5762150"/>
            <a:ext cx="247651" cy="11771951"/>
          </a:xfrm>
          <a:prstGeom prst="rect">
            <a:avLst/>
          </a:prstGeom>
        </p:spPr>
      </p:pic>
      <p:pic>
        <p:nvPicPr>
          <p:cNvPr id="7" name="image1.png" descr="Resultado de imagen de fondos png">
            <a:extLst>
              <a:ext uri="{FF2B5EF4-FFF2-40B4-BE49-F238E27FC236}">
                <a16:creationId xmlns:a16="http://schemas.microsoft.com/office/drawing/2014/main" id="{24875C65-5A98-4DFC-8737-01C536BAC73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 rot="5400000">
            <a:off x="5972174" y="848199"/>
            <a:ext cx="247651" cy="11771951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633F3B5A-AFEC-40C0-8F93-4E0AFBF6F840}"/>
              </a:ext>
            </a:extLst>
          </p:cNvPr>
          <p:cNvSpPr txBox="1"/>
          <p:nvPr/>
        </p:nvSpPr>
        <p:spPr>
          <a:xfrm>
            <a:off x="944880" y="1249493"/>
            <a:ext cx="10668000" cy="52186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6000"/>
              </a:lnSpc>
              <a:spcAft>
                <a:spcPts val="800"/>
              </a:spcAft>
            </a:pPr>
            <a:r>
              <a:rPr lang="es-MX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Instituto Tecnológico de Frontera Comalapa</a:t>
            </a:r>
          </a:p>
          <a:p>
            <a:pPr algn="ctr">
              <a:lnSpc>
                <a:spcPct val="106000"/>
              </a:lnSpc>
              <a:spcAft>
                <a:spcPts val="800"/>
              </a:spcAft>
            </a:pPr>
            <a:r>
              <a:rPr lang="es-MX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Modalidad Mixta</a:t>
            </a:r>
            <a:endParaRPr lang="es-MX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6000"/>
              </a:lnSpc>
              <a:spcAft>
                <a:spcPts val="800"/>
              </a:spcAft>
            </a:pPr>
            <a:r>
              <a:rPr lang="es-MX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s-MX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6000"/>
              </a:lnSpc>
              <a:spcAft>
                <a:spcPts val="800"/>
              </a:spcAft>
            </a:pPr>
            <a:r>
              <a:rPr lang="es-MX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Materia: </a:t>
            </a:r>
            <a:r>
              <a:rPr lang="es-MX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Administración de Base de Datos</a:t>
            </a:r>
            <a:endParaRPr lang="es-MX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6000"/>
              </a:lnSpc>
              <a:spcAft>
                <a:spcPts val="800"/>
              </a:spcAft>
            </a:pPr>
            <a:r>
              <a:rPr lang="es-MX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Semestre:  </a:t>
            </a:r>
            <a:r>
              <a:rPr lang="es-MX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Sexto semestre </a:t>
            </a:r>
            <a:endParaRPr lang="es-MX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6000"/>
              </a:lnSpc>
              <a:spcAft>
                <a:spcPts val="800"/>
              </a:spcAft>
            </a:pPr>
            <a:r>
              <a:rPr lang="es-MX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Especialidad: </a:t>
            </a:r>
            <a:r>
              <a:rPr lang="es-MX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Ingeniería en Sistemas Computacionales.</a:t>
            </a:r>
            <a:endParaRPr lang="es-MX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6000"/>
              </a:lnSpc>
              <a:spcAft>
                <a:spcPts val="800"/>
              </a:spcAft>
            </a:pPr>
            <a:r>
              <a:rPr lang="es-MX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Numero de control:</a:t>
            </a:r>
            <a:r>
              <a:rPr lang="es-MX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231260008</a:t>
            </a:r>
            <a:endParaRPr lang="es-MX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6000"/>
              </a:lnSpc>
              <a:spcAft>
                <a:spcPts val="800"/>
              </a:spcAft>
            </a:pPr>
            <a:r>
              <a:rPr lang="es-MX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Nombre del alumno:</a:t>
            </a:r>
            <a:r>
              <a:rPr lang="es-MX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Vanni Gutiérrez Pérez</a:t>
            </a:r>
            <a:endParaRPr lang="es-MX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6000"/>
              </a:lnSpc>
              <a:spcAft>
                <a:spcPts val="800"/>
              </a:spcAft>
            </a:pPr>
            <a:r>
              <a:rPr lang="es-MX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Nombre del docente:</a:t>
            </a:r>
            <a:r>
              <a:rPr lang="es-MX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Francisco Javier Mingo Velázquez</a:t>
            </a:r>
            <a:endParaRPr lang="es-MX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s-MX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Nombre del trabajo: </a:t>
            </a:r>
            <a:r>
              <a:rPr lang="es-MX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Banco de Ejercicios:</a:t>
            </a:r>
            <a:r>
              <a:rPr lang="es-ES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Consumir Microservicios en Angular</a:t>
            </a: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06000"/>
              </a:lnSpc>
              <a:spcAft>
                <a:spcPts val="800"/>
              </a:spcAft>
            </a:pPr>
            <a:endParaRPr lang="es-MX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6000"/>
              </a:lnSpc>
              <a:spcAft>
                <a:spcPts val="800"/>
              </a:spcAft>
            </a:pPr>
            <a:r>
              <a:rPr lang="es-MX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Fecha de entrega</a:t>
            </a:r>
            <a:r>
              <a:rPr lang="es-MX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s-MX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6000"/>
              </a:lnSpc>
              <a:spcAft>
                <a:spcPts val="800"/>
              </a:spcAft>
            </a:pPr>
            <a:r>
              <a:rPr lang="es-MX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Bella Vista, Chiapas a 11 de junio </a:t>
            </a:r>
            <a:r>
              <a:rPr lang="es-MX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del 2026</a:t>
            </a:r>
            <a:endParaRPr lang="es-MX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image2.png">
            <a:extLst>
              <a:ext uri="{FF2B5EF4-FFF2-40B4-BE49-F238E27FC236}">
                <a16:creationId xmlns:a16="http://schemas.microsoft.com/office/drawing/2014/main" id="{C530A503-595F-4484-BDAD-B0E49C5BE2DD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0940" y="509349"/>
            <a:ext cx="2528570" cy="566420"/>
          </a:xfrm>
          <a:prstGeom prst="rect">
            <a:avLst/>
          </a:prstGeom>
        </p:spPr>
      </p:pic>
      <p:pic>
        <p:nvPicPr>
          <p:cNvPr id="10" name="image3.png">
            <a:extLst>
              <a:ext uri="{FF2B5EF4-FFF2-40B4-BE49-F238E27FC236}">
                <a16:creationId xmlns:a16="http://schemas.microsoft.com/office/drawing/2014/main" id="{9257A986-D344-4C09-A410-5B24351FDFDD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2615" y="261805"/>
            <a:ext cx="1755140" cy="859155"/>
          </a:xfrm>
          <a:prstGeom prst="rect">
            <a:avLst/>
          </a:prstGeom>
        </p:spPr>
      </p:pic>
      <p:pic>
        <p:nvPicPr>
          <p:cNvPr id="11" name="image4.jpeg">
            <a:extLst>
              <a:ext uri="{FF2B5EF4-FFF2-40B4-BE49-F238E27FC236}">
                <a16:creationId xmlns:a16="http://schemas.microsoft.com/office/drawing/2014/main" id="{09C089BE-883F-41F0-A2C0-16298D0B23F9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8278495" y="279623"/>
            <a:ext cx="1178560" cy="86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877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1.png" descr="Resultado de imagen de fondos png">
            <a:extLst>
              <a:ext uri="{FF2B5EF4-FFF2-40B4-BE49-F238E27FC236}">
                <a16:creationId xmlns:a16="http://schemas.microsoft.com/office/drawing/2014/main" id="{ADF88253-865B-47EC-A7E5-D8C9101E0B4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459105" cy="6858000"/>
          </a:xfrm>
          <a:prstGeom prst="rect">
            <a:avLst/>
          </a:prstGeom>
        </p:spPr>
      </p:pic>
      <p:pic>
        <p:nvPicPr>
          <p:cNvPr id="5" name="image1.png" descr="Resultado de imagen de fondos png">
            <a:extLst>
              <a:ext uri="{FF2B5EF4-FFF2-40B4-BE49-F238E27FC236}">
                <a16:creationId xmlns:a16="http://schemas.microsoft.com/office/drawing/2014/main" id="{B4918E82-7A5B-4284-BA49-A7E12F7D120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763375" y="0"/>
            <a:ext cx="459105" cy="6858000"/>
          </a:xfrm>
          <a:prstGeom prst="rect">
            <a:avLst/>
          </a:prstGeom>
        </p:spPr>
      </p:pic>
      <p:pic>
        <p:nvPicPr>
          <p:cNvPr id="6" name="image1.png" descr="Resultado de imagen de fondos png">
            <a:extLst>
              <a:ext uri="{FF2B5EF4-FFF2-40B4-BE49-F238E27FC236}">
                <a16:creationId xmlns:a16="http://schemas.microsoft.com/office/drawing/2014/main" id="{A1AB415F-6170-4547-AF25-5F154A5A992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 rot="5400000">
            <a:off x="5991701" y="-5762150"/>
            <a:ext cx="247651" cy="11771951"/>
          </a:xfrm>
          <a:prstGeom prst="rect">
            <a:avLst/>
          </a:prstGeom>
        </p:spPr>
      </p:pic>
      <p:pic>
        <p:nvPicPr>
          <p:cNvPr id="7" name="image1.png" descr="Resultado de imagen de fondos png">
            <a:extLst>
              <a:ext uri="{FF2B5EF4-FFF2-40B4-BE49-F238E27FC236}">
                <a16:creationId xmlns:a16="http://schemas.microsoft.com/office/drawing/2014/main" id="{24875C65-5A98-4DFC-8737-01C536BAC73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 rot="5400000">
            <a:off x="5972174" y="914874"/>
            <a:ext cx="247651" cy="11771951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633F3B5A-AFEC-40C0-8F93-4E0AFBF6F840}"/>
              </a:ext>
            </a:extLst>
          </p:cNvPr>
          <p:cNvSpPr txBox="1"/>
          <p:nvPr/>
        </p:nvSpPr>
        <p:spPr>
          <a:xfrm>
            <a:off x="1809785" y="999033"/>
            <a:ext cx="9360660" cy="4315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s-MX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Introducción ------------------------------------------------------------------------------------------ 3</a:t>
            </a:r>
          </a:p>
          <a:p>
            <a:pPr>
              <a:lnSpc>
                <a:spcPct val="115000"/>
              </a:lnSpc>
            </a:pPr>
            <a:endParaRPr lang="es-MX" sz="1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</a:pPr>
            <a:r>
              <a:rPr lang="es-MX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Justificación ------------------------------------------------------------------------------------------ 4</a:t>
            </a:r>
          </a:p>
          <a:p>
            <a:pPr>
              <a:lnSpc>
                <a:spcPct val="115000"/>
              </a:lnSpc>
            </a:pPr>
            <a:endParaRPr lang="es-MX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</a:pPr>
            <a:r>
              <a:rPr lang="es-E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Guía de Encendido y Verificación del Ecosistema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----------------------------------------- 5</a:t>
            </a:r>
          </a:p>
          <a:p>
            <a:pPr>
              <a:lnSpc>
                <a:spcPct val="115000"/>
              </a:lnSpc>
            </a:pPr>
            <a:endParaRPr lang="es-MX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</a:pPr>
            <a:r>
              <a:rPr lang="es-E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Fase de Preparación: Depuración de las Bases de Datos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------------------------------- 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  <a:endParaRPr lang="es-MX" sz="1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</a:pPr>
            <a:endParaRPr lang="es-E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</a:pPr>
            <a:r>
              <a:rPr lang="es-E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Ejercicios Operativos CRUD: Módulo de Cursos (</a:t>
            </a:r>
            <a:r>
              <a:rPr lang="es-ES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Postgresql</a:t>
            </a:r>
            <a:r>
              <a:rPr lang="es-E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------------------------ 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  <a:endParaRPr lang="es-MX" sz="1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</a:pPr>
            <a:endParaRPr lang="es-E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</a:pPr>
            <a:r>
              <a:rPr lang="es-E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Ejercicios Operativos CRUD: Módulo de Estudiantes (MySQL)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----------------------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21</a:t>
            </a:r>
            <a:endParaRPr lang="es-MX" sz="1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</a:pPr>
            <a:endParaRPr lang="es-MX" sz="1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</a:pPr>
            <a:r>
              <a:rPr lang="es-MX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Conclusión ------------------------------------------------------------------------------------------   31</a:t>
            </a:r>
          </a:p>
          <a:p>
            <a:pPr>
              <a:lnSpc>
                <a:spcPct val="115000"/>
              </a:lnSpc>
            </a:pPr>
            <a:endParaRPr lang="es-MX" sz="1600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</a:pPr>
            <a:r>
              <a:rPr lang="es-MX" sz="1600" dirty="0">
                <a:latin typeface="Arial" panose="020B0604020202020204" pitchFamily="34" charset="0"/>
                <a:ea typeface="Arial" panose="020B0604020202020204" pitchFamily="34" charset="0"/>
              </a:rPr>
              <a:t>Fuentes Consultadas ------</a:t>
            </a:r>
            <a:r>
              <a:rPr lang="es-MX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-----------------------------------------------------------------------  </a:t>
            </a:r>
            <a:r>
              <a:rPr lang="es-MX" sz="1600" dirty="0">
                <a:latin typeface="Arial" panose="020B0604020202020204" pitchFamily="34" charset="0"/>
                <a:ea typeface="Arial" panose="020B0604020202020204" pitchFamily="34" charset="0"/>
              </a:rPr>
              <a:t>32</a:t>
            </a:r>
            <a:endParaRPr lang="es-MX" sz="1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FC991EB5-EFA7-4406-99AA-FC1D06252384}"/>
              </a:ext>
            </a:extLst>
          </p:cNvPr>
          <p:cNvSpPr/>
          <p:nvPr/>
        </p:nvSpPr>
        <p:spPr>
          <a:xfrm>
            <a:off x="5324475" y="212672"/>
            <a:ext cx="1000125" cy="24765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ÍNDICE</a:t>
            </a:r>
            <a:endParaRPr lang="es-MX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2054029B-F9D5-4F36-8DCB-C5E82D3E1736}"/>
              </a:ext>
            </a:extLst>
          </p:cNvPr>
          <p:cNvSpPr/>
          <p:nvPr/>
        </p:nvSpPr>
        <p:spPr>
          <a:xfrm>
            <a:off x="4949189" y="105703"/>
            <a:ext cx="441960" cy="43434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MX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1F2CF5EC-2601-4FF9-96AE-945D03F8AA8C}"/>
              </a:ext>
            </a:extLst>
          </p:cNvPr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679"/>
          <a:stretch/>
        </p:blipFill>
        <p:spPr bwMode="auto">
          <a:xfrm rot="10800000">
            <a:off x="5001894" y="237761"/>
            <a:ext cx="341630" cy="20701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852381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1.png" descr="Resultado de imagen de fondos png">
            <a:extLst>
              <a:ext uri="{FF2B5EF4-FFF2-40B4-BE49-F238E27FC236}">
                <a16:creationId xmlns:a16="http://schemas.microsoft.com/office/drawing/2014/main" id="{ADF88253-865B-47EC-A7E5-D8C9101E0B4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9105" cy="6858000"/>
          </a:xfrm>
          <a:prstGeom prst="rect">
            <a:avLst/>
          </a:prstGeom>
        </p:spPr>
      </p:pic>
      <p:pic>
        <p:nvPicPr>
          <p:cNvPr id="5" name="image1.png" descr="Resultado de imagen de fondos png">
            <a:extLst>
              <a:ext uri="{FF2B5EF4-FFF2-40B4-BE49-F238E27FC236}">
                <a16:creationId xmlns:a16="http://schemas.microsoft.com/office/drawing/2014/main" id="{B4918E82-7A5B-4284-BA49-A7E12F7D120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63375" y="0"/>
            <a:ext cx="459105" cy="6858000"/>
          </a:xfrm>
          <a:prstGeom prst="rect">
            <a:avLst/>
          </a:prstGeom>
        </p:spPr>
      </p:pic>
      <p:pic>
        <p:nvPicPr>
          <p:cNvPr id="6" name="image1.png" descr="Resultado de imagen de fondos png">
            <a:extLst>
              <a:ext uri="{FF2B5EF4-FFF2-40B4-BE49-F238E27FC236}">
                <a16:creationId xmlns:a16="http://schemas.microsoft.com/office/drawing/2014/main" id="{A1AB415F-6170-4547-AF25-5F154A5A992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 rot="5400000">
            <a:off x="5991701" y="-5762150"/>
            <a:ext cx="247651" cy="11771951"/>
          </a:xfrm>
          <a:prstGeom prst="rect">
            <a:avLst/>
          </a:prstGeom>
        </p:spPr>
      </p:pic>
      <p:pic>
        <p:nvPicPr>
          <p:cNvPr id="7" name="image1.png" descr="Resultado de imagen de fondos png">
            <a:extLst>
              <a:ext uri="{FF2B5EF4-FFF2-40B4-BE49-F238E27FC236}">
                <a16:creationId xmlns:a16="http://schemas.microsoft.com/office/drawing/2014/main" id="{24875C65-5A98-4DFC-8737-01C536BAC73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 rot="5400000">
            <a:off x="5972174" y="848199"/>
            <a:ext cx="247651" cy="11771951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633F3B5A-AFEC-40C0-8F93-4E0AFBF6F840}"/>
              </a:ext>
            </a:extLst>
          </p:cNvPr>
          <p:cNvSpPr txBox="1"/>
          <p:nvPr/>
        </p:nvSpPr>
        <p:spPr>
          <a:xfrm>
            <a:off x="1415669" y="1126599"/>
            <a:ext cx="936066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Una vez que la interfaz gráfica en Angular 19 y la arquitectura de microservicios en Spring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Boot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están correctamente configuradas y acopladas, es necesario validar la integridad del sistema mediante pruebas de estrés operacional. Este reporte detalla la ejecución de un ciclo completo de pruebas CRUD (Crear, Consultar, Actualizar y Borrar).</a:t>
            </a:r>
          </a:p>
          <a:p>
            <a:pPr algn="just"/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El objetivo es demostrar el comportamiento asíncrono y la persistencia de datos en un entorno distribuido, simulando un escenario desde cero para observar cómo interactúan el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frontend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, el API Gateway, los microservicios y los motores de bases de datos independientes.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FC991EB5-EFA7-4406-99AA-FC1D06252384}"/>
              </a:ext>
            </a:extLst>
          </p:cNvPr>
          <p:cNvSpPr/>
          <p:nvPr/>
        </p:nvSpPr>
        <p:spPr>
          <a:xfrm>
            <a:off x="5324475" y="467315"/>
            <a:ext cx="1943100" cy="25525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INTRODUCCIÓN</a:t>
            </a:r>
            <a:endParaRPr lang="es-MX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2054029B-F9D5-4F36-8DCB-C5E82D3E1736}"/>
              </a:ext>
            </a:extLst>
          </p:cNvPr>
          <p:cNvSpPr/>
          <p:nvPr/>
        </p:nvSpPr>
        <p:spPr>
          <a:xfrm>
            <a:off x="4949189" y="383496"/>
            <a:ext cx="441960" cy="43434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MX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2C17DC6D-AD33-4EC2-A83F-22DC0FDFBF8E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5870" y="445737"/>
            <a:ext cx="268605" cy="3060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97710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1.png" descr="Resultado de imagen de fondos png">
            <a:extLst>
              <a:ext uri="{FF2B5EF4-FFF2-40B4-BE49-F238E27FC236}">
                <a16:creationId xmlns:a16="http://schemas.microsoft.com/office/drawing/2014/main" id="{ADF88253-865B-47EC-A7E5-D8C9101E0B4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9105" cy="6858000"/>
          </a:xfrm>
          <a:prstGeom prst="rect">
            <a:avLst/>
          </a:prstGeom>
        </p:spPr>
      </p:pic>
      <p:pic>
        <p:nvPicPr>
          <p:cNvPr id="5" name="image1.png" descr="Resultado de imagen de fondos png">
            <a:extLst>
              <a:ext uri="{FF2B5EF4-FFF2-40B4-BE49-F238E27FC236}">
                <a16:creationId xmlns:a16="http://schemas.microsoft.com/office/drawing/2014/main" id="{B4918E82-7A5B-4284-BA49-A7E12F7D120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63375" y="0"/>
            <a:ext cx="459105" cy="6858000"/>
          </a:xfrm>
          <a:prstGeom prst="rect">
            <a:avLst/>
          </a:prstGeom>
        </p:spPr>
      </p:pic>
      <p:pic>
        <p:nvPicPr>
          <p:cNvPr id="6" name="image1.png" descr="Resultado de imagen de fondos png">
            <a:extLst>
              <a:ext uri="{FF2B5EF4-FFF2-40B4-BE49-F238E27FC236}">
                <a16:creationId xmlns:a16="http://schemas.microsoft.com/office/drawing/2014/main" id="{A1AB415F-6170-4547-AF25-5F154A5A992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 rot="5400000">
            <a:off x="5991701" y="-5762150"/>
            <a:ext cx="247651" cy="11771951"/>
          </a:xfrm>
          <a:prstGeom prst="rect">
            <a:avLst/>
          </a:prstGeom>
        </p:spPr>
      </p:pic>
      <p:pic>
        <p:nvPicPr>
          <p:cNvPr id="7" name="image1.png" descr="Resultado de imagen de fondos png">
            <a:extLst>
              <a:ext uri="{FF2B5EF4-FFF2-40B4-BE49-F238E27FC236}">
                <a16:creationId xmlns:a16="http://schemas.microsoft.com/office/drawing/2014/main" id="{24875C65-5A98-4DFC-8737-01C536BAC73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 rot="5400000">
            <a:off x="5972174" y="848199"/>
            <a:ext cx="247651" cy="11771951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633F3B5A-AFEC-40C0-8F93-4E0AFBF6F840}"/>
              </a:ext>
            </a:extLst>
          </p:cNvPr>
          <p:cNvSpPr txBox="1"/>
          <p:nvPr/>
        </p:nvSpPr>
        <p:spPr>
          <a:xfrm>
            <a:off x="933450" y="965582"/>
            <a:ext cx="1045845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Las pruebas funcionales con flujos secuenciales son indispensables para garantizar que las reglas de negocio se cumplan en sistemas distribuidos. Ejecutar estos ejercicios se justifica por las siguientes razones:</a:t>
            </a:r>
          </a:p>
          <a:p>
            <a:pPr algn="just"/>
            <a:endParaRPr lang="es-ES" sz="20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Validación de consistencia: Asegura que una acción en el </a:t>
            </a:r>
            <a:r>
              <a:rPr lang="es-ES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frontend</a:t>
            </a:r>
            <a:r>
              <a:rPr lang="es-E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impacte de forma inmediata en los contenedores correspondientes de la base de datos sin corromper la información.</a:t>
            </a:r>
          </a:p>
          <a:p>
            <a:pPr algn="just"/>
            <a:endParaRPr lang="es-ES" sz="20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Prueba de concurrencia y flujo: Al seguir un orden lógico (buscar - crear - verificar - editar), se comprueba la estabilidad del renderizado reactivo y de las consultas asíncronas bajo la carga del usuario.</a:t>
            </a:r>
          </a:p>
          <a:p>
            <a:pPr algn="just"/>
            <a:endParaRPr lang="es-ES" sz="20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Simulación de entornos reales: Arrancar el sistema en un estado limpio permite documentar el comportamiento de los manejadores de excepciones y las respuestas de "registro no encontrado" integradas en la interfaz.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FC991EB5-EFA7-4406-99AA-FC1D06252384}"/>
              </a:ext>
            </a:extLst>
          </p:cNvPr>
          <p:cNvSpPr/>
          <p:nvPr/>
        </p:nvSpPr>
        <p:spPr>
          <a:xfrm>
            <a:off x="5324475" y="467315"/>
            <a:ext cx="1943100" cy="25525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JUSTIFICACIÓN</a:t>
            </a:r>
            <a:endParaRPr lang="es-MX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2054029B-F9D5-4F36-8DCB-C5E82D3E1736}"/>
              </a:ext>
            </a:extLst>
          </p:cNvPr>
          <p:cNvSpPr/>
          <p:nvPr/>
        </p:nvSpPr>
        <p:spPr>
          <a:xfrm>
            <a:off x="4949189" y="383496"/>
            <a:ext cx="441960" cy="43434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MX"/>
          </a:p>
        </p:txBody>
      </p:sp>
      <p:pic>
        <p:nvPicPr>
          <p:cNvPr id="10" name="Imagen 9" descr="izquierda justificación vector icono 40666057 Vector en Vecteezy">
            <a:extLst>
              <a:ext uri="{FF2B5EF4-FFF2-40B4-BE49-F238E27FC236}">
                <a16:creationId xmlns:a16="http://schemas.microsoft.com/office/drawing/2014/main" id="{F0F57F88-E129-4891-A963-DB2F9355C49A}"/>
              </a:ext>
            </a:extLst>
          </p:cNvPr>
          <p:cNvPicPr/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698" b="42281" l="58880" r="95431">
                        <a14:foregroundMark x1="70074" y1="9481" x2="68963" y2="6889"/>
                        <a14:foregroundMark x1="88148" y1="8741" x2="86889" y2="8000"/>
                        <a14:foregroundMark x1="71481" y1="20148" x2="73185" y2="20148"/>
                        <a14:foregroundMark x1="72667" y1="25778" x2="75259" y2="25778"/>
                        <a14:foregroundMark x1="72074" y1="31259" x2="74519" y2="31259"/>
                        <a14:foregroundMark x1="70444" y1="36296" x2="71333" y2="36444"/>
                        <a14:foregroundMark x1="82963" y1="36815" x2="82963" y2="357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5258" b="53021"/>
          <a:stretch/>
        </p:blipFill>
        <p:spPr bwMode="auto">
          <a:xfrm>
            <a:off x="4975541" y="419035"/>
            <a:ext cx="370205" cy="38862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055925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1.png" descr="Resultado de imagen de fondos png">
            <a:extLst>
              <a:ext uri="{FF2B5EF4-FFF2-40B4-BE49-F238E27FC236}">
                <a16:creationId xmlns:a16="http://schemas.microsoft.com/office/drawing/2014/main" id="{ADF88253-865B-47EC-A7E5-D8C9101E0B4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9105" cy="6858000"/>
          </a:xfrm>
          <a:prstGeom prst="rect">
            <a:avLst/>
          </a:prstGeom>
        </p:spPr>
      </p:pic>
      <p:pic>
        <p:nvPicPr>
          <p:cNvPr id="5" name="image1.png" descr="Resultado de imagen de fondos png">
            <a:extLst>
              <a:ext uri="{FF2B5EF4-FFF2-40B4-BE49-F238E27FC236}">
                <a16:creationId xmlns:a16="http://schemas.microsoft.com/office/drawing/2014/main" id="{B4918E82-7A5B-4284-BA49-A7E12F7D120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63375" y="0"/>
            <a:ext cx="459105" cy="6858000"/>
          </a:xfrm>
          <a:prstGeom prst="rect">
            <a:avLst/>
          </a:prstGeom>
        </p:spPr>
      </p:pic>
      <p:pic>
        <p:nvPicPr>
          <p:cNvPr id="6" name="image1.png" descr="Resultado de imagen de fondos png">
            <a:extLst>
              <a:ext uri="{FF2B5EF4-FFF2-40B4-BE49-F238E27FC236}">
                <a16:creationId xmlns:a16="http://schemas.microsoft.com/office/drawing/2014/main" id="{A1AB415F-6170-4547-AF25-5F154A5A992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 rot="5400000">
            <a:off x="5991701" y="-5762150"/>
            <a:ext cx="247651" cy="11771951"/>
          </a:xfrm>
          <a:prstGeom prst="rect">
            <a:avLst/>
          </a:prstGeom>
        </p:spPr>
      </p:pic>
      <p:pic>
        <p:nvPicPr>
          <p:cNvPr id="7" name="image1.png" descr="Resultado de imagen de fondos png">
            <a:extLst>
              <a:ext uri="{FF2B5EF4-FFF2-40B4-BE49-F238E27FC236}">
                <a16:creationId xmlns:a16="http://schemas.microsoft.com/office/drawing/2014/main" id="{24875C65-5A98-4DFC-8737-01C536BAC73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 rot="5400000">
            <a:off x="5972174" y="848199"/>
            <a:ext cx="247651" cy="11771951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633F3B5A-AFEC-40C0-8F93-4E0AFBF6F840}"/>
              </a:ext>
            </a:extLst>
          </p:cNvPr>
          <p:cNvSpPr txBox="1"/>
          <p:nvPr/>
        </p:nvSpPr>
        <p:spPr>
          <a:xfrm>
            <a:off x="542925" y="754959"/>
            <a:ext cx="1109662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 garantizar que los microservicios no truenen al iniciar, el ecosistema se debe encender en un orden jerárquico estricto (de abajo hacia arriba). Esto se debe a que los servicios de lógica de negocio dependen de que la red de datos y los servidores de soporte centralizados ya estén activos para poder leer sus configuraciones y registrarse en la red distribuida.</a:t>
            </a:r>
          </a:p>
          <a:p>
            <a:pPr algn="just"/>
            <a:endParaRPr lang="es-ES" sz="20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Pasos para levantar el sistema:</a:t>
            </a:r>
          </a:p>
          <a:p>
            <a:pPr algn="just"/>
            <a:r>
              <a:rPr lang="es-E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Docker Desktop: Se encienden los contenedores de las bases de datos (</a:t>
            </a:r>
            <a:r>
              <a:rPr lang="es-ES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vannimysql</a:t>
            </a:r>
            <a:r>
              <a:rPr lang="es-E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s-ES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vannipostgres</a:t>
            </a:r>
            <a:r>
              <a:rPr lang="es-E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FC991EB5-EFA7-4406-99AA-FC1D06252384}"/>
              </a:ext>
            </a:extLst>
          </p:cNvPr>
          <p:cNvSpPr/>
          <p:nvPr/>
        </p:nvSpPr>
        <p:spPr>
          <a:xfrm>
            <a:off x="2705100" y="419689"/>
            <a:ext cx="6848475" cy="34479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E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Guía de Encendido y Verificación del Ecosistema</a:t>
            </a:r>
            <a:endParaRPr lang="es-MX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2054029B-F9D5-4F36-8DCB-C5E82D3E1736}"/>
              </a:ext>
            </a:extLst>
          </p:cNvPr>
          <p:cNvSpPr/>
          <p:nvPr/>
        </p:nvSpPr>
        <p:spPr>
          <a:xfrm>
            <a:off x="2413635" y="377770"/>
            <a:ext cx="441960" cy="43434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MX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4158DC9-44BC-4E73-9EC1-72518A8C48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424" y="3934219"/>
            <a:ext cx="10334625" cy="683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866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1.png" descr="Resultado de imagen de fondos png">
            <a:extLst>
              <a:ext uri="{FF2B5EF4-FFF2-40B4-BE49-F238E27FC236}">
                <a16:creationId xmlns:a16="http://schemas.microsoft.com/office/drawing/2014/main" id="{ADF88253-865B-47EC-A7E5-D8C9101E0B4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9105" cy="6858000"/>
          </a:xfrm>
          <a:prstGeom prst="rect">
            <a:avLst/>
          </a:prstGeom>
        </p:spPr>
      </p:pic>
      <p:pic>
        <p:nvPicPr>
          <p:cNvPr id="5" name="image1.png" descr="Resultado de imagen de fondos png">
            <a:extLst>
              <a:ext uri="{FF2B5EF4-FFF2-40B4-BE49-F238E27FC236}">
                <a16:creationId xmlns:a16="http://schemas.microsoft.com/office/drawing/2014/main" id="{B4918E82-7A5B-4284-BA49-A7E12F7D120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63375" y="0"/>
            <a:ext cx="459105" cy="6858000"/>
          </a:xfrm>
          <a:prstGeom prst="rect">
            <a:avLst/>
          </a:prstGeom>
        </p:spPr>
      </p:pic>
      <p:pic>
        <p:nvPicPr>
          <p:cNvPr id="6" name="image1.png" descr="Resultado de imagen de fondos png">
            <a:extLst>
              <a:ext uri="{FF2B5EF4-FFF2-40B4-BE49-F238E27FC236}">
                <a16:creationId xmlns:a16="http://schemas.microsoft.com/office/drawing/2014/main" id="{A1AB415F-6170-4547-AF25-5F154A5A992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 rot="5400000">
            <a:off x="5991701" y="-5762150"/>
            <a:ext cx="247651" cy="11771951"/>
          </a:xfrm>
          <a:prstGeom prst="rect">
            <a:avLst/>
          </a:prstGeom>
        </p:spPr>
      </p:pic>
      <p:pic>
        <p:nvPicPr>
          <p:cNvPr id="7" name="image1.png" descr="Resultado de imagen de fondos png">
            <a:extLst>
              <a:ext uri="{FF2B5EF4-FFF2-40B4-BE49-F238E27FC236}">
                <a16:creationId xmlns:a16="http://schemas.microsoft.com/office/drawing/2014/main" id="{24875C65-5A98-4DFC-8737-01C536BAC73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 rot="5400000">
            <a:off x="5972174" y="848199"/>
            <a:ext cx="247651" cy="11771951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633F3B5A-AFEC-40C0-8F93-4E0AFBF6F840}"/>
              </a:ext>
            </a:extLst>
          </p:cNvPr>
          <p:cNvSpPr txBox="1"/>
          <p:nvPr/>
        </p:nvSpPr>
        <p:spPr>
          <a:xfrm>
            <a:off x="542925" y="754959"/>
            <a:ext cx="1109662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000" b="1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Config</a:t>
            </a:r>
            <a:r>
              <a:rPr lang="es-ES" sz="2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Server (IntelliJ): </a:t>
            </a:r>
            <a:r>
              <a:rPr lang="es-E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 arranca primero para que los demás servicios tengan de dónde leer sus archivos de propiedades </a:t>
            </a:r>
            <a:r>
              <a:rPr lang="es-ES" sz="2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s-ES" sz="2000" b="1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yml</a:t>
            </a:r>
            <a:r>
              <a:rPr lang="es-ES" sz="2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lang="es-ES" sz="2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s-ES" sz="2000" b="1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properties</a:t>
            </a:r>
            <a:r>
              <a:rPr lang="es-E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r>
              <a:rPr lang="es-ES" sz="2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Eureka Server (IntelliJ): </a:t>
            </a:r>
            <a:r>
              <a:rPr lang="es-E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 arranca segundo para activar el mapa de direccionamiento de la red.</a:t>
            </a:r>
          </a:p>
          <a:p>
            <a:pPr algn="just"/>
            <a:r>
              <a:rPr lang="es-ES" sz="2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API Gateway (IntelliJ): </a:t>
            </a:r>
            <a:r>
              <a:rPr lang="es-E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 levanta en el puerto 8080, conectándose al </a:t>
            </a:r>
            <a:r>
              <a:rPr lang="es-ES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Config</a:t>
            </a:r>
            <a:r>
              <a:rPr lang="es-E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Server y registrándose en Eureka.</a:t>
            </a:r>
          </a:p>
          <a:p>
            <a:pPr algn="just"/>
            <a:r>
              <a:rPr lang="es-ES" sz="2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Microservicios locales (Estudiantes y Cursos): </a:t>
            </a:r>
            <a:r>
              <a:rPr lang="es-E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 encienden al final en IntelliJ. Al arrancar, buscan automáticamente a Eureka para darse de alta en el sistema distribuido.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FC991EB5-EFA7-4406-99AA-FC1D06252384}"/>
              </a:ext>
            </a:extLst>
          </p:cNvPr>
          <p:cNvSpPr/>
          <p:nvPr/>
        </p:nvSpPr>
        <p:spPr>
          <a:xfrm>
            <a:off x="2705100" y="419689"/>
            <a:ext cx="6848475" cy="34479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E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Guía de Encendido y Verificación del Ecosistema</a:t>
            </a:r>
            <a:endParaRPr lang="es-MX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2054029B-F9D5-4F36-8DCB-C5E82D3E1736}"/>
              </a:ext>
            </a:extLst>
          </p:cNvPr>
          <p:cNvSpPr/>
          <p:nvPr/>
        </p:nvSpPr>
        <p:spPr>
          <a:xfrm>
            <a:off x="2413635" y="377770"/>
            <a:ext cx="441960" cy="43434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MX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2C89449-2DE4-43ED-9D7C-78E94922D3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6332" y="3548496"/>
            <a:ext cx="4963218" cy="2676899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C2522590-CB1E-4E03-8CED-2B1C387753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288" y="3635722"/>
            <a:ext cx="5687219" cy="246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9037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1.png" descr="Resultado de imagen de fondos png">
            <a:extLst>
              <a:ext uri="{FF2B5EF4-FFF2-40B4-BE49-F238E27FC236}">
                <a16:creationId xmlns:a16="http://schemas.microsoft.com/office/drawing/2014/main" id="{ADF88253-865B-47EC-A7E5-D8C9101E0B4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9105" cy="6858000"/>
          </a:xfrm>
          <a:prstGeom prst="rect">
            <a:avLst/>
          </a:prstGeom>
        </p:spPr>
      </p:pic>
      <p:pic>
        <p:nvPicPr>
          <p:cNvPr id="5" name="image1.png" descr="Resultado de imagen de fondos png">
            <a:extLst>
              <a:ext uri="{FF2B5EF4-FFF2-40B4-BE49-F238E27FC236}">
                <a16:creationId xmlns:a16="http://schemas.microsoft.com/office/drawing/2014/main" id="{B4918E82-7A5B-4284-BA49-A7E12F7D120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63375" y="0"/>
            <a:ext cx="459105" cy="6858000"/>
          </a:xfrm>
          <a:prstGeom prst="rect">
            <a:avLst/>
          </a:prstGeom>
        </p:spPr>
      </p:pic>
      <p:pic>
        <p:nvPicPr>
          <p:cNvPr id="6" name="image1.png" descr="Resultado de imagen de fondos png">
            <a:extLst>
              <a:ext uri="{FF2B5EF4-FFF2-40B4-BE49-F238E27FC236}">
                <a16:creationId xmlns:a16="http://schemas.microsoft.com/office/drawing/2014/main" id="{A1AB415F-6170-4547-AF25-5F154A5A992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 rot="5400000">
            <a:off x="5991701" y="-5762150"/>
            <a:ext cx="247651" cy="11771951"/>
          </a:xfrm>
          <a:prstGeom prst="rect">
            <a:avLst/>
          </a:prstGeom>
        </p:spPr>
      </p:pic>
      <p:pic>
        <p:nvPicPr>
          <p:cNvPr id="7" name="image1.png" descr="Resultado de imagen de fondos png">
            <a:extLst>
              <a:ext uri="{FF2B5EF4-FFF2-40B4-BE49-F238E27FC236}">
                <a16:creationId xmlns:a16="http://schemas.microsoft.com/office/drawing/2014/main" id="{24875C65-5A98-4DFC-8737-01C536BAC73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 rot="5400000">
            <a:off x="5972174" y="848199"/>
            <a:ext cx="247651" cy="11771951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633F3B5A-AFEC-40C0-8F93-4E0AFBF6F840}"/>
              </a:ext>
            </a:extLst>
          </p:cNvPr>
          <p:cNvSpPr txBox="1"/>
          <p:nvPr/>
        </p:nvSpPr>
        <p:spPr>
          <a:xfrm>
            <a:off x="542925" y="754959"/>
            <a:ext cx="1109662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Frontend</a:t>
            </a: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 (VS </a:t>
            </a:r>
            <a:r>
              <a:rPr lang="es-E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Code</a:t>
            </a: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): 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Se ejecuta el comando </a:t>
            </a: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ng serve 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en la terminal para levantar la interfaz gráfica en el puerto </a:t>
            </a: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4200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FC991EB5-EFA7-4406-99AA-FC1D06252384}"/>
              </a:ext>
            </a:extLst>
          </p:cNvPr>
          <p:cNvSpPr/>
          <p:nvPr/>
        </p:nvSpPr>
        <p:spPr>
          <a:xfrm>
            <a:off x="2705100" y="419689"/>
            <a:ext cx="6848475" cy="34479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E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Guía de Encendido y Verificación del Ecosistema</a:t>
            </a:r>
            <a:endParaRPr lang="es-MX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2054029B-F9D5-4F36-8DCB-C5E82D3E1736}"/>
              </a:ext>
            </a:extLst>
          </p:cNvPr>
          <p:cNvSpPr/>
          <p:nvPr/>
        </p:nvSpPr>
        <p:spPr>
          <a:xfrm>
            <a:off x="2413635" y="377770"/>
            <a:ext cx="441960" cy="43434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MX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677E397-A409-4225-9B4B-D6F4A97EAA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9545" y="2071429"/>
            <a:ext cx="9030960" cy="370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7068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1.png" descr="Resultado de imagen de fondos png">
            <a:extLst>
              <a:ext uri="{FF2B5EF4-FFF2-40B4-BE49-F238E27FC236}">
                <a16:creationId xmlns:a16="http://schemas.microsoft.com/office/drawing/2014/main" id="{ADF88253-865B-47EC-A7E5-D8C9101E0B4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9105" cy="6858000"/>
          </a:xfrm>
          <a:prstGeom prst="rect">
            <a:avLst/>
          </a:prstGeom>
        </p:spPr>
      </p:pic>
      <p:pic>
        <p:nvPicPr>
          <p:cNvPr id="5" name="image1.png" descr="Resultado de imagen de fondos png">
            <a:extLst>
              <a:ext uri="{FF2B5EF4-FFF2-40B4-BE49-F238E27FC236}">
                <a16:creationId xmlns:a16="http://schemas.microsoft.com/office/drawing/2014/main" id="{B4918E82-7A5B-4284-BA49-A7E12F7D120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63375" y="0"/>
            <a:ext cx="459105" cy="6858000"/>
          </a:xfrm>
          <a:prstGeom prst="rect">
            <a:avLst/>
          </a:prstGeom>
        </p:spPr>
      </p:pic>
      <p:pic>
        <p:nvPicPr>
          <p:cNvPr id="6" name="image1.png" descr="Resultado de imagen de fondos png">
            <a:extLst>
              <a:ext uri="{FF2B5EF4-FFF2-40B4-BE49-F238E27FC236}">
                <a16:creationId xmlns:a16="http://schemas.microsoft.com/office/drawing/2014/main" id="{A1AB415F-6170-4547-AF25-5F154A5A992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 rot="5400000">
            <a:off x="5991701" y="-5762150"/>
            <a:ext cx="247651" cy="11771951"/>
          </a:xfrm>
          <a:prstGeom prst="rect">
            <a:avLst/>
          </a:prstGeom>
        </p:spPr>
      </p:pic>
      <p:pic>
        <p:nvPicPr>
          <p:cNvPr id="7" name="image1.png" descr="Resultado de imagen de fondos png">
            <a:extLst>
              <a:ext uri="{FF2B5EF4-FFF2-40B4-BE49-F238E27FC236}">
                <a16:creationId xmlns:a16="http://schemas.microsoft.com/office/drawing/2014/main" id="{24875C65-5A98-4DFC-8737-01C536BAC73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 rot="5400000">
            <a:off x="5972174" y="848199"/>
            <a:ext cx="247651" cy="11771951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633F3B5A-AFEC-40C0-8F93-4E0AFBF6F840}"/>
              </a:ext>
            </a:extLst>
          </p:cNvPr>
          <p:cNvSpPr txBox="1"/>
          <p:nvPr/>
        </p:nvSpPr>
        <p:spPr>
          <a:xfrm>
            <a:off x="542925" y="754959"/>
            <a:ext cx="11096625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Verificación en el Servidor de Descubrimiento:</a:t>
            </a:r>
          </a:p>
          <a:p>
            <a:pPr algn="just"/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Antes de ir al navegador, abrimos la interfaz gráfica de Eureka ingresando a:</a:t>
            </a:r>
          </a:p>
          <a:p>
            <a:pPr algn="just"/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En la sección </a:t>
            </a: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lang="es-E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Instances</a:t>
            </a: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currently</a:t>
            </a: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registered</a:t>
            </a: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 Eureka"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, validamos que aparezcan en verde los nombres de los tres microservicios: el Gateway, el de Estudiantes y el de Cursos. Una vez confirmados, el sistema está listo.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FC991EB5-EFA7-4406-99AA-FC1D06252384}"/>
              </a:ext>
            </a:extLst>
          </p:cNvPr>
          <p:cNvSpPr/>
          <p:nvPr/>
        </p:nvSpPr>
        <p:spPr>
          <a:xfrm>
            <a:off x="2705100" y="419689"/>
            <a:ext cx="6848475" cy="34479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E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Guía de Encendido y Verificación del Ecosistema</a:t>
            </a:r>
            <a:endParaRPr lang="es-MX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2054029B-F9D5-4F36-8DCB-C5E82D3E1736}"/>
              </a:ext>
            </a:extLst>
          </p:cNvPr>
          <p:cNvSpPr/>
          <p:nvPr/>
        </p:nvSpPr>
        <p:spPr>
          <a:xfrm>
            <a:off x="2413635" y="377770"/>
            <a:ext cx="441960" cy="43434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MX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F58CCE7-D9A5-48DF-8A94-39D3D53FF6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525" y="1731649"/>
            <a:ext cx="10868025" cy="2260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1216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1.png" descr="Resultado de imagen de fondos png">
            <a:extLst>
              <a:ext uri="{FF2B5EF4-FFF2-40B4-BE49-F238E27FC236}">
                <a16:creationId xmlns:a16="http://schemas.microsoft.com/office/drawing/2014/main" id="{ADF88253-865B-47EC-A7E5-D8C9101E0B4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9105" cy="6858000"/>
          </a:xfrm>
          <a:prstGeom prst="rect">
            <a:avLst/>
          </a:prstGeom>
        </p:spPr>
      </p:pic>
      <p:pic>
        <p:nvPicPr>
          <p:cNvPr id="5" name="image1.png" descr="Resultado de imagen de fondos png">
            <a:extLst>
              <a:ext uri="{FF2B5EF4-FFF2-40B4-BE49-F238E27FC236}">
                <a16:creationId xmlns:a16="http://schemas.microsoft.com/office/drawing/2014/main" id="{B4918E82-7A5B-4284-BA49-A7E12F7D120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63375" y="0"/>
            <a:ext cx="459105" cy="6858000"/>
          </a:xfrm>
          <a:prstGeom prst="rect">
            <a:avLst/>
          </a:prstGeom>
        </p:spPr>
      </p:pic>
      <p:pic>
        <p:nvPicPr>
          <p:cNvPr id="6" name="image1.png" descr="Resultado de imagen de fondos png">
            <a:extLst>
              <a:ext uri="{FF2B5EF4-FFF2-40B4-BE49-F238E27FC236}">
                <a16:creationId xmlns:a16="http://schemas.microsoft.com/office/drawing/2014/main" id="{A1AB415F-6170-4547-AF25-5F154A5A992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 rot="5400000">
            <a:off x="5991701" y="-5762150"/>
            <a:ext cx="247651" cy="11771951"/>
          </a:xfrm>
          <a:prstGeom prst="rect">
            <a:avLst/>
          </a:prstGeom>
        </p:spPr>
      </p:pic>
      <p:pic>
        <p:nvPicPr>
          <p:cNvPr id="7" name="image1.png" descr="Resultado de imagen de fondos png">
            <a:extLst>
              <a:ext uri="{FF2B5EF4-FFF2-40B4-BE49-F238E27FC236}">
                <a16:creationId xmlns:a16="http://schemas.microsoft.com/office/drawing/2014/main" id="{24875C65-5A98-4DFC-8737-01C536BAC73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 rot="5400000">
            <a:off x="5972174" y="848199"/>
            <a:ext cx="247651" cy="11771951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633F3B5A-AFEC-40C0-8F93-4E0AFBF6F840}"/>
              </a:ext>
            </a:extLst>
          </p:cNvPr>
          <p:cNvSpPr txBox="1"/>
          <p:nvPr/>
        </p:nvSpPr>
        <p:spPr>
          <a:xfrm>
            <a:off x="542925" y="754959"/>
            <a:ext cx="1109662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 observar el impacto real del flujo CRUD de forma transparente, es necesario iniciar las pruebas con las tablas completamente limpias.</a:t>
            </a:r>
          </a:p>
          <a:p>
            <a:pPr algn="just"/>
            <a:endParaRPr lang="es-ES" sz="20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sz="2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Acción realizada</a:t>
            </a:r>
            <a:r>
              <a:rPr lang="es-E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Entramos a la pestaña "Dar de Baja" en la interfaz de Angular y eliminamos manualmente los 5 registros de estudiantes y los 5 registros de cursos que teníamos de las prácticas pasadas.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FC991EB5-EFA7-4406-99AA-FC1D06252384}"/>
              </a:ext>
            </a:extLst>
          </p:cNvPr>
          <p:cNvSpPr/>
          <p:nvPr/>
        </p:nvSpPr>
        <p:spPr>
          <a:xfrm>
            <a:off x="2705100" y="419689"/>
            <a:ext cx="6848475" cy="34479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E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Fase de Preparación: Depuración de las Bases de Datos</a:t>
            </a:r>
            <a:endParaRPr lang="es-MX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2054029B-F9D5-4F36-8DCB-C5E82D3E1736}"/>
              </a:ext>
            </a:extLst>
          </p:cNvPr>
          <p:cNvSpPr/>
          <p:nvPr/>
        </p:nvSpPr>
        <p:spPr>
          <a:xfrm>
            <a:off x="2413635" y="377770"/>
            <a:ext cx="441960" cy="43434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MX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E01CB20-2B92-4F03-9001-4356FE137A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8099" y="2510641"/>
            <a:ext cx="3141159" cy="359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7279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1.png" descr="Resultado de imagen de fondos png">
            <a:extLst>
              <a:ext uri="{FF2B5EF4-FFF2-40B4-BE49-F238E27FC236}">
                <a16:creationId xmlns:a16="http://schemas.microsoft.com/office/drawing/2014/main" id="{ADF88253-865B-47EC-A7E5-D8C9101E0B4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9105" cy="6858000"/>
          </a:xfrm>
          <a:prstGeom prst="rect">
            <a:avLst/>
          </a:prstGeom>
        </p:spPr>
      </p:pic>
      <p:pic>
        <p:nvPicPr>
          <p:cNvPr id="5" name="image1.png" descr="Resultado de imagen de fondos png">
            <a:extLst>
              <a:ext uri="{FF2B5EF4-FFF2-40B4-BE49-F238E27FC236}">
                <a16:creationId xmlns:a16="http://schemas.microsoft.com/office/drawing/2014/main" id="{B4918E82-7A5B-4284-BA49-A7E12F7D120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63375" y="0"/>
            <a:ext cx="459105" cy="6858000"/>
          </a:xfrm>
          <a:prstGeom prst="rect">
            <a:avLst/>
          </a:prstGeom>
        </p:spPr>
      </p:pic>
      <p:pic>
        <p:nvPicPr>
          <p:cNvPr id="6" name="image1.png" descr="Resultado de imagen de fondos png">
            <a:extLst>
              <a:ext uri="{FF2B5EF4-FFF2-40B4-BE49-F238E27FC236}">
                <a16:creationId xmlns:a16="http://schemas.microsoft.com/office/drawing/2014/main" id="{A1AB415F-6170-4547-AF25-5F154A5A992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 rot="5400000">
            <a:off x="5991701" y="-5762150"/>
            <a:ext cx="247651" cy="11771951"/>
          </a:xfrm>
          <a:prstGeom prst="rect">
            <a:avLst/>
          </a:prstGeom>
        </p:spPr>
      </p:pic>
      <p:pic>
        <p:nvPicPr>
          <p:cNvPr id="7" name="image1.png" descr="Resultado de imagen de fondos png">
            <a:extLst>
              <a:ext uri="{FF2B5EF4-FFF2-40B4-BE49-F238E27FC236}">
                <a16:creationId xmlns:a16="http://schemas.microsoft.com/office/drawing/2014/main" id="{24875C65-5A98-4DFC-8737-01C536BAC73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 rot="5400000">
            <a:off x="5972174" y="848199"/>
            <a:ext cx="247651" cy="11771951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633F3B5A-AFEC-40C0-8F93-4E0AFBF6F840}"/>
              </a:ext>
            </a:extLst>
          </p:cNvPr>
          <p:cNvSpPr txBox="1"/>
          <p:nvPr/>
        </p:nvSpPr>
        <p:spPr>
          <a:xfrm>
            <a:off x="542925" y="754959"/>
            <a:ext cx="1109662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Resultado inicial: Al regresar a la pestaña "📋 Listar Todos" en ambos módulos, el </a:t>
            </a:r>
            <a:r>
              <a:rPr lang="es-ES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frontend</a:t>
            </a:r>
            <a:r>
              <a:rPr lang="es-E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muestra con éxito los mensajes de respaldo: "No se encontraron registros de estudiantes en el sistema distribuido" y "No se encontraron registros de cursos en la base de datos PostgreSQL". Las consolas se reportan en verde con arreglos vacíos [], confirmando un entorno de pruebas limpio.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FC991EB5-EFA7-4406-99AA-FC1D06252384}"/>
              </a:ext>
            </a:extLst>
          </p:cNvPr>
          <p:cNvSpPr/>
          <p:nvPr/>
        </p:nvSpPr>
        <p:spPr>
          <a:xfrm>
            <a:off x="2705100" y="419689"/>
            <a:ext cx="6848475" cy="34479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E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Fase de Preparación: Depuración de las Bases de Datos</a:t>
            </a:r>
            <a:endParaRPr lang="es-MX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2054029B-F9D5-4F36-8DCB-C5E82D3E1736}"/>
              </a:ext>
            </a:extLst>
          </p:cNvPr>
          <p:cNvSpPr/>
          <p:nvPr/>
        </p:nvSpPr>
        <p:spPr>
          <a:xfrm>
            <a:off x="2413635" y="377770"/>
            <a:ext cx="441960" cy="43434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MX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C674242-4352-4429-9437-160869D3AE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0075" y="2043795"/>
            <a:ext cx="5077298" cy="4171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923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1.png" descr="Resultado de imagen de fondos png">
            <a:extLst>
              <a:ext uri="{FF2B5EF4-FFF2-40B4-BE49-F238E27FC236}">
                <a16:creationId xmlns:a16="http://schemas.microsoft.com/office/drawing/2014/main" id="{ADF88253-865B-47EC-A7E5-D8C9101E0B4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9105" cy="6858000"/>
          </a:xfrm>
          <a:prstGeom prst="rect">
            <a:avLst/>
          </a:prstGeom>
        </p:spPr>
      </p:pic>
      <p:pic>
        <p:nvPicPr>
          <p:cNvPr id="5" name="image1.png" descr="Resultado de imagen de fondos png">
            <a:extLst>
              <a:ext uri="{FF2B5EF4-FFF2-40B4-BE49-F238E27FC236}">
                <a16:creationId xmlns:a16="http://schemas.microsoft.com/office/drawing/2014/main" id="{B4918E82-7A5B-4284-BA49-A7E12F7D120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63375" y="0"/>
            <a:ext cx="459105" cy="6858000"/>
          </a:xfrm>
          <a:prstGeom prst="rect">
            <a:avLst/>
          </a:prstGeom>
        </p:spPr>
      </p:pic>
      <p:pic>
        <p:nvPicPr>
          <p:cNvPr id="6" name="image1.png" descr="Resultado de imagen de fondos png">
            <a:extLst>
              <a:ext uri="{FF2B5EF4-FFF2-40B4-BE49-F238E27FC236}">
                <a16:creationId xmlns:a16="http://schemas.microsoft.com/office/drawing/2014/main" id="{A1AB415F-6170-4547-AF25-5F154A5A992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 rot="5400000">
            <a:off x="5991701" y="-5762150"/>
            <a:ext cx="247651" cy="11771951"/>
          </a:xfrm>
          <a:prstGeom prst="rect">
            <a:avLst/>
          </a:prstGeom>
        </p:spPr>
      </p:pic>
      <p:pic>
        <p:nvPicPr>
          <p:cNvPr id="7" name="image1.png" descr="Resultado de imagen de fondos png">
            <a:extLst>
              <a:ext uri="{FF2B5EF4-FFF2-40B4-BE49-F238E27FC236}">
                <a16:creationId xmlns:a16="http://schemas.microsoft.com/office/drawing/2014/main" id="{24875C65-5A98-4DFC-8737-01C536BAC73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 rot="5400000">
            <a:off x="5972174" y="848199"/>
            <a:ext cx="247651" cy="11771951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633F3B5A-AFEC-40C0-8F93-4E0AFBF6F840}"/>
              </a:ext>
            </a:extLst>
          </p:cNvPr>
          <p:cNvSpPr txBox="1"/>
          <p:nvPr/>
        </p:nvSpPr>
        <p:spPr>
          <a:xfrm>
            <a:off x="542925" y="754959"/>
            <a:ext cx="1109662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 garantizar la integridad referencial del sistema distribuido, iniciamos registrando primero la oferta académica en la base de datos de PostgreSQL:</a:t>
            </a:r>
          </a:p>
          <a:p>
            <a:pPr algn="just"/>
            <a:endParaRPr lang="es-ES" sz="20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sz="2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Ejercicio 1 (Consultar): </a:t>
            </a:r>
            <a:r>
              <a:rPr lang="es-E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Vamos al buscador de Cursos, metemos el ID 1 y la interfaz confirma que no hay materias guardadas en el sistema.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FC991EB5-EFA7-4406-99AA-FC1D06252384}"/>
              </a:ext>
            </a:extLst>
          </p:cNvPr>
          <p:cNvSpPr/>
          <p:nvPr/>
        </p:nvSpPr>
        <p:spPr>
          <a:xfrm>
            <a:off x="2705100" y="419689"/>
            <a:ext cx="6848475" cy="34479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E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Ejercicios Operativos CRUD: Módulo de Cursos (PostgreSQL)</a:t>
            </a:r>
            <a:endParaRPr lang="es-MX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2054029B-F9D5-4F36-8DCB-C5E82D3E1736}"/>
              </a:ext>
            </a:extLst>
          </p:cNvPr>
          <p:cNvSpPr/>
          <p:nvPr/>
        </p:nvSpPr>
        <p:spPr>
          <a:xfrm>
            <a:off x="2413635" y="377770"/>
            <a:ext cx="441960" cy="43434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MX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9326F495-4DA3-4B0D-BA53-8A9AECC6C7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3259" y="2880928"/>
            <a:ext cx="6315956" cy="3181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658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1.png" descr="Resultado de imagen de fondos png">
            <a:extLst>
              <a:ext uri="{FF2B5EF4-FFF2-40B4-BE49-F238E27FC236}">
                <a16:creationId xmlns:a16="http://schemas.microsoft.com/office/drawing/2014/main" id="{ADF88253-865B-47EC-A7E5-D8C9101E0B4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9105" cy="6858000"/>
          </a:xfrm>
          <a:prstGeom prst="rect">
            <a:avLst/>
          </a:prstGeom>
        </p:spPr>
      </p:pic>
      <p:pic>
        <p:nvPicPr>
          <p:cNvPr id="5" name="image1.png" descr="Resultado de imagen de fondos png">
            <a:extLst>
              <a:ext uri="{FF2B5EF4-FFF2-40B4-BE49-F238E27FC236}">
                <a16:creationId xmlns:a16="http://schemas.microsoft.com/office/drawing/2014/main" id="{B4918E82-7A5B-4284-BA49-A7E12F7D120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63375" y="0"/>
            <a:ext cx="459105" cy="6858000"/>
          </a:xfrm>
          <a:prstGeom prst="rect">
            <a:avLst/>
          </a:prstGeom>
        </p:spPr>
      </p:pic>
      <p:pic>
        <p:nvPicPr>
          <p:cNvPr id="6" name="image1.png" descr="Resultado de imagen de fondos png">
            <a:extLst>
              <a:ext uri="{FF2B5EF4-FFF2-40B4-BE49-F238E27FC236}">
                <a16:creationId xmlns:a16="http://schemas.microsoft.com/office/drawing/2014/main" id="{A1AB415F-6170-4547-AF25-5F154A5A992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 rot="5400000">
            <a:off x="5991701" y="-5762150"/>
            <a:ext cx="247651" cy="11771951"/>
          </a:xfrm>
          <a:prstGeom prst="rect">
            <a:avLst/>
          </a:prstGeom>
        </p:spPr>
      </p:pic>
      <p:pic>
        <p:nvPicPr>
          <p:cNvPr id="7" name="image1.png" descr="Resultado de imagen de fondos png">
            <a:extLst>
              <a:ext uri="{FF2B5EF4-FFF2-40B4-BE49-F238E27FC236}">
                <a16:creationId xmlns:a16="http://schemas.microsoft.com/office/drawing/2014/main" id="{24875C65-5A98-4DFC-8737-01C536BAC73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 rot="5400000">
            <a:off x="5972174" y="848199"/>
            <a:ext cx="247651" cy="11771951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633F3B5A-AFEC-40C0-8F93-4E0AFBF6F840}"/>
              </a:ext>
            </a:extLst>
          </p:cNvPr>
          <p:cNvSpPr txBox="1"/>
          <p:nvPr/>
        </p:nvSpPr>
        <p:spPr>
          <a:xfrm>
            <a:off x="547687" y="764484"/>
            <a:ext cx="1109662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Ejercicio 2 (Crear):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Entramos a "Registrar Nuevo" y damos de alta la materia </a:t>
            </a:r>
            <a:r>
              <a:rPr lang="es-ES" sz="2000" i="1" dirty="0">
                <a:latin typeface="Arial" panose="020B0604020202020204" pitchFamily="34" charset="0"/>
                <a:cs typeface="Arial" panose="020B0604020202020204" pitchFamily="34" charset="0"/>
              </a:rPr>
              <a:t>Programación de Microcontroladores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con su profesor asignado.</a:t>
            </a:r>
            <a:endParaRPr lang="es-ES" sz="20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FC991EB5-EFA7-4406-99AA-FC1D06252384}"/>
              </a:ext>
            </a:extLst>
          </p:cNvPr>
          <p:cNvSpPr/>
          <p:nvPr/>
        </p:nvSpPr>
        <p:spPr>
          <a:xfrm>
            <a:off x="2705100" y="419689"/>
            <a:ext cx="6848475" cy="34479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E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Ejercicios Operativos CRUD: Módulo de Cursos (PostgreSQL)</a:t>
            </a:r>
            <a:endParaRPr lang="es-MX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2054029B-F9D5-4F36-8DCB-C5E82D3E1736}"/>
              </a:ext>
            </a:extLst>
          </p:cNvPr>
          <p:cNvSpPr/>
          <p:nvPr/>
        </p:nvSpPr>
        <p:spPr>
          <a:xfrm>
            <a:off x="2413635" y="377770"/>
            <a:ext cx="441960" cy="43434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MX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A802E0C-B24B-4C7D-B26F-E972D854FB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1289" y="1613965"/>
            <a:ext cx="6001588" cy="353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785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1.png" descr="Resultado de imagen de fondos png">
            <a:extLst>
              <a:ext uri="{FF2B5EF4-FFF2-40B4-BE49-F238E27FC236}">
                <a16:creationId xmlns:a16="http://schemas.microsoft.com/office/drawing/2014/main" id="{ADF88253-865B-47EC-A7E5-D8C9101E0B4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9105" cy="6858000"/>
          </a:xfrm>
          <a:prstGeom prst="rect">
            <a:avLst/>
          </a:prstGeom>
        </p:spPr>
      </p:pic>
      <p:pic>
        <p:nvPicPr>
          <p:cNvPr id="5" name="image1.png" descr="Resultado de imagen de fondos png">
            <a:extLst>
              <a:ext uri="{FF2B5EF4-FFF2-40B4-BE49-F238E27FC236}">
                <a16:creationId xmlns:a16="http://schemas.microsoft.com/office/drawing/2014/main" id="{B4918E82-7A5B-4284-BA49-A7E12F7D120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63375" y="0"/>
            <a:ext cx="459105" cy="6858000"/>
          </a:xfrm>
          <a:prstGeom prst="rect">
            <a:avLst/>
          </a:prstGeom>
        </p:spPr>
      </p:pic>
      <p:pic>
        <p:nvPicPr>
          <p:cNvPr id="6" name="image1.png" descr="Resultado de imagen de fondos png">
            <a:extLst>
              <a:ext uri="{FF2B5EF4-FFF2-40B4-BE49-F238E27FC236}">
                <a16:creationId xmlns:a16="http://schemas.microsoft.com/office/drawing/2014/main" id="{A1AB415F-6170-4547-AF25-5F154A5A992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 rot="5400000">
            <a:off x="5991701" y="-5762150"/>
            <a:ext cx="247651" cy="11771951"/>
          </a:xfrm>
          <a:prstGeom prst="rect">
            <a:avLst/>
          </a:prstGeom>
        </p:spPr>
      </p:pic>
      <p:pic>
        <p:nvPicPr>
          <p:cNvPr id="7" name="image1.png" descr="Resultado de imagen de fondos png">
            <a:extLst>
              <a:ext uri="{FF2B5EF4-FFF2-40B4-BE49-F238E27FC236}">
                <a16:creationId xmlns:a16="http://schemas.microsoft.com/office/drawing/2014/main" id="{24875C65-5A98-4DFC-8737-01C536BAC73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 rot="5400000">
            <a:off x="5972174" y="848199"/>
            <a:ext cx="247651" cy="11771951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633F3B5A-AFEC-40C0-8F93-4E0AFBF6F840}"/>
              </a:ext>
            </a:extLst>
          </p:cNvPr>
          <p:cNvSpPr txBox="1"/>
          <p:nvPr/>
        </p:nvSpPr>
        <p:spPr>
          <a:xfrm>
            <a:off x="666750" y="1168076"/>
            <a:ext cx="1109662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Ejercicio 3 (Consultar):</a:t>
            </a:r>
            <a:r>
              <a:rPr lang="es-E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Presionamos "📋 Listar Todos" y validamos que la primera fila se pintó correctamente con el ID 1 generado en PostgreSQL.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FC991EB5-EFA7-4406-99AA-FC1D06252384}"/>
              </a:ext>
            </a:extLst>
          </p:cNvPr>
          <p:cNvSpPr/>
          <p:nvPr/>
        </p:nvSpPr>
        <p:spPr>
          <a:xfrm>
            <a:off x="2705100" y="419689"/>
            <a:ext cx="6848475" cy="34479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E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Ejercicios Operativos CRUD: Módulo de Cursos (PostgreSQL)</a:t>
            </a:r>
            <a:endParaRPr lang="es-MX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2054029B-F9D5-4F36-8DCB-C5E82D3E1736}"/>
              </a:ext>
            </a:extLst>
          </p:cNvPr>
          <p:cNvSpPr/>
          <p:nvPr/>
        </p:nvSpPr>
        <p:spPr>
          <a:xfrm>
            <a:off x="2413635" y="377770"/>
            <a:ext cx="441960" cy="43434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MX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0DADB4A-3AD7-4E1A-9592-88D3E74160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0276" y="2419158"/>
            <a:ext cx="6963747" cy="2743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5088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1.png" descr="Resultado de imagen de fondos png">
            <a:extLst>
              <a:ext uri="{FF2B5EF4-FFF2-40B4-BE49-F238E27FC236}">
                <a16:creationId xmlns:a16="http://schemas.microsoft.com/office/drawing/2014/main" id="{ADF88253-865B-47EC-A7E5-D8C9101E0B4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9105" cy="6858000"/>
          </a:xfrm>
          <a:prstGeom prst="rect">
            <a:avLst/>
          </a:prstGeom>
        </p:spPr>
      </p:pic>
      <p:pic>
        <p:nvPicPr>
          <p:cNvPr id="5" name="image1.png" descr="Resultado de imagen de fondos png">
            <a:extLst>
              <a:ext uri="{FF2B5EF4-FFF2-40B4-BE49-F238E27FC236}">
                <a16:creationId xmlns:a16="http://schemas.microsoft.com/office/drawing/2014/main" id="{B4918E82-7A5B-4284-BA49-A7E12F7D120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63375" y="0"/>
            <a:ext cx="459105" cy="6858000"/>
          </a:xfrm>
          <a:prstGeom prst="rect">
            <a:avLst/>
          </a:prstGeom>
        </p:spPr>
      </p:pic>
      <p:pic>
        <p:nvPicPr>
          <p:cNvPr id="6" name="image1.png" descr="Resultado de imagen de fondos png">
            <a:extLst>
              <a:ext uri="{FF2B5EF4-FFF2-40B4-BE49-F238E27FC236}">
                <a16:creationId xmlns:a16="http://schemas.microsoft.com/office/drawing/2014/main" id="{A1AB415F-6170-4547-AF25-5F154A5A992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 rot="5400000">
            <a:off x="5991701" y="-5762150"/>
            <a:ext cx="247651" cy="11771951"/>
          </a:xfrm>
          <a:prstGeom prst="rect">
            <a:avLst/>
          </a:prstGeom>
        </p:spPr>
      </p:pic>
      <p:pic>
        <p:nvPicPr>
          <p:cNvPr id="7" name="image1.png" descr="Resultado de imagen de fondos png">
            <a:extLst>
              <a:ext uri="{FF2B5EF4-FFF2-40B4-BE49-F238E27FC236}">
                <a16:creationId xmlns:a16="http://schemas.microsoft.com/office/drawing/2014/main" id="{24875C65-5A98-4DFC-8737-01C536BAC73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 rot="5400000">
            <a:off x="5972174" y="848199"/>
            <a:ext cx="247651" cy="11771951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633F3B5A-AFEC-40C0-8F93-4E0AFBF6F840}"/>
              </a:ext>
            </a:extLst>
          </p:cNvPr>
          <p:cNvSpPr txBox="1"/>
          <p:nvPr/>
        </p:nvSpPr>
        <p:spPr>
          <a:xfrm>
            <a:off x="542925" y="754959"/>
            <a:ext cx="1109662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Ejercicio 4 (Crear):</a:t>
            </a:r>
            <a:r>
              <a:rPr lang="es-E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En el formulario de alta, registramos una segunda asignatura llamada Arquitectura de Microservicios.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FC991EB5-EFA7-4406-99AA-FC1D06252384}"/>
              </a:ext>
            </a:extLst>
          </p:cNvPr>
          <p:cNvSpPr/>
          <p:nvPr/>
        </p:nvSpPr>
        <p:spPr>
          <a:xfrm>
            <a:off x="2705100" y="419689"/>
            <a:ext cx="6848475" cy="34479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E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Ejercicios Operativos CRUD: Módulo de Cursos (PostgreSQL)</a:t>
            </a:r>
            <a:endParaRPr lang="es-MX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2054029B-F9D5-4F36-8DCB-C5E82D3E1736}"/>
              </a:ext>
            </a:extLst>
          </p:cNvPr>
          <p:cNvSpPr/>
          <p:nvPr/>
        </p:nvSpPr>
        <p:spPr>
          <a:xfrm>
            <a:off x="2413635" y="377770"/>
            <a:ext cx="441960" cy="43434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MX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F6163AC-F2C5-4EA1-B440-3C65BCC761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7005" y="1840034"/>
            <a:ext cx="6382641" cy="360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649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1.png" descr="Resultado de imagen de fondos png">
            <a:extLst>
              <a:ext uri="{FF2B5EF4-FFF2-40B4-BE49-F238E27FC236}">
                <a16:creationId xmlns:a16="http://schemas.microsoft.com/office/drawing/2014/main" id="{ADF88253-865B-47EC-A7E5-D8C9101E0B4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9105" cy="6858000"/>
          </a:xfrm>
          <a:prstGeom prst="rect">
            <a:avLst/>
          </a:prstGeom>
        </p:spPr>
      </p:pic>
      <p:pic>
        <p:nvPicPr>
          <p:cNvPr id="5" name="image1.png" descr="Resultado de imagen de fondos png">
            <a:extLst>
              <a:ext uri="{FF2B5EF4-FFF2-40B4-BE49-F238E27FC236}">
                <a16:creationId xmlns:a16="http://schemas.microsoft.com/office/drawing/2014/main" id="{B4918E82-7A5B-4284-BA49-A7E12F7D120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63375" y="0"/>
            <a:ext cx="459105" cy="6858000"/>
          </a:xfrm>
          <a:prstGeom prst="rect">
            <a:avLst/>
          </a:prstGeom>
        </p:spPr>
      </p:pic>
      <p:pic>
        <p:nvPicPr>
          <p:cNvPr id="6" name="image1.png" descr="Resultado de imagen de fondos png">
            <a:extLst>
              <a:ext uri="{FF2B5EF4-FFF2-40B4-BE49-F238E27FC236}">
                <a16:creationId xmlns:a16="http://schemas.microsoft.com/office/drawing/2014/main" id="{A1AB415F-6170-4547-AF25-5F154A5A992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 rot="5400000">
            <a:off x="5991701" y="-5762150"/>
            <a:ext cx="247651" cy="11771951"/>
          </a:xfrm>
          <a:prstGeom prst="rect">
            <a:avLst/>
          </a:prstGeom>
        </p:spPr>
      </p:pic>
      <p:pic>
        <p:nvPicPr>
          <p:cNvPr id="7" name="image1.png" descr="Resultado de imagen de fondos png">
            <a:extLst>
              <a:ext uri="{FF2B5EF4-FFF2-40B4-BE49-F238E27FC236}">
                <a16:creationId xmlns:a16="http://schemas.microsoft.com/office/drawing/2014/main" id="{24875C65-5A98-4DFC-8737-01C536BAC73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 rot="5400000">
            <a:off x="5972174" y="848199"/>
            <a:ext cx="247651" cy="11771951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633F3B5A-AFEC-40C0-8F93-4E0AFBF6F840}"/>
              </a:ext>
            </a:extLst>
          </p:cNvPr>
          <p:cNvSpPr txBox="1"/>
          <p:nvPr/>
        </p:nvSpPr>
        <p:spPr>
          <a:xfrm>
            <a:off x="542925" y="754959"/>
            <a:ext cx="1109662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Ejercicio 5 (Consultar):</a:t>
            </a:r>
            <a:r>
              <a:rPr lang="es-E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Usamos el buscador individual con el ID 2 y el sistema nos devuelve los datos limpios de la materia de microservicios.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FC991EB5-EFA7-4406-99AA-FC1D06252384}"/>
              </a:ext>
            </a:extLst>
          </p:cNvPr>
          <p:cNvSpPr/>
          <p:nvPr/>
        </p:nvSpPr>
        <p:spPr>
          <a:xfrm>
            <a:off x="2705100" y="419689"/>
            <a:ext cx="6848475" cy="34479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E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Ejercicios Operativos CRUD: Módulo de Cursos (PostgreSQL)</a:t>
            </a:r>
            <a:endParaRPr lang="es-MX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2054029B-F9D5-4F36-8DCB-C5E82D3E1736}"/>
              </a:ext>
            </a:extLst>
          </p:cNvPr>
          <p:cNvSpPr/>
          <p:nvPr/>
        </p:nvSpPr>
        <p:spPr>
          <a:xfrm>
            <a:off x="2413635" y="377770"/>
            <a:ext cx="441960" cy="43434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MX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6737D8AD-526C-488F-AD34-AFC3C5361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5100" y="1859830"/>
            <a:ext cx="6249272" cy="435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0358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1.png" descr="Resultado de imagen de fondos png">
            <a:extLst>
              <a:ext uri="{FF2B5EF4-FFF2-40B4-BE49-F238E27FC236}">
                <a16:creationId xmlns:a16="http://schemas.microsoft.com/office/drawing/2014/main" id="{ADF88253-865B-47EC-A7E5-D8C9101E0B4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9105" cy="6858000"/>
          </a:xfrm>
          <a:prstGeom prst="rect">
            <a:avLst/>
          </a:prstGeom>
        </p:spPr>
      </p:pic>
      <p:pic>
        <p:nvPicPr>
          <p:cNvPr id="5" name="image1.png" descr="Resultado de imagen de fondos png">
            <a:extLst>
              <a:ext uri="{FF2B5EF4-FFF2-40B4-BE49-F238E27FC236}">
                <a16:creationId xmlns:a16="http://schemas.microsoft.com/office/drawing/2014/main" id="{B4918E82-7A5B-4284-BA49-A7E12F7D120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63375" y="0"/>
            <a:ext cx="459105" cy="6858000"/>
          </a:xfrm>
          <a:prstGeom prst="rect">
            <a:avLst/>
          </a:prstGeom>
        </p:spPr>
      </p:pic>
      <p:pic>
        <p:nvPicPr>
          <p:cNvPr id="6" name="image1.png" descr="Resultado de imagen de fondos png">
            <a:extLst>
              <a:ext uri="{FF2B5EF4-FFF2-40B4-BE49-F238E27FC236}">
                <a16:creationId xmlns:a16="http://schemas.microsoft.com/office/drawing/2014/main" id="{A1AB415F-6170-4547-AF25-5F154A5A992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 rot="5400000">
            <a:off x="5991701" y="-5762150"/>
            <a:ext cx="247651" cy="11771951"/>
          </a:xfrm>
          <a:prstGeom prst="rect">
            <a:avLst/>
          </a:prstGeom>
        </p:spPr>
      </p:pic>
      <p:pic>
        <p:nvPicPr>
          <p:cNvPr id="7" name="image1.png" descr="Resultado de imagen de fondos png">
            <a:extLst>
              <a:ext uri="{FF2B5EF4-FFF2-40B4-BE49-F238E27FC236}">
                <a16:creationId xmlns:a16="http://schemas.microsoft.com/office/drawing/2014/main" id="{24875C65-5A98-4DFC-8737-01C536BAC73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 rot="5400000">
            <a:off x="5972174" y="848199"/>
            <a:ext cx="247651" cy="11771951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633F3B5A-AFEC-40C0-8F93-4E0AFBF6F840}"/>
              </a:ext>
            </a:extLst>
          </p:cNvPr>
          <p:cNvSpPr txBox="1"/>
          <p:nvPr/>
        </p:nvSpPr>
        <p:spPr>
          <a:xfrm>
            <a:off x="542925" y="754959"/>
            <a:ext cx="1109662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Ejercicio 6 (Crear):</a:t>
            </a:r>
            <a:r>
              <a:rPr lang="es-E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Insertamos consecutivamente tres materias más: Desarrollo de Interfaces Web, Administración de Bases de Datos e Inteligencia Artificial Aplicada.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FC991EB5-EFA7-4406-99AA-FC1D06252384}"/>
              </a:ext>
            </a:extLst>
          </p:cNvPr>
          <p:cNvSpPr/>
          <p:nvPr/>
        </p:nvSpPr>
        <p:spPr>
          <a:xfrm>
            <a:off x="2705100" y="419689"/>
            <a:ext cx="6848475" cy="34479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E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Ejercicios Operativos CRUD: Módulo de Cursos (PostgreSQL)</a:t>
            </a:r>
            <a:endParaRPr lang="es-MX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2054029B-F9D5-4F36-8DCB-C5E82D3E1736}"/>
              </a:ext>
            </a:extLst>
          </p:cNvPr>
          <p:cNvSpPr/>
          <p:nvPr/>
        </p:nvSpPr>
        <p:spPr>
          <a:xfrm>
            <a:off x="2413635" y="377770"/>
            <a:ext cx="441960" cy="43434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MX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CFD0F31-BBD1-40C4-8293-B4FB7AAA90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105" y="2076327"/>
            <a:ext cx="3086531" cy="175284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8400258E-FA27-40A0-AF4B-40C32DED1F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3559" y="2083699"/>
            <a:ext cx="3810532" cy="1952898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B3665450-4D9B-474C-B71B-2F18CDA625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7990" y="2083699"/>
            <a:ext cx="2286319" cy="16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7841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1.png" descr="Resultado de imagen de fondos png">
            <a:extLst>
              <a:ext uri="{FF2B5EF4-FFF2-40B4-BE49-F238E27FC236}">
                <a16:creationId xmlns:a16="http://schemas.microsoft.com/office/drawing/2014/main" id="{ADF88253-865B-47EC-A7E5-D8C9101E0B4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9105" cy="6858000"/>
          </a:xfrm>
          <a:prstGeom prst="rect">
            <a:avLst/>
          </a:prstGeom>
        </p:spPr>
      </p:pic>
      <p:pic>
        <p:nvPicPr>
          <p:cNvPr id="5" name="image1.png" descr="Resultado de imagen de fondos png">
            <a:extLst>
              <a:ext uri="{FF2B5EF4-FFF2-40B4-BE49-F238E27FC236}">
                <a16:creationId xmlns:a16="http://schemas.microsoft.com/office/drawing/2014/main" id="{B4918E82-7A5B-4284-BA49-A7E12F7D120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63375" y="0"/>
            <a:ext cx="459105" cy="6858000"/>
          </a:xfrm>
          <a:prstGeom prst="rect">
            <a:avLst/>
          </a:prstGeom>
        </p:spPr>
      </p:pic>
      <p:pic>
        <p:nvPicPr>
          <p:cNvPr id="6" name="image1.png" descr="Resultado de imagen de fondos png">
            <a:extLst>
              <a:ext uri="{FF2B5EF4-FFF2-40B4-BE49-F238E27FC236}">
                <a16:creationId xmlns:a16="http://schemas.microsoft.com/office/drawing/2014/main" id="{A1AB415F-6170-4547-AF25-5F154A5A992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 rot="5400000">
            <a:off x="5991701" y="-5762150"/>
            <a:ext cx="247651" cy="11771951"/>
          </a:xfrm>
          <a:prstGeom prst="rect">
            <a:avLst/>
          </a:prstGeom>
        </p:spPr>
      </p:pic>
      <p:pic>
        <p:nvPicPr>
          <p:cNvPr id="7" name="image1.png" descr="Resultado de imagen de fondos png">
            <a:extLst>
              <a:ext uri="{FF2B5EF4-FFF2-40B4-BE49-F238E27FC236}">
                <a16:creationId xmlns:a16="http://schemas.microsoft.com/office/drawing/2014/main" id="{24875C65-5A98-4DFC-8737-01C536BAC73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 rot="5400000">
            <a:off x="5972174" y="848199"/>
            <a:ext cx="247651" cy="11771951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633F3B5A-AFEC-40C0-8F93-4E0AFBF6F840}"/>
              </a:ext>
            </a:extLst>
          </p:cNvPr>
          <p:cNvSpPr txBox="1"/>
          <p:nvPr/>
        </p:nvSpPr>
        <p:spPr>
          <a:xfrm>
            <a:off x="542925" y="754959"/>
            <a:ext cx="1109662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s-ES" sz="2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jercicio 7 (Consultar):</a:t>
            </a:r>
            <a:r>
              <a:rPr lang="es-E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Revisamos el listado general de cursos y confirmamos en pantalla la persistencia de las 5 asignaturas creadas en PostgreSQL.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FC991EB5-EFA7-4406-99AA-FC1D06252384}"/>
              </a:ext>
            </a:extLst>
          </p:cNvPr>
          <p:cNvSpPr/>
          <p:nvPr/>
        </p:nvSpPr>
        <p:spPr>
          <a:xfrm>
            <a:off x="2705100" y="419689"/>
            <a:ext cx="6848475" cy="34479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E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Ejercicios Operativos CRUD: Módulo de Cursos (PostgreSQL)</a:t>
            </a:r>
            <a:endParaRPr lang="es-MX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2054029B-F9D5-4F36-8DCB-C5E82D3E1736}"/>
              </a:ext>
            </a:extLst>
          </p:cNvPr>
          <p:cNvSpPr/>
          <p:nvPr/>
        </p:nvSpPr>
        <p:spPr>
          <a:xfrm>
            <a:off x="2413635" y="377770"/>
            <a:ext cx="441960" cy="43434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MX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F0E8371-B0B3-4439-A332-A64A97C7A6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6033" y="1606081"/>
            <a:ext cx="6820852" cy="435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0265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1.png" descr="Resultado de imagen de fondos png">
            <a:extLst>
              <a:ext uri="{FF2B5EF4-FFF2-40B4-BE49-F238E27FC236}">
                <a16:creationId xmlns:a16="http://schemas.microsoft.com/office/drawing/2014/main" id="{ADF88253-865B-47EC-A7E5-D8C9101E0B4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9105" cy="6858000"/>
          </a:xfrm>
          <a:prstGeom prst="rect">
            <a:avLst/>
          </a:prstGeom>
        </p:spPr>
      </p:pic>
      <p:pic>
        <p:nvPicPr>
          <p:cNvPr id="5" name="image1.png" descr="Resultado de imagen de fondos png">
            <a:extLst>
              <a:ext uri="{FF2B5EF4-FFF2-40B4-BE49-F238E27FC236}">
                <a16:creationId xmlns:a16="http://schemas.microsoft.com/office/drawing/2014/main" id="{B4918E82-7A5B-4284-BA49-A7E12F7D120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63375" y="0"/>
            <a:ext cx="459105" cy="6858000"/>
          </a:xfrm>
          <a:prstGeom prst="rect">
            <a:avLst/>
          </a:prstGeom>
        </p:spPr>
      </p:pic>
      <p:pic>
        <p:nvPicPr>
          <p:cNvPr id="6" name="image1.png" descr="Resultado de imagen de fondos png">
            <a:extLst>
              <a:ext uri="{FF2B5EF4-FFF2-40B4-BE49-F238E27FC236}">
                <a16:creationId xmlns:a16="http://schemas.microsoft.com/office/drawing/2014/main" id="{A1AB415F-6170-4547-AF25-5F154A5A992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 rot="5400000">
            <a:off x="5991701" y="-5762150"/>
            <a:ext cx="247651" cy="11771951"/>
          </a:xfrm>
          <a:prstGeom prst="rect">
            <a:avLst/>
          </a:prstGeom>
        </p:spPr>
      </p:pic>
      <p:pic>
        <p:nvPicPr>
          <p:cNvPr id="7" name="image1.png" descr="Resultado de imagen de fondos png">
            <a:extLst>
              <a:ext uri="{FF2B5EF4-FFF2-40B4-BE49-F238E27FC236}">
                <a16:creationId xmlns:a16="http://schemas.microsoft.com/office/drawing/2014/main" id="{24875C65-5A98-4DFC-8737-01C536BAC73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 rot="5400000">
            <a:off x="5972174" y="848199"/>
            <a:ext cx="247651" cy="11771951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633F3B5A-AFEC-40C0-8F93-4E0AFBF6F840}"/>
              </a:ext>
            </a:extLst>
          </p:cNvPr>
          <p:cNvSpPr txBox="1"/>
          <p:nvPr/>
        </p:nvSpPr>
        <p:spPr>
          <a:xfrm>
            <a:off x="542925" y="754959"/>
            <a:ext cx="1109662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Ejercicio 8 (Editar):</a:t>
            </a:r>
            <a:r>
              <a:rPr lang="es-E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Filtramos el ID 3, activamos el formulario de edición, modificamos el nombre del docente a cargo y guardamos los cambios.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FC991EB5-EFA7-4406-99AA-FC1D06252384}"/>
              </a:ext>
            </a:extLst>
          </p:cNvPr>
          <p:cNvSpPr/>
          <p:nvPr/>
        </p:nvSpPr>
        <p:spPr>
          <a:xfrm>
            <a:off x="2705100" y="419689"/>
            <a:ext cx="6848475" cy="34479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E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Ejercicios Operativos CRUD: Módulo de Cursos (PostgreSQL)</a:t>
            </a:r>
            <a:endParaRPr lang="es-MX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2054029B-F9D5-4F36-8DCB-C5E82D3E1736}"/>
              </a:ext>
            </a:extLst>
          </p:cNvPr>
          <p:cNvSpPr/>
          <p:nvPr/>
        </p:nvSpPr>
        <p:spPr>
          <a:xfrm>
            <a:off x="2413635" y="377770"/>
            <a:ext cx="441960" cy="43434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MX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D8315DE-C4B0-4E1F-AF8A-CC9F14867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688" y="1840034"/>
            <a:ext cx="3029373" cy="3715268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2101EF9E-287F-42AA-A107-F6B85E80D8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9463" y="2681155"/>
            <a:ext cx="4744112" cy="1895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0677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1.png" descr="Resultado de imagen de fondos png">
            <a:extLst>
              <a:ext uri="{FF2B5EF4-FFF2-40B4-BE49-F238E27FC236}">
                <a16:creationId xmlns:a16="http://schemas.microsoft.com/office/drawing/2014/main" id="{ADF88253-865B-47EC-A7E5-D8C9101E0B4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9105" cy="6858000"/>
          </a:xfrm>
          <a:prstGeom prst="rect">
            <a:avLst/>
          </a:prstGeom>
        </p:spPr>
      </p:pic>
      <p:pic>
        <p:nvPicPr>
          <p:cNvPr id="5" name="image1.png" descr="Resultado de imagen de fondos png">
            <a:extLst>
              <a:ext uri="{FF2B5EF4-FFF2-40B4-BE49-F238E27FC236}">
                <a16:creationId xmlns:a16="http://schemas.microsoft.com/office/drawing/2014/main" id="{B4918E82-7A5B-4284-BA49-A7E12F7D120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63375" y="0"/>
            <a:ext cx="459105" cy="6858000"/>
          </a:xfrm>
          <a:prstGeom prst="rect">
            <a:avLst/>
          </a:prstGeom>
        </p:spPr>
      </p:pic>
      <p:pic>
        <p:nvPicPr>
          <p:cNvPr id="6" name="image1.png" descr="Resultado de imagen de fondos png">
            <a:extLst>
              <a:ext uri="{FF2B5EF4-FFF2-40B4-BE49-F238E27FC236}">
                <a16:creationId xmlns:a16="http://schemas.microsoft.com/office/drawing/2014/main" id="{A1AB415F-6170-4547-AF25-5F154A5A992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 rot="5400000">
            <a:off x="5991701" y="-5762150"/>
            <a:ext cx="247651" cy="11771951"/>
          </a:xfrm>
          <a:prstGeom prst="rect">
            <a:avLst/>
          </a:prstGeom>
        </p:spPr>
      </p:pic>
      <p:pic>
        <p:nvPicPr>
          <p:cNvPr id="7" name="image1.png" descr="Resultado de imagen de fondos png">
            <a:extLst>
              <a:ext uri="{FF2B5EF4-FFF2-40B4-BE49-F238E27FC236}">
                <a16:creationId xmlns:a16="http://schemas.microsoft.com/office/drawing/2014/main" id="{24875C65-5A98-4DFC-8737-01C536BAC73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 rot="5400000">
            <a:off x="5972174" y="848199"/>
            <a:ext cx="247651" cy="11771951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633F3B5A-AFEC-40C0-8F93-4E0AFBF6F840}"/>
              </a:ext>
            </a:extLst>
          </p:cNvPr>
          <p:cNvSpPr txBox="1"/>
          <p:nvPr/>
        </p:nvSpPr>
        <p:spPr>
          <a:xfrm>
            <a:off x="422910" y="936522"/>
            <a:ext cx="1109662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Ejercicio 9 (Consultar):</a:t>
            </a:r>
            <a:r>
              <a:rPr lang="es-E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Recargamos la tabla de cursos y verificamos que el nuevo profesor quedó mapeado correctamente en la fila del ID 3.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FC991EB5-EFA7-4406-99AA-FC1D06252384}"/>
              </a:ext>
            </a:extLst>
          </p:cNvPr>
          <p:cNvSpPr/>
          <p:nvPr/>
        </p:nvSpPr>
        <p:spPr>
          <a:xfrm>
            <a:off x="2705100" y="419689"/>
            <a:ext cx="6848475" cy="34479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E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Ejercicios Operativos CRUD: Módulo de Cursos (PostgreSQL)</a:t>
            </a:r>
            <a:endParaRPr lang="es-MX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2054029B-F9D5-4F36-8DCB-C5E82D3E1736}"/>
              </a:ext>
            </a:extLst>
          </p:cNvPr>
          <p:cNvSpPr/>
          <p:nvPr/>
        </p:nvSpPr>
        <p:spPr>
          <a:xfrm>
            <a:off x="2413635" y="377770"/>
            <a:ext cx="441960" cy="43434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MX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0129EEE-E2D3-45A5-B1AE-6FE6986E45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2984322"/>
            <a:ext cx="5257800" cy="327865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75F6A4D9-9705-402F-BD97-32434F2D80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2621362"/>
            <a:ext cx="5454884" cy="3481679"/>
          </a:xfrm>
          <a:prstGeom prst="rect">
            <a:avLst/>
          </a:prstGeom>
        </p:spPr>
      </p:pic>
      <p:sp>
        <p:nvSpPr>
          <p:cNvPr id="9" name="Flecha: a la derecha 8">
            <a:extLst>
              <a:ext uri="{FF2B5EF4-FFF2-40B4-BE49-F238E27FC236}">
                <a16:creationId xmlns:a16="http://schemas.microsoft.com/office/drawing/2014/main" id="{AF3977D5-2F88-43E2-A122-76C564AFC01F}"/>
              </a:ext>
            </a:extLst>
          </p:cNvPr>
          <p:cNvSpPr/>
          <p:nvPr/>
        </p:nvSpPr>
        <p:spPr>
          <a:xfrm>
            <a:off x="3257116" y="4867274"/>
            <a:ext cx="459105" cy="247652"/>
          </a:xfrm>
          <a:prstGeom prst="rightArrow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lecha: a la derecha 12">
            <a:extLst>
              <a:ext uri="{FF2B5EF4-FFF2-40B4-BE49-F238E27FC236}">
                <a16:creationId xmlns:a16="http://schemas.microsoft.com/office/drawing/2014/main" id="{C9B738DF-9602-49D5-A69F-D2C3C5A67C16}"/>
              </a:ext>
            </a:extLst>
          </p:cNvPr>
          <p:cNvSpPr/>
          <p:nvPr/>
        </p:nvSpPr>
        <p:spPr>
          <a:xfrm>
            <a:off x="5971223" y="5724247"/>
            <a:ext cx="459105" cy="375481"/>
          </a:xfrm>
          <a:prstGeom prst="rightArrow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398259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1.png" descr="Resultado de imagen de fondos png">
            <a:extLst>
              <a:ext uri="{FF2B5EF4-FFF2-40B4-BE49-F238E27FC236}">
                <a16:creationId xmlns:a16="http://schemas.microsoft.com/office/drawing/2014/main" id="{ADF88253-865B-47EC-A7E5-D8C9101E0B4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9105" cy="6858000"/>
          </a:xfrm>
          <a:prstGeom prst="rect">
            <a:avLst/>
          </a:prstGeom>
        </p:spPr>
      </p:pic>
      <p:pic>
        <p:nvPicPr>
          <p:cNvPr id="5" name="image1.png" descr="Resultado de imagen de fondos png">
            <a:extLst>
              <a:ext uri="{FF2B5EF4-FFF2-40B4-BE49-F238E27FC236}">
                <a16:creationId xmlns:a16="http://schemas.microsoft.com/office/drawing/2014/main" id="{B4918E82-7A5B-4284-BA49-A7E12F7D120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63375" y="0"/>
            <a:ext cx="459105" cy="6858000"/>
          </a:xfrm>
          <a:prstGeom prst="rect">
            <a:avLst/>
          </a:prstGeom>
        </p:spPr>
      </p:pic>
      <p:pic>
        <p:nvPicPr>
          <p:cNvPr id="6" name="image1.png" descr="Resultado de imagen de fondos png">
            <a:extLst>
              <a:ext uri="{FF2B5EF4-FFF2-40B4-BE49-F238E27FC236}">
                <a16:creationId xmlns:a16="http://schemas.microsoft.com/office/drawing/2014/main" id="{A1AB415F-6170-4547-AF25-5F154A5A992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 rot="5400000">
            <a:off x="5991701" y="-5762150"/>
            <a:ext cx="247651" cy="11771951"/>
          </a:xfrm>
          <a:prstGeom prst="rect">
            <a:avLst/>
          </a:prstGeom>
        </p:spPr>
      </p:pic>
      <p:pic>
        <p:nvPicPr>
          <p:cNvPr id="7" name="image1.png" descr="Resultado de imagen de fondos png">
            <a:extLst>
              <a:ext uri="{FF2B5EF4-FFF2-40B4-BE49-F238E27FC236}">
                <a16:creationId xmlns:a16="http://schemas.microsoft.com/office/drawing/2014/main" id="{24875C65-5A98-4DFC-8737-01C536BAC73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 rot="5400000">
            <a:off x="5972174" y="848199"/>
            <a:ext cx="247651" cy="11771951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633F3B5A-AFEC-40C0-8F93-4E0AFBF6F840}"/>
              </a:ext>
            </a:extLst>
          </p:cNvPr>
          <p:cNvSpPr txBox="1"/>
          <p:nvPr/>
        </p:nvSpPr>
        <p:spPr>
          <a:xfrm>
            <a:off x="542925" y="754959"/>
            <a:ext cx="1109662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Ejercicio 10 (Eliminar):</a:t>
            </a:r>
            <a:r>
              <a:rPr lang="es-E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Vamos a la sección de baja de cursos, </a:t>
            </a:r>
            <a:r>
              <a:rPr lang="es-ES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introducemos</a:t>
            </a:r>
            <a:r>
              <a:rPr lang="es-E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el ID 4 (Administración de Bases de Datos) y ejecutamos el borrado. Al listar todos, la materia se elimina, reduciendo el contador visual a 4 filas.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FC991EB5-EFA7-4406-99AA-FC1D06252384}"/>
              </a:ext>
            </a:extLst>
          </p:cNvPr>
          <p:cNvSpPr/>
          <p:nvPr/>
        </p:nvSpPr>
        <p:spPr>
          <a:xfrm>
            <a:off x="2705100" y="419689"/>
            <a:ext cx="6848475" cy="34479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E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Ejercicios Operativos CRUD: Módulo de Cursos (PostgreSQL)</a:t>
            </a:r>
            <a:endParaRPr lang="es-MX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2054029B-F9D5-4F36-8DCB-C5E82D3E1736}"/>
              </a:ext>
            </a:extLst>
          </p:cNvPr>
          <p:cNvSpPr/>
          <p:nvPr/>
        </p:nvSpPr>
        <p:spPr>
          <a:xfrm>
            <a:off x="2413635" y="377770"/>
            <a:ext cx="441960" cy="43434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MX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F195DF2-4B9B-4CB3-9802-A3B711334B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105" y="2277930"/>
            <a:ext cx="5477639" cy="3000794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4CEEC87A-7495-4B71-A3D3-629FABED7E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9713" y="2499987"/>
            <a:ext cx="6220693" cy="296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4994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1.png" descr="Resultado de imagen de fondos png">
            <a:extLst>
              <a:ext uri="{FF2B5EF4-FFF2-40B4-BE49-F238E27FC236}">
                <a16:creationId xmlns:a16="http://schemas.microsoft.com/office/drawing/2014/main" id="{ADF88253-865B-47EC-A7E5-D8C9101E0B4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9105" cy="6858000"/>
          </a:xfrm>
          <a:prstGeom prst="rect">
            <a:avLst/>
          </a:prstGeom>
        </p:spPr>
      </p:pic>
      <p:pic>
        <p:nvPicPr>
          <p:cNvPr id="5" name="image1.png" descr="Resultado de imagen de fondos png">
            <a:extLst>
              <a:ext uri="{FF2B5EF4-FFF2-40B4-BE49-F238E27FC236}">
                <a16:creationId xmlns:a16="http://schemas.microsoft.com/office/drawing/2014/main" id="{B4918E82-7A5B-4284-BA49-A7E12F7D120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63375" y="0"/>
            <a:ext cx="459105" cy="6858000"/>
          </a:xfrm>
          <a:prstGeom prst="rect">
            <a:avLst/>
          </a:prstGeom>
        </p:spPr>
      </p:pic>
      <p:pic>
        <p:nvPicPr>
          <p:cNvPr id="6" name="image1.png" descr="Resultado de imagen de fondos png">
            <a:extLst>
              <a:ext uri="{FF2B5EF4-FFF2-40B4-BE49-F238E27FC236}">
                <a16:creationId xmlns:a16="http://schemas.microsoft.com/office/drawing/2014/main" id="{A1AB415F-6170-4547-AF25-5F154A5A992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 rot="5400000">
            <a:off x="5991701" y="-5762150"/>
            <a:ext cx="247651" cy="11771951"/>
          </a:xfrm>
          <a:prstGeom prst="rect">
            <a:avLst/>
          </a:prstGeom>
        </p:spPr>
      </p:pic>
      <p:pic>
        <p:nvPicPr>
          <p:cNvPr id="7" name="image1.png" descr="Resultado de imagen de fondos png">
            <a:extLst>
              <a:ext uri="{FF2B5EF4-FFF2-40B4-BE49-F238E27FC236}">
                <a16:creationId xmlns:a16="http://schemas.microsoft.com/office/drawing/2014/main" id="{24875C65-5A98-4DFC-8737-01C536BAC73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 rot="5400000">
            <a:off x="5972174" y="848199"/>
            <a:ext cx="247651" cy="11771951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633F3B5A-AFEC-40C0-8F93-4E0AFBF6F840}"/>
              </a:ext>
            </a:extLst>
          </p:cNvPr>
          <p:cNvSpPr txBox="1"/>
          <p:nvPr/>
        </p:nvSpPr>
        <p:spPr>
          <a:xfrm>
            <a:off x="542925" y="754959"/>
            <a:ext cx="1109662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 las materias existentes y activas en el sistema distribuido, procedemos a realizar el registro e inscripción de los alumnos en MySQL, asociándolos a los </a:t>
            </a:r>
            <a:r>
              <a:rPr lang="es-ES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IDs</a:t>
            </a:r>
            <a:r>
              <a:rPr lang="es-E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 los cursos creados previamente:</a:t>
            </a:r>
          </a:p>
          <a:p>
            <a:pPr algn="just"/>
            <a:endParaRPr lang="es-ES" sz="20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sz="2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Ejercicio 11 (Consultar): </a:t>
            </a:r>
            <a:r>
              <a:rPr lang="es-E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Entramos a "Consultar por ID" en Alumnos, buscamos el ID 1 y la interfaz arroja que el estudiante no existe.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FC991EB5-EFA7-4406-99AA-FC1D06252384}"/>
              </a:ext>
            </a:extLst>
          </p:cNvPr>
          <p:cNvSpPr/>
          <p:nvPr/>
        </p:nvSpPr>
        <p:spPr>
          <a:xfrm>
            <a:off x="2705100" y="419689"/>
            <a:ext cx="6848475" cy="34479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E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Ejercicios Operativos CRUD: Módulo de Estudiantes (MySQL)</a:t>
            </a:r>
            <a:endParaRPr lang="es-MX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2054029B-F9D5-4F36-8DCB-C5E82D3E1736}"/>
              </a:ext>
            </a:extLst>
          </p:cNvPr>
          <p:cNvSpPr/>
          <p:nvPr/>
        </p:nvSpPr>
        <p:spPr>
          <a:xfrm>
            <a:off x="2413635" y="377770"/>
            <a:ext cx="441960" cy="43434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MX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104A4D3-012C-48E8-A4A5-7B90AFFF96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2056" y="2947781"/>
            <a:ext cx="5706271" cy="296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5080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1.png" descr="Resultado de imagen de fondos png">
            <a:extLst>
              <a:ext uri="{FF2B5EF4-FFF2-40B4-BE49-F238E27FC236}">
                <a16:creationId xmlns:a16="http://schemas.microsoft.com/office/drawing/2014/main" id="{ADF88253-865B-47EC-A7E5-D8C9101E0B4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9105" cy="6858000"/>
          </a:xfrm>
          <a:prstGeom prst="rect">
            <a:avLst/>
          </a:prstGeom>
        </p:spPr>
      </p:pic>
      <p:pic>
        <p:nvPicPr>
          <p:cNvPr id="5" name="image1.png" descr="Resultado de imagen de fondos png">
            <a:extLst>
              <a:ext uri="{FF2B5EF4-FFF2-40B4-BE49-F238E27FC236}">
                <a16:creationId xmlns:a16="http://schemas.microsoft.com/office/drawing/2014/main" id="{B4918E82-7A5B-4284-BA49-A7E12F7D120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63375" y="0"/>
            <a:ext cx="459105" cy="6858000"/>
          </a:xfrm>
          <a:prstGeom prst="rect">
            <a:avLst/>
          </a:prstGeom>
        </p:spPr>
      </p:pic>
      <p:pic>
        <p:nvPicPr>
          <p:cNvPr id="6" name="image1.png" descr="Resultado de imagen de fondos png">
            <a:extLst>
              <a:ext uri="{FF2B5EF4-FFF2-40B4-BE49-F238E27FC236}">
                <a16:creationId xmlns:a16="http://schemas.microsoft.com/office/drawing/2014/main" id="{A1AB415F-6170-4547-AF25-5F154A5A992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 rot="5400000">
            <a:off x="5991701" y="-5762150"/>
            <a:ext cx="247651" cy="11771951"/>
          </a:xfrm>
          <a:prstGeom prst="rect">
            <a:avLst/>
          </a:prstGeom>
        </p:spPr>
      </p:pic>
      <p:pic>
        <p:nvPicPr>
          <p:cNvPr id="7" name="image1.png" descr="Resultado de imagen de fondos png">
            <a:extLst>
              <a:ext uri="{FF2B5EF4-FFF2-40B4-BE49-F238E27FC236}">
                <a16:creationId xmlns:a16="http://schemas.microsoft.com/office/drawing/2014/main" id="{24875C65-5A98-4DFC-8737-01C536BAC73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 rot="5400000">
            <a:off x="5972174" y="848199"/>
            <a:ext cx="247651" cy="11771951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633F3B5A-AFEC-40C0-8F93-4E0AFBF6F840}"/>
              </a:ext>
            </a:extLst>
          </p:cNvPr>
          <p:cNvSpPr txBox="1"/>
          <p:nvPr/>
        </p:nvSpPr>
        <p:spPr>
          <a:xfrm>
            <a:off x="542925" y="754959"/>
            <a:ext cx="1109662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Ejercicio 12 (Crear):</a:t>
            </a:r>
            <a:r>
              <a:rPr lang="es-E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Vamos a "Registrar Nuevo", llenamos los campos con Vanni Gutiérrez Pérez con su correo e ingresamos el </a:t>
            </a:r>
            <a:r>
              <a:rPr lang="es-ES" sz="2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 de Curso 1</a:t>
            </a:r>
            <a:r>
              <a:rPr lang="es-E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para inscribirlo a Microcontroladores.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FC991EB5-EFA7-4406-99AA-FC1D06252384}"/>
              </a:ext>
            </a:extLst>
          </p:cNvPr>
          <p:cNvSpPr/>
          <p:nvPr/>
        </p:nvSpPr>
        <p:spPr>
          <a:xfrm>
            <a:off x="2705100" y="419689"/>
            <a:ext cx="6848475" cy="34479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E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Ejercicios Operativos CRUD: Módulo de Estudiantes (MySQL)</a:t>
            </a:r>
            <a:endParaRPr lang="es-MX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2054029B-F9D5-4F36-8DCB-C5E82D3E1736}"/>
              </a:ext>
            </a:extLst>
          </p:cNvPr>
          <p:cNvSpPr/>
          <p:nvPr/>
        </p:nvSpPr>
        <p:spPr>
          <a:xfrm>
            <a:off x="2413635" y="377770"/>
            <a:ext cx="441960" cy="43434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MX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79F21B1-EF9F-48ED-8E59-0169F88077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1454" y="2002720"/>
            <a:ext cx="5496692" cy="4143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7995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1.png" descr="Resultado de imagen de fondos png">
            <a:extLst>
              <a:ext uri="{FF2B5EF4-FFF2-40B4-BE49-F238E27FC236}">
                <a16:creationId xmlns:a16="http://schemas.microsoft.com/office/drawing/2014/main" id="{ADF88253-865B-47EC-A7E5-D8C9101E0B4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9105" cy="6858000"/>
          </a:xfrm>
          <a:prstGeom prst="rect">
            <a:avLst/>
          </a:prstGeom>
        </p:spPr>
      </p:pic>
      <p:pic>
        <p:nvPicPr>
          <p:cNvPr id="5" name="image1.png" descr="Resultado de imagen de fondos png">
            <a:extLst>
              <a:ext uri="{FF2B5EF4-FFF2-40B4-BE49-F238E27FC236}">
                <a16:creationId xmlns:a16="http://schemas.microsoft.com/office/drawing/2014/main" id="{B4918E82-7A5B-4284-BA49-A7E12F7D120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63375" y="0"/>
            <a:ext cx="459105" cy="6858000"/>
          </a:xfrm>
          <a:prstGeom prst="rect">
            <a:avLst/>
          </a:prstGeom>
        </p:spPr>
      </p:pic>
      <p:pic>
        <p:nvPicPr>
          <p:cNvPr id="6" name="image1.png" descr="Resultado de imagen de fondos png">
            <a:extLst>
              <a:ext uri="{FF2B5EF4-FFF2-40B4-BE49-F238E27FC236}">
                <a16:creationId xmlns:a16="http://schemas.microsoft.com/office/drawing/2014/main" id="{A1AB415F-6170-4547-AF25-5F154A5A992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 rot="5400000">
            <a:off x="5991701" y="-5762150"/>
            <a:ext cx="247651" cy="11771951"/>
          </a:xfrm>
          <a:prstGeom prst="rect">
            <a:avLst/>
          </a:prstGeom>
        </p:spPr>
      </p:pic>
      <p:pic>
        <p:nvPicPr>
          <p:cNvPr id="7" name="image1.png" descr="Resultado de imagen de fondos png">
            <a:extLst>
              <a:ext uri="{FF2B5EF4-FFF2-40B4-BE49-F238E27FC236}">
                <a16:creationId xmlns:a16="http://schemas.microsoft.com/office/drawing/2014/main" id="{24875C65-5A98-4DFC-8737-01C536BAC73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 rot="5400000">
            <a:off x="5972174" y="848199"/>
            <a:ext cx="247651" cy="11771951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633F3B5A-AFEC-40C0-8F93-4E0AFBF6F840}"/>
              </a:ext>
            </a:extLst>
          </p:cNvPr>
          <p:cNvSpPr txBox="1"/>
          <p:nvPr/>
        </p:nvSpPr>
        <p:spPr>
          <a:xfrm>
            <a:off x="547686" y="1212159"/>
            <a:ext cx="1109662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Ejercicio 13 (Consultar):</a:t>
            </a:r>
            <a:r>
              <a:rPr lang="es-E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Volvemos a "Listar Todos" y verificamos que el alumno ya aparece en la tabla con el ID 1 de MySQL y su ID de curso asociado.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FC991EB5-EFA7-4406-99AA-FC1D06252384}"/>
              </a:ext>
            </a:extLst>
          </p:cNvPr>
          <p:cNvSpPr/>
          <p:nvPr/>
        </p:nvSpPr>
        <p:spPr>
          <a:xfrm>
            <a:off x="2705100" y="419689"/>
            <a:ext cx="6848475" cy="34479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E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Ejercicios Operativos CRUD: Módulo de Estudiantes (MySQL)</a:t>
            </a:r>
            <a:endParaRPr lang="es-MX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2054029B-F9D5-4F36-8DCB-C5E82D3E1736}"/>
              </a:ext>
            </a:extLst>
          </p:cNvPr>
          <p:cNvSpPr/>
          <p:nvPr/>
        </p:nvSpPr>
        <p:spPr>
          <a:xfrm>
            <a:off x="2413635" y="377770"/>
            <a:ext cx="441960" cy="43434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MX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D0731C0-2D96-420D-93A5-CEE497BE69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8905" y="2651636"/>
            <a:ext cx="6639852" cy="2286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8078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1.png" descr="Resultado de imagen de fondos png">
            <a:extLst>
              <a:ext uri="{FF2B5EF4-FFF2-40B4-BE49-F238E27FC236}">
                <a16:creationId xmlns:a16="http://schemas.microsoft.com/office/drawing/2014/main" id="{ADF88253-865B-47EC-A7E5-D8C9101E0B4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9105" cy="6858000"/>
          </a:xfrm>
          <a:prstGeom prst="rect">
            <a:avLst/>
          </a:prstGeom>
        </p:spPr>
      </p:pic>
      <p:pic>
        <p:nvPicPr>
          <p:cNvPr id="5" name="image1.png" descr="Resultado de imagen de fondos png">
            <a:extLst>
              <a:ext uri="{FF2B5EF4-FFF2-40B4-BE49-F238E27FC236}">
                <a16:creationId xmlns:a16="http://schemas.microsoft.com/office/drawing/2014/main" id="{B4918E82-7A5B-4284-BA49-A7E12F7D120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63375" y="0"/>
            <a:ext cx="459105" cy="6858000"/>
          </a:xfrm>
          <a:prstGeom prst="rect">
            <a:avLst/>
          </a:prstGeom>
        </p:spPr>
      </p:pic>
      <p:pic>
        <p:nvPicPr>
          <p:cNvPr id="6" name="image1.png" descr="Resultado de imagen de fondos png">
            <a:extLst>
              <a:ext uri="{FF2B5EF4-FFF2-40B4-BE49-F238E27FC236}">
                <a16:creationId xmlns:a16="http://schemas.microsoft.com/office/drawing/2014/main" id="{A1AB415F-6170-4547-AF25-5F154A5A992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 rot="5400000">
            <a:off x="5991701" y="-5762150"/>
            <a:ext cx="247651" cy="11771951"/>
          </a:xfrm>
          <a:prstGeom prst="rect">
            <a:avLst/>
          </a:prstGeom>
        </p:spPr>
      </p:pic>
      <p:pic>
        <p:nvPicPr>
          <p:cNvPr id="7" name="image1.png" descr="Resultado de imagen de fondos png">
            <a:extLst>
              <a:ext uri="{FF2B5EF4-FFF2-40B4-BE49-F238E27FC236}">
                <a16:creationId xmlns:a16="http://schemas.microsoft.com/office/drawing/2014/main" id="{24875C65-5A98-4DFC-8737-01C536BAC73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 rot="5400000">
            <a:off x="5972174" y="848199"/>
            <a:ext cx="247651" cy="11771951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633F3B5A-AFEC-40C0-8F93-4E0AFBF6F840}"/>
              </a:ext>
            </a:extLst>
          </p:cNvPr>
          <p:cNvSpPr txBox="1"/>
          <p:nvPr/>
        </p:nvSpPr>
        <p:spPr>
          <a:xfrm>
            <a:off x="542925" y="754959"/>
            <a:ext cx="1109662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Ejercicio 14 (Crear):</a:t>
            </a:r>
            <a:r>
              <a:rPr lang="es-E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En "Registrar Nuevo", damos de alta a una segunda alumna con el nombre Ana Guillen y la ligamos al </a:t>
            </a:r>
            <a:r>
              <a:rPr lang="es-ES" sz="2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 de Curso 2</a:t>
            </a:r>
            <a:r>
              <a:rPr lang="es-E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(Microservicios).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FC991EB5-EFA7-4406-99AA-FC1D06252384}"/>
              </a:ext>
            </a:extLst>
          </p:cNvPr>
          <p:cNvSpPr/>
          <p:nvPr/>
        </p:nvSpPr>
        <p:spPr>
          <a:xfrm>
            <a:off x="2705100" y="419689"/>
            <a:ext cx="6848475" cy="34479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E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Ejercicios Operativos CRUD: Módulo de Estudiantes (MySQL)</a:t>
            </a:r>
            <a:endParaRPr lang="es-MX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2054029B-F9D5-4F36-8DCB-C5E82D3E1736}"/>
              </a:ext>
            </a:extLst>
          </p:cNvPr>
          <p:cNvSpPr/>
          <p:nvPr/>
        </p:nvSpPr>
        <p:spPr>
          <a:xfrm>
            <a:off x="2413635" y="377770"/>
            <a:ext cx="441960" cy="43434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MX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EA3C42A-7AF7-4047-A8E9-52C9ED1998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165" y="1903778"/>
            <a:ext cx="5687219" cy="4534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1046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1.png" descr="Resultado de imagen de fondos png">
            <a:extLst>
              <a:ext uri="{FF2B5EF4-FFF2-40B4-BE49-F238E27FC236}">
                <a16:creationId xmlns:a16="http://schemas.microsoft.com/office/drawing/2014/main" id="{ADF88253-865B-47EC-A7E5-D8C9101E0B4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9105" cy="6858000"/>
          </a:xfrm>
          <a:prstGeom prst="rect">
            <a:avLst/>
          </a:prstGeom>
        </p:spPr>
      </p:pic>
      <p:pic>
        <p:nvPicPr>
          <p:cNvPr id="5" name="image1.png" descr="Resultado de imagen de fondos png">
            <a:extLst>
              <a:ext uri="{FF2B5EF4-FFF2-40B4-BE49-F238E27FC236}">
                <a16:creationId xmlns:a16="http://schemas.microsoft.com/office/drawing/2014/main" id="{B4918E82-7A5B-4284-BA49-A7E12F7D120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63375" y="0"/>
            <a:ext cx="459105" cy="6858000"/>
          </a:xfrm>
          <a:prstGeom prst="rect">
            <a:avLst/>
          </a:prstGeom>
        </p:spPr>
      </p:pic>
      <p:pic>
        <p:nvPicPr>
          <p:cNvPr id="6" name="image1.png" descr="Resultado de imagen de fondos png">
            <a:extLst>
              <a:ext uri="{FF2B5EF4-FFF2-40B4-BE49-F238E27FC236}">
                <a16:creationId xmlns:a16="http://schemas.microsoft.com/office/drawing/2014/main" id="{A1AB415F-6170-4547-AF25-5F154A5A992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 rot="5400000">
            <a:off x="5991701" y="-5762150"/>
            <a:ext cx="247651" cy="11771951"/>
          </a:xfrm>
          <a:prstGeom prst="rect">
            <a:avLst/>
          </a:prstGeom>
        </p:spPr>
      </p:pic>
      <p:pic>
        <p:nvPicPr>
          <p:cNvPr id="7" name="image1.png" descr="Resultado de imagen de fondos png">
            <a:extLst>
              <a:ext uri="{FF2B5EF4-FFF2-40B4-BE49-F238E27FC236}">
                <a16:creationId xmlns:a16="http://schemas.microsoft.com/office/drawing/2014/main" id="{24875C65-5A98-4DFC-8737-01C536BAC73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 rot="5400000">
            <a:off x="5972174" y="848199"/>
            <a:ext cx="247651" cy="11771951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633F3B5A-AFEC-40C0-8F93-4E0AFBF6F840}"/>
              </a:ext>
            </a:extLst>
          </p:cNvPr>
          <p:cNvSpPr txBox="1"/>
          <p:nvPr/>
        </p:nvSpPr>
        <p:spPr>
          <a:xfrm>
            <a:off x="542925" y="754959"/>
            <a:ext cx="1109662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Ejercicio 15 (Consultar):</a:t>
            </a:r>
            <a:r>
              <a:rPr lang="es-E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Entramos a "Consultar por ID", digitamos el ID 2 y la interfaz extrae con éxito los datos y la matrícula de curso de Ana Guillen.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FC991EB5-EFA7-4406-99AA-FC1D06252384}"/>
              </a:ext>
            </a:extLst>
          </p:cNvPr>
          <p:cNvSpPr/>
          <p:nvPr/>
        </p:nvSpPr>
        <p:spPr>
          <a:xfrm>
            <a:off x="2705100" y="419689"/>
            <a:ext cx="6848475" cy="34479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E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Ejercicios Operativos CRUD: Módulo de Estudiantes (MySQL)</a:t>
            </a:r>
            <a:endParaRPr lang="es-MX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2054029B-F9D5-4F36-8DCB-C5E82D3E1736}"/>
              </a:ext>
            </a:extLst>
          </p:cNvPr>
          <p:cNvSpPr/>
          <p:nvPr/>
        </p:nvSpPr>
        <p:spPr>
          <a:xfrm>
            <a:off x="2413635" y="377770"/>
            <a:ext cx="441960" cy="43434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MX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ACC8688-69DB-4DE8-8EE1-FF219400DC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5100" y="1702646"/>
            <a:ext cx="6287377" cy="4667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3565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1.png" descr="Resultado de imagen de fondos png">
            <a:extLst>
              <a:ext uri="{FF2B5EF4-FFF2-40B4-BE49-F238E27FC236}">
                <a16:creationId xmlns:a16="http://schemas.microsoft.com/office/drawing/2014/main" id="{ADF88253-865B-47EC-A7E5-D8C9101E0B4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9105" cy="6858000"/>
          </a:xfrm>
          <a:prstGeom prst="rect">
            <a:avLst/>
          </a:prstGeom>
        </p:spPr>
      </p:pic>
      <p:pic>
        <p:nvPicPr>
          <p:cNvPr id="5" name="image1.png" descr="Resultado de imagen de fondos png">
            <a:extLst>
              <a:ext uri="{FF2B5EF4-FFF2-40B4-BE49-F238E27FC236}">
                <a16:creationId xmlns:a16="http://schemas.microsoft.com/office/drawing/2014/main" id="{B4918E82-7A5B-4284-BA49-A7E12F7D120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63375" y="0"/>
            <a:ext cx="459105" cy="6858000"/>
          </a:xfrm>
          <a:prstGeom prst="rect">
            <a:avLst/>
          </a:prstGeom>
        </p:spPr>
      </p:pic>
      <p:pic>
        <p:nvPicPr>
          <p:cNvPr id="6" name="image1.png" descr="Resultado de imagen de fondos png">
            <a:extLst>
              <a:ext uri="{FF2B5EF4-FFF2-40B4-BE49-F238E27FC236}">
                <a16:creationId xmlns:a16="http://schemas.microsoft.com/office/drawing/2014/main" id="{A1AB415F-6170-4547-AF25-5F154A5A992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 rot="5400000">
            <a:off x="5991701" y="-5762150"/>
            <a:ext cx="247651" cy="11771951"/>
          </a:xfrm>
          <a:prstGeom prst="rect">
            <a:avLst/>
          </a:prstGeom>
        </p:spPr>
      </p:pic>
      <p:pic>
        <p:nvPicPr>
          <p:cNvPr id="7" name="image1.png" descr="Resultado de imagen de fondos png">
            <a:extLst>
              <a:ext uri="{FF2B5EF4-FFF2-40B4-BE49-F238E27FC236}">
                <a16:creationId xmlns:a16="http://schemas.microsoft.com/office/drawing/2014/main" id="{24875C65-5A98-4DFC-8737-01C536BAC73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 rot="5400000">
            <a:off x="5972174" y="848199"/>
            <a:ext cx="247651" cy="11771951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633F3B5A-AFEC-40C0-8F93-4E0AFBF6F840}"/>
              </a:ext>
            </a:extLst>
          </p:cNvPr>
          <p:cNvSpPr txBox="1"/>
          <p:nvPr/>
        </p:nvSpPr>
        <p:spPr>
          <a:xfrm>
            <a:off x="542925" y="754959"/>
            <a:ext cx="1109662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Ejercicio 16 (Crear):</a:t>
            </a:r>
            <a:r>
              <a:rPr lang="es-E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Registramos tres alumnos más (Santiago </a:t>
            </a:r>
            <a:r>
              <a:rPr lang="es-ES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Perez</a:t>
            </a:r>
            <a:r>
              <a:rPr lang="es-E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Luis </a:t>
            </a:r>
            <a:r>
              <a:rPr lang="es-ES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Ramirez</a:t>
            </a:r>
            <a:r>
              <a:rPr lang="es-E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s-ES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Maria</a:t>
            </a:r>
            <a:r>
              <a:rPr lang="es-E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González) distribuyéndolos en los </a:t>
            </a:r>
            <a:r>
              <a:rPr lang="es-ES" sz="2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 de curso 1, 3 y 5</a:t>
            </a:r>
            <a:r>
              <a:rPr lang="es-E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existentes.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FC991EB5-EFA7-4406-99AA-FC1D06252384}"/>
              </a:ext>
            </a:extLst>
          </p:cNvPr>
          <p:cNvSpPr/>
          <p:nvPr/>
        </p:nvSpPr>
        <p:spPr>
          <a:xfrm>
            <a:off x="2705100" y="419689"/>
            <a:ext cx="6848475" cy="34479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E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Ejercicios Operativos CRUD: Módulo de Estudiantes (MySQL)</a:t>
            </a:r>
            <a:endParaRPr lang="es-MX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2054029B-F9D5-4F36-8DCB-C5E82D3E1736}"/>
              </a:ext>
            </a:extLst>
          </p:cNvPr>
          <p:cNvSpPr/>
          <p:nvPr/>
        </p:nvSpPr>
        <p:spPr>
          <a:xfrm>
            <a:off x="2413635" y="377770"/>
            <a:ext cx="441960" cy="43434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MX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D041C53-4FAB-4767-B0A5-3242EE2520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" y="1840034"/>
            <a:ext cx="2924583" cy="246731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9FB07FB6-14A4-4804-8144-305FBD08DF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9311" y="2219156"/>
            <a:ext cx="3067478" cy="2419688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3AC38001-CBF0-4DD5-B687-3786C37AAD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2031" y="2009100"/>
            <a:ext cx="2610214" cy="239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2753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1.png" descr="Resultado de imagen de fondos png">
            <a:extLst>
              <a:ext uri="{FF2B5EF4-FFF2-40B4-BE49-F238E27FC236}">
                <a16:creationId xmlns:a16="http://schemas.microsoft.com/office/drawing/2014/main" id="{ADF88253-865B-47EC-A7E5-D8C9101E0B4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9105" cy="6858000"/>
          </a:xfrm>
          <a:prstGeom prst="rect">
            <a:avLst/>
          </a:prstGeom>
        </p:spPr>
      </p:pic>
      <p:pic>
        <p:nvPicPr>
          <p:cNvPr id="5" name="image1.png" descr="Resultado de imagen de fondos png">
            <a:extLst>
              <a:ext uri="{FF2B5EF4-FFF2-40B4-BE49-F238E27FC236}">
                <a16:creationId xmlns:a16="http://schemas.microsoft.com/office/drawing/2014/main" id="{B4918E82-7A5B-4284-BA49-A7E12F7D120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63375" y="0"/>
            <a:ext cx="459105" cy="6858000"/>
          </a:xfrm>
          <a:prstGeom prst="rect">
            <a:avLst/>
          </a:prstGeom>
        </p:spPr>
      </p:pic>
      <p:pic>
        <p:nvPicPr>
          <p:cNvPr id="6" name="image1.png" descr="Resultado de imagen de fondos png">
            <a:extLst>
              <a:ext uri="{FF2B5EF4-FFF2-40B4-BE49-F238E27FC236}">
                <a16:creationId xmlns:a16="http://schemas.microsoft.com/office/drawing/2014/main" id="{A1AB415F-6170-4547-AF25-5F154A5A992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 rot="5400000">
            <a:off x="5991701" y="-5762150"/>
            <a:ext cx="247651" cy="11771951"/>
          </a:xfrm>
          <a:prstGeom prst="rect">
            <a:avLst/>
          </a:prstGeom>
        </p:spPr>
      </p:pic>
      <p:pic>
        <p:nvPicPr>
          <p:cNvPr id="7" name="image1.png" descr="Resultado de imagen de fondos png">
            <a:extLst>
              <a:ext uri="{FF2B5EF4-FFF2-40B4-BE49-F238E27FC236}">
                <a16:creationId xmlns:a16="http://schemas.microsoft.com/office/drawing/2014/main" id="{24875C65-5A98-4DFC-8737-01C536BAC73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 rot="5400000">
            <a:off x="5972174" y="848199"/>
            <a:ext cx="247651" cy="11771951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633F3B5A-AFEC-40C0-8F93-4E0AFBF6F840}"/>
              </a:ext>
            </a:extLst>
          </p:cNvPr>
          <p:cNvSpPr txBox="1"/>
          <p:nvPr/>
        </p:nvSpPr>
        <p:spPr>
          <a:xfrm>
            <a:off x="542925" y="754959"/>
            <a:ext cx="1109662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Ejercicio 17 (Consultar):</a:t>
            </a:r>
            <a:r>
              <a:rPr lang="es-E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Vamos a "Listar Todos" y comprobamos que la tabla de MySQL ahora tiene los 5 alumnos listados de forma consecutiva.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FC991EB5-EFA7-4406-99AA-FC1D06252384}"/>
              </a:ext>
            </a:extLst>
          </p:cNvPr>
          <p:cNvSpPr/>
          <p:nvPr/>
        </p:nvSpPr>
        <p:spPr>
          <a:xfrm>
            <a:off x="2705100" y="419689"/>
            <a:ext cx="6848475" cy="34479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E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Ejercicios Operativos CRUD: Módulo de Estudiantes (MySQL)</a:t>
            </a:r>
            <a:endParaRPr lang="es-MX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2054029B-F9D5-4F36-8DCB-C5E82D3E1736}"/>
              </a:ext>
            </a:extLst>
          </p:cNvPr>
          <p:cNvSpPr/>
          <p:nvPr/>
        </p:nvSpPr>
        <p:spPr>
          <a:xfrm>
            <a:off x="2413635" y="377770"/>
            <a:ext cx="441960" cy="43434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MX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620752B-CBFB-44F5-A0D9-1745935D76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5612" y="1690406"/>
            <a:ext cx="6611273" cy="4029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0716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1.png" descr="Resultado de imagen de fondos png">
            <a:extLst>
              <a:ext uri="{FF2B5EF4-FFF2-40B4-BE49-F238E27FC236}">
                <a16:creationId xmlns:a16="http://schemas.microsoft.com/office/drawing/2014/main" id="{ADF88253-865B-47EC-A7E5-D8C9101E0B4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9105" cy="6858000"/>
          </a:xfrm>
          <a:prstGeom prst="rect">
            <a:avLst/>
          </a:prstGeom>
        </p:spPr>
      </p:pic>
      <p:pic>
        <p:nvPicPr>
          <p:cNvPr id="5" name="image1.png" descr="Resultado de imagen de fondos png">
            <a:extLst>
              <a:ext uri="{FF2B5EF4-FFF2-40B4-BE49-F238E27FC236}">
                <a16:creationId xmlns:a16="http://schemas.microsoft.com/office/drawing/2014/main" id="{B4918E82-7A5B-4284-BA49-A7E12F7D120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63375" y="0"/>
            <a:ext cx="459105" cy="6858000"/>
          </a:xfrm>
          <a:prstGeom prst="rect">
            <a:avLst/>
          </a:prstGeom>
        </p:spPr>
      </p:pic>
      <p:pic>
        <p:nvPicPr>
          <p:cNvPr id="6" name="image1.png" descr="Resultado de imagen de fondos png">
            <a:extLst>
              <a:ext uri="{FF2B5EF4-FFF2-40B4-BE49-F238E27FC236}">
                <a16:creationId xmlns:a16="http://schemas.microsoft.com/office/drawing/2014/main" id="{A1AB415F-6170-4547-AF25-5F154A5A992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 rot="5400000">
            <a:off x="5991701" y="-5762150"/>
            <a:ext cx="247651" cy="11771951"/>
          </a:xfrm>
          <a:prstGeom prst="rect">
            <a:avLst/>
          </a:prstGeom>
        </p:spPr>
      </p:pic>
      <p:pic>
        <p:nvPicPr>
          <p:cNvPr id="7" name="image1.png" descr="Resultado de imagen de fondos png">
            <a:extLst>
              <a:ext uri="{FF2B5EF4-FFF2-40B4-BE49-F238E27FC236}">
                <a16:creationId xmlns:a16="http://schemas.microsoft.com/office/drawing/2014/main" id="{24875C65-5A98-4DFC-8737-01C536BAC73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 rot="5400000">
            <a:off x="5972174" y="848199"/>
            <a:ext cx="247651" cy="11771951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633F3B5A-AFEC-40C0-8F93-4E0AFBF6F840}"/>
              </a:ext>
            </a:extLst>
          </p:cNvPr>
          <p:cNvSpPr txBox="1"/>
          <p:nvPr/>
        </p:nvSpPr>
        <p:spPr>
          <a:xfrm>
            <a:off x="542925" y="754959"/>
            <a:ext cx="1109662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Ejercicio 18 (Editar):</a:t>
            </a:r>
            <a:r>
              <a:rPr lang="es-E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Buscamos el ID 1 en la consulta, le damos al botón "Modificar", cambiamos el apellido a </a:t>
            </a:r>
            <a:r>
              <a:rPr lang="es-ES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Developer</a:t>
            </a:r>
            <a:r>
              <a:rPr lang="es-E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actualizamos el correo personal en el formulario y guardamos los cambios.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FC991EB5-EFA7-4406-99AA-FC1D06252384}"/>
              </a:ext>
            </a:extLst>
          </p:cNvPr>
          <p:cNvSpPr/>
          <p:nvPr/>
        </p:nvSpPr>
        <p:spPr>
          <a:xfrm>
            <a:off x="2705100" y="419689"/>
            <a:ext cx="6848475" cy="34479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E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Ejercicios Operativos CRUD: Módulo de Estudiantes (MySQL)</a:t>
            </a:r>
            <a:endParaRPr lang="es-MX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2054029B-F9D5-4F36-8DCB-C5E82D3E1736}"/>
              </a:ext>
            </a:extLst>
          </p:cNvPr>
          <p:cNvSpPr/>
          <p:nvPr/>
        </p:nvSpPr>
        <p:spPr>
          <a:xfrm>
            <a:off x="2413635" y="377770"/>
            <a:ext cx="441960" cy="43434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MX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7E1E10CD-B03A-46E3-B91A-55E1604798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428" y="2085758"/>
            <a:ext cx="3210373" cy="3105583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2EEE9F79-FED0-4803-BA7D-EE28D3451E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0823" y="2552548"/>
            <a:ext cx="4686954" cy="263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7846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1.png" descr="Resultado de imagen de fondos png">
            <a:extLst>
              <a:ext uri="{FF2B5EF4-FFF2-40B4-BE49-F238E27FC236}">
                <a16:creationId xmlns:a16="http://schemas.microsoft.com/office/drawing/2014/main" id="{ADF88253-865B-47EC-A7E5-D8C9101E0B4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9105" cy="6858000"/>
          </a:xfrm>
          <a:prstGeom prst="rect">
            <a:avLst/>
          </a:prstGeom>
        </p:spPr>
      </p:pic>
      <p:pic>
        <p:nvPicPr>
          <p:cNvPr id="5" name="image1.png" descr="Resultado de imagen de fondos png">
            <a:extLst>
              <a:ext uri="{FF2B5EF4-FFF2-40B4-BE49-F238E27FC236}">
                <a16:creationId xmlns:a16="http://schemas.microsoft.com/office/drawing/2014/main" id="{B4918E82-7A5B-4284-BA49-A7E12F7D120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63375" y="0"/>
            <a:ext cx="459105" cy="6858000"/>
          </a:xfrm>
          <a:prstGeom prst="rect">
            <a:avLst/>
          </a:prstGeom>
        </p:spPr>
      </p:pic>
      <p:pic>
        <p:nvPicPr>
          <p:cNvPr id="6" name="image1.png" descr="Resultado de imagen de fondos png">
            <a:extLst>
              <a:ext uri="{FF2B5EF4-FFF2-40B4-BE49-F238E27FC236}">
                <a16:creationId xmlns:a16="http://schemas.microsoft.com/office/drawing/2014/main" id="{A1AB415F-6170-4547-AF25-5F154A5A992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 rot="5400000">
            <a:off x="5991701" y="-5762150"/>
            <a:ext cx="247651" cy="11771951"/>
          </a:xfrm>
          <a:prstGeom prst="rect">
            <a:avLst/>
          </a:prstGeom>
        </p:spPr>
      </p:pic>
      <p:pic>
        <p:nvPicPr>
          <p:cNvPr id="7" name="image1.png" descr="Resultado de imagen de fondos png">
            <a:extLst>
              <a:ext uri="{FF2B5EF4-FFF2-40B4-BE49-F238E27FC236}">
                <a16:creationId xmlns:a16="http://schemas.microsoft.com/office/drawing/2014/main" id="{24875C65-5A98-4DFC-8737-01C536BAC73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 rot="5400000">
            <a:off x="5972174" y="848199"/>
            <a:ext cx="247651" cy="11771951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633F3B5A-AFEC-40C0-8F93-4E0AFBF6F840}"/>
              </a:ext>
            </a:extLst>
          </p:cNvPr>
          <p:cNvSpPr txBox="1"/>
          <p:nvPr/>
        </p:nvSpPr>
        <p:spPr>
          <a:xfrm>
            <a:off x="542925" y="854029"/>
            <a:ext cx="1109662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Ejercicio 19 (Consultar):</a:t>
            </a:r>
            <a:r>
              <a:rPr lang="es-E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Regresamos a la lista general y verificamos que el alumno con ID 1 ahora muestra su nuevo apellido y correo actualizados en la tabla de MySQL, manteniendo intacta su inscripción al curso inicial.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FC991EB5-EFA7-4406-99AA-FC1D06252384}"/>
              </a:ext>
            </a:extLst>
          </p:cNvPr>
          <p:cNvSpPr/>
          <p:nvPr/>
        </p:nvSpPr>
        <p:spPr>
          <a:xfrm>
            <a:off x="2705100" y="419689"/>
            <a:ext cx="6848475" cy="34479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E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Ejercicios Operativos CRUD: Módulo de Estudiantes (MySQL)</a:t>
            </a:r>
            <a:endParaRPr lang="es-MX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2054029B-F9D5-4F36-8DCB-C5E82D3E1736}"/>
              </a:ext>
            </a:extLst>
          </p:cNvPr>
          <p:cNvSpPr/>
          <p:nvPr/>
        </p:nvSpPr>
        <p:spPr>
          <a:xfrm>
            <a:off x="2413635" y="377770"/>
            <a:ext cx="441960" cy="43434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MX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F8A5ECC-458F-427B-BED1-003D04D5B7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013" y="2747957"/>
            <a:ext cx="5228274" cy="2192502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E1774B49-6E84-44A6-AD30-2BD661E678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1199" y="2747957"/>
            <a:ext cx="5703806" cy="2200879"/>
          </a:xfrm>
          <a:prstGeom prst="rect">
            <a:avLst/>
          </a:prstGeom>
        </p:spPr>
      </p:pic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B913AB53-9367-4ABF-AF86-2D605461C4D4}"/>
              </a:ext>
            </a:extLst>
          </p:cNvPr>
          <p:cNvSpPr/>
          <p:nvPr/>
        </p:nvSpPr>
        <p:spPr>
          <a:xfrm>
            <a:off x="1505040" y="2208473"/>
            <a:ext cx="1952625" cy="58333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/>
              <a:t>Antes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DA3E03BF-6144-4A77-8B90-7E9637731F43}"/>
              </a:ext>
            </a:extLst>
          </p:cNvPr>
          <p:cNvSpPr/>
          <p:nvPr/>
        </p:nvSpPr>
        <p:spPr>
          <a:xfrm>
            <a:off x="6333173" y="2117117"/>
            <a:ext cx="1952625" cy="58333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/>
              <a:t>Después</a:t>
            </a:r>
          </a:p>
        </p:txBody>
      </p:sp>
    </p:spTree>
    <p:extLst>
      <p:ext uri="{BB962C8B-B14F-4D97-AF65-F5344CB8AC3E}">
        <p14:creationId xmlns:p14="http://schemas.microsoft.com/office/powerpoint/2010/main" val="4519487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1.png" descr="Resultado de imagen de fondos png">
            <a:extLst>
              <a:ext uri="{FF2B5EF4-FFF2-40B4-BE49-F238E27FC236}">
                <a16:creationId xmlns:a16="http://schemas.microsoft.com/office/drawing/2014/main" id="{ADF88253-865B-47EC-A7E5-D8C9101E0B4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9105" cy="6858000"/>
          </a:xfrm>
          <a:prstGeom prst="rect">
            <a:avLst/>
          </a:prstGeom>
        </p:spPr>
      </p:pic>
      <p:pic>
        <p:nvPicPr>
          <p:cNvPr id="5" name="image1.png" descr="Resultado de imagen de fondos png">
            <a:extLst>
              <a:ext uri="{FF2B5EF4-FFF2-40B4-BE49-F238E27FC236}">
                <a16:creationId xmlns:a16="http://schemas.microsoft.com/office/drawing/2014/main" id="{B4918E82-7A5B-4284-BA49-A7E12F7D120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63375" y="0"/>
            <a:ext cx="459105" cy="6858000"/>
          </a:xfrm>
          <a:prstGeom prst="rect">
            <a:avLst/>
          </a:prstGeom>
        </p:spPr>
      </p:pic>
      <p:pic>
        <p:nvPicPr>
          <p:cNvPr id="6" name="image1.png" descr="Resultado de imagen de fondos png">
            <a:extLst>
              <a:ext uri="{FF2B5EF4-FFF2-40B4-BE49-F238E27FC236}">
                <a16:creationId xmlns:a16="http://schemas.microsoft.com/office/drawing/2014/main" id="{A1AB415F-6170-4547-AF25-5F154A5A992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 rot="5400000">
            <a:off x="5991701" y="-5762150"/>
            <a:ext cx="247651" cy="11771951"/>
          </a:xfrm>
          <a:prstGeom prst="rect">
            <a:avLst/>
          </a:prstGeom>
        </p:spPr>
      </p:pic>
      <p:pic>
        <p:nvPicPr>
          <p:cNvPr id="7" name="image1.png" descr="Resultado de imagen de fondos png">
            <a:extLst>
              <a:ext uri="{FF2B5EF4-FFF2-40B4-BE49-F238E27FC236}">
                <a16:creationId xmlns:a16="http://schemas.microsoft.com/office/drawing/2014/main" id="{24875C65-5A98-4DFC-8737-01C536BAC73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 rot="5400000">
            <a:off x="5972174" y="848199"/>
            <a:ext cx="247651" cy="11771951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633F3B5A-AFEC-40C0-8F93-4E0AFBF6F840}"/>
              </a:ext>
            </a:extLst>
          </p:cNvPr>
          <p:cNvSpPr txBox="1"/>
          <p:nvPr/>
        </p:nvSpPr>
        <p:spPr>
          <a:xfrm>
            <a:off x="542925" y="754959"/>
            <a:ext cx="1109662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Ejercicio 10 (Eliminar):</a:t>
            </a:r>
            <a:r>
              <a:rPr lang="es-E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Entramos a "Dar de Baja", ingresamos el ID 4 (Luis </a:t>
            </a:r>
            <a:r>
              <a:rPr lang="es-ES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Gomez</a:t>
            </a:r>
            <a:r>
              <a:rPr lang="es-E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y confirmamos la eliminación. Al listar todos, la tabla muestra solo 4 alumnos, confirmando la baja en MySQL.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FC991EB5-EFA7-4406-99AA-FC1D06252384}"/>
              </a:ext>
            </a:extLst>
          </p:cNvPr>
          <p:cNvSpPr/>
          <p:nvPr/>
        </p:nvSpPr>
        <p:spPr>
          <a:xfrm>
            <a:off x="2705100" y="419689"/>
            <a:ext cx="6848475" cy="34479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E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Ejercicios Operativos CRUD: Módulo de Estudiantes (MySQL)</a:t>
            </a:r>
            <a:endParaRPr lang="es-MX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2054029B-F9D5-4F36-8DCB-C5E82D3E1736}"/>
              </a:ext>
            </a:extLst>
          </p:cNvPr>
          <p:cNvSpPr/>
          <p:nvPr/>
        </p:nvSpPr>
        <p:spPr>
          <a:xfrm>
            <a:off x="2413635" y="377770"/>
            <a:ext cx="441960" cy="43434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MX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CF890387-285E-4890-A59C-75537C404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8374" y="2256541"/>
            <a:ext cx="3057952" cy="103837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16DFD28-B7EA-4314-B650-BD3634338F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665" y="3923758"/>
            <a:ext cx="4931690" cy="2179283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F7F6DE0D-BFAA-4081-BAF6-18929F2C9F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6476" y="3783731"/>
            <a:ext cx="5849257" cy="2607293"/>
          </a:xfrm>
          <a:prstGeom prst="rect">
            <a:avLst/>
          </a:prstGeom>
        </p:spPr>
      </p:pic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CE9E434B-4835-48A0-924F-E99A4039A94C}"/>
              </a:ext>
            </a:extLst>
          </p:cNvPr>
          <p:cNvSpPr/>
          <p:nvPr/>
        </p:nvSpPr>
        <p:spPr>
          <a:xfrm>
            <a:off x="1476465" y="3607758"/>
            <a:ext cx="1952625" cy="58333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/>
              <a:t>Antes</a:t>
            </a: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955B8097-2226-4D9B-B988-C1609060C719}"/>
              </a:ext>
            </a:extLst>
          </p:cNvPr>
          <p:cNvSpPr/>
          <p:nvPr/>
        </p:nvSpPr>
        <p:spPr>
          <a:xfrm>
            <a:off x="7086690" y="3382403"/>
            <a:ext cx="1952625" cy="58333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/>
              <a:t>Después</a:t>
            </a:r>
          </a:p>
        </p:txBody>
      </p:sp>
    </p:spTree>
    <p:extLst>
      <p:ext uri="{BB962C8B-B14F-4D97-AF65-F5344CB8AC3E}">
        <p14:creationId xmlns:p14="http://schemas.microsoft.com/office/powerpoint/2010/main" val="27698152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1.png" descr="Resultado de imagen de fondos png">
            <a:extLst>
              <a:ext uri="{FF2B5EF4-FFF2-40B4-BE49-F238E27FC236}">
                <a16:creationId xmlns:a16="http://schemas.microsoft.com/office/drawing/2014/main" id="{ADF88253-865B-47EC-A7E5-D8C9101E0B4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9105" cy="6858000"/>
          </a:xfrm>
          <a:prstGeom prst="rect">
            <a:avLst/>
          </a:prstGeom>
        </p:spPr>
      </p:pic>
      <p:pic>
        <p:nvPicPr>
          <p:cNvPr id="5" name="image1.png" descr="Resultado de imagen de fondos png">
            <a:extLst>
              <a:ext uri="{FF2B5EF4-FFF2-40B4-BE49-F238E27FC236}">
                <a16:creationId xmlns:a16="http://schemas.microsoft.com/office/drawing/2014/main" id="{B4918E82-7A5B-4284-BA49-A7E12F7D120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63375" y="0"/>
            <a:ext cx="459105" cy="6858000"/>
          </a:xfrm>
          <a:prstGeom prst="rect">
            <a:avLst/>
          </a:prstGeom>
        </p:spPr>
      </p:pic>
      <p:pic>
        <p:nvPicPr>
          <p:cNvPr id="6" name="image1.png" descr="Resultado de imagen de fondos png">
            <a:extLst>
              <a:ext uri="{FF2B5EF4-FFF2-40B4-BE49-F238E27FC236}">
                <a16:creationId xmlns:a16="http://schemas.microsoft.com/office/drawing/2014/main" id="{A1AB415F-6170-4547-AF25-5F154A5A992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 rot="5400000">
            <a:off x="5991701" y="-5762150"/>
            <a:ext cx="247651" cy="11771951"/>
          </a:xfrm>
          <a:prstGeom prst="rect">
            <a:avLst/>
          </a:prstGeom>
        </p:spPr>
      </p:pic>
      <p:pic>
        <p:nvPicPr>
          <p:cNvPr id="7" name="image1.png" descr="Resultado de imagen de fondos png">
            <a:extLst>
              <a:ext uri="{FF2B5EF4-FFF2-40B4-BE49-F238E27FC236}">
                <a16:creationId xmlns:a16="http://schemas.microsoft.com/office/drawing/2014/main" id="{24875C65-5A98-4DFC-8737-01C536BAC73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 rot="5400000">
            <a:off x="5972174" y="848199"/>
            <a:ext cx="247651" cy="11771951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633F3B5A-AFEC-40C0-8F93-4E0AFBF6F840}"/>
              </a:ext>
            </a:extLst>
          </p:cNvPr>
          <p:cNvSpPr txBox="1"/>
          <p:nvPr/>
        </p:nvSpPr>
        <p:spPr>
          <a:xfrm>
            <a:off x="459105" y="984148"/>
            <a:ext cx="11096625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 realización de estos ejercicios prácticos permitió comprobar la estabilidad global de la arquitectura distribuida ante un flujo continuo de operaciones reales. Iniciar el entorno de pruebas desde cero con </a:t>
            </a:r>
            <a:r>
              <a:rPr lang="es-ES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DBeaver</a:t>
            </a:r>
            <a:r>
              <a:rPr lang="es-E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sirvió para validar de forma clara el impacto visual del "antes y después" en el cliente web.</a:t>
            </a:r>
          </a:p>
          <a:p>
            <a:pPr algn="just"/>
            <a:endParaRPr lang="es-ES" sz="20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 API Gateway, reforzado por el componente </a:t>
            </a:r>
            <a:r>
              <a:rPr lang="es-ES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CorsFilter</a:t>
            </a:r>
            <a:r>
              <a:rPr lang="es-E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en su código de inicialización, demostró una alta velocidad de respuesta al enrutar las peticiones concurrentes de inserción, edición y eliminación de manera directa hacia sus respectivas instancias en Eureka, garantizando que el almacenamiento asíncrono en MySQL y PostgreSQL se mantenga sincronizado con la interfaz de Angular 19 en cada </a:t>
            </a:r>
            <a:r>
              <a:rPr lang="es-ES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refresh</a:t>
            </a:r>
            <a:r>
              <a:rPr lang="es-E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 pantalla.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FC991EB5-EFA7-4406-99AA-FC1D06252384}"/>
              </a:ext>
            </a:extLst>
          </p:cNvPr>
          <p:cNvSpPr/>
          <p:nvPr/>
        </p:nvSpPr>
        <p:spPr>
          <a:xfrm>
            <a:off x="2705100" y="419689"/>
            <a:ext cx="6848475" cy="34479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Conclusión</a:t>
            </a:r>
            <a:endParaRPr lang="es-MX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2054029B-F9D5-4F36-8DCB-C5E82D3E1736}"/>
              </a:ext>
            </a:extLst>
          </p:cNvPr>
          <p:cNvSpPr/>
          <p:nvPr/>
        </p:nvSpPr>
        <p:spPr>
          <a:xfrm>
            <a:off x="2413635" y="377770"/>
            <a:ext cx="441960" cy="43434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236745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1.png" descr="Resultado de imagen de fondos png">
            <a:extLst>
              <a:ext uri="{FF2B5EF4-FFF2-40B4-BE49-F238E27FC236}">
                <a16:creationId xmlns:a16="http://schemas.microsoft.com/office/drawing/2014/main" id="{ADF88253-865B-47EC-A7E5-D8C9101E0B4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9105" cy="6858000"/>
          </a:xfrm>
          <a:prstGeom prst="rect">
            <a:avLst/>
          </a:prstGeom>
        </p:spPr>
      </p:pic>
      <p:pic>
        <p:nvPicPr>
          <p:cNvPr id="5" name="image1.png" descr="Resultado de imagen de fondos png">
            <a:extLst>
              <a:ext uri="{FF2B5EF4-FFF2-40B4-BE49-F238E27FC236}">
                <a16:creationId xmlns:a16="http://schemas.microsoft.com/office/drawing/2014/main" id="{B4918E82-7A5B-4284-BA49-A7E12F7D120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63375" y="0"/>
            <a:ext cx="459105" cy="6858000"/>
          </a:xfrm>
          <a:prstGeom prst="rect">
            <a:avLst/>
          </a:prstGeom>
        </p:spPr>
      </p:pic>
      <p:pic>
        <p:nvPicPr>
          <p:cNvPr id="6" name="image1.png" descr="Resultado de imagen de fondos png">
            <a:extLst>
              <a:ext uri="{FF2B5EF4-FFF2-40B4-BE49-F238E27FC236}">
                <a16:creationId xmlns:a16="http://schemas.microsoft.com/office/drawing/2014/main" id="{A1AB415F-6170-4547-AF25-5F154A5A992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 rot="5400000">
            <a:off x="5991701" y="-5762150"/>
            <a:ext cx="247651" cy="11771951"/>
          </a:xfrm>
          <a:prstGeom prst="rect">
            <a:avLst/>
          </a:prstGeom>
        </p:spPr>
      </p:pic>
      <p:pic>
        <p:nvPicPr>
          <p:cNvPr id="7" name="image1.png" descr="Resultado de imagen de fondos png">
            <a:extLst>
              <a:ext uri="{FF2B5EF4-FFF2-40B4-BE49-F238E27FC236}">
                <a16:creationId xmlns:a16="http://schemas.microsoft.com/office/drawing/2014/main" id="{24875C65-5A98-4DFC-8737-01C536BAC73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 rot="5400000">
            <a:off x="5972174" y="848199"/>
            <a:ext cx="247651" cy="11771951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633F3B5A-AFEC-40C0-8F93-4E0AFBF6F840}"/>
              </a:ext>
            </a:extLst>
          </p:cNvPr>
          <p:cNvSpPr txBox="1"/>
          <p:nvPr/>
        </p:nvSpPr>
        <p:spPr>
          <a:xfrm>
            <a:off x="542925" y="754959"/>
            <a:ext cx="11096625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Angular - Documentación Oficial sobre Componentes </a:t>
            </a:r>
            <a:r>
              <a:rPr lang="es-ES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Standalone</a:t>
            </a:r>
            <a:r>
              <a:rPr lang="es-E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Guía detallada sobre cómo configurar y estructurar aplicaciones modernas sin necesidad de módulos intermedios (</a:t>
            </a:r>
            <a:r>
              <a:rPr lang="es-ES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NgModule</a:t>
            </a:r>
            <a:r>
              <a:rPr lang="es-E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algn="just"/>
            <a:r>
              <a:rPr lang="es-E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https://angular.dev/guide/components/standalone</a:t>
            </a:r>
            <a:endParaRPr lang="es-ES" sz="20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" sz="20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Spring </a:t>
            </a:r>
            <a:r>
              <a:rPr lang="es-ES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Boot</a:t>
            </a:r>
            <a:r>
              <a:rPr lang="es-E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- Configuración de CORS: Documentación oficial de Spring que explica el uso de filtros y configuraciones globales para permitir peticiones de servidores externos.</a:t>
            </a:r>
          </a:p>
          <a:p>
            <a:pPr algn="just"/>
            <a:r>
              <a:rPr lang="es-E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https://spring.io/guides/gs/rest-service-cors/</a:t>
            </a:r>
            <a:endParaRPr lang="es-ES" sz="20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" sz="20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Mozilla </a:t>
            </a:r>
            <a:r>
              <a:rPr lang="es-ES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Developer</a:t>
            </a:r>
            <a:r>
              <a:rPr lang="es-E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Network (MDN) - Mecanismo CORS: Conceptos teóricos sobre cómo funciona la seguridad de origen cruzado y las peticiones de inspección previa (OPTIONS) en los navegadores web modernos.</a:t>
            </a:r>
          </a:p>
          <a:p>
            <a:pPr algn="just"/>
            <a:r>
              <a:rPr lang="es-E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https://developer.mozilla.org/es/docs/Web/HTTP/CORS</a:t>
            </a:r>
            <a:endParaRPr lang="es-ES" sz="20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" sz="20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Angular - Uso del </a:t>
            </a:r>
            <a:r>
              <a:rPr lang="es-ES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HttpClient</a:t>
            </a:r>
            <a:r>
              <a:rPr lang="es-E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Manual de integración para realizar peticiones HTTP (GET, POST, PUT, DELETE) hacia </a:t>
            </a:r>
            <a:r>
              <a:rPr lang="es-ES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APIs</a:t>
            </a:r>
            <a:r>
              <a:rPr lang="es-E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externas manejando respuestas de tipo JSON o texto plano de forma asíncrona.</a:t>
            </a:r>
          </a:p>
          <a:p>
            <a:pPr algn="just"/>
            <a:r>
              <a:rPr lang="es-E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https://angular.dev/guide/http/making-requests</a:t>
            </a:r>
            <a:endParaRPr lang="es-ES" sz="20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" sz="20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FC991EB5-EFA7-4406-99AA-FC1D06252384}"/>
              </a:ext>
            </a:extLst>
          </p:cNvPr>
          <p:cNvSpPr/>
          <p:nvPr/>
        </p:nvSpPr>
        <p:spPr>
          <a:xfrm>
            <a:off x="2705100" y="419689"/>
            <a:ext cx="6848475" cy="34479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Fuentes</a:t>
            </a:r>
            <a:endParaRPr lang="es-MX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2054029B-F9D5-4F36-8DCB-C5E82D3E1736}"/>
              </a:ext>
            </a:extLst>
          </p:cNvPr>
          <p:cNvSpPr/>
          <p:nvPr/>
        </p:nvSpPr>
        <p:spPr>
          <a:xfrm>
            <a:off x="2413635" y="377770"/>
            <a:ext cx="441960" cy="43434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9603847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1998</Words>
  <Application>Microsoft Office PowerPoint</Application>
  <PresentationFormat>Panorámica</PresentationFormat>
  <Paragraphs>140</Paragraphs>
  <Slides>32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32</vt:i4>
      </vt:variant>
    </vt:vector>
  </HeadingPairs>
  <TitlesOfParts>
    <vt:vector size="36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VANNI GUTIÉRREZ PÉREZ</dc:creator>
  <cp:lastModifiedBy>VANNI GUTIÉRREZ PÉREZ</cp:lastModifiedBy>
  <cp:revision>11</cp:revision>
  <dcterms:created xsi:type="dcterms:W3CDTF">2026-05-17T14:36:01Z</dcterms:created>
  <dcterms:modified xsi:type="dcterms:W3CDTF">2026-06-12T04:35:46Z</dcterms:modified>
</cp:coreProperties>
</file>