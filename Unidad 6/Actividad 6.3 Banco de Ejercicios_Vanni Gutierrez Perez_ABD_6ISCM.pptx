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58" r:id="rId3"/>
    <p:sldId id="259" r:id="rId4"/>
    <p:sldId id="260" r:id="rId5"/>
    <p:sldId id="26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276" r:id="rId27"/>
    <p:sldId id="313" r:id="rId2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0E2AB-32DF-4434-9FE2-82A1A94ED8C8}" type="datetimeFigureOut">
              <a:rPr lang="es-MX" smtClean="0"/>
              <a:t>11/06/2026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CCA7B4-86AD-412C-B961-497511194FC9}" type="slidenum">
              <a:rPr lang="es-MX" smtClean="0"/>
              <a:t>‹Nº›</a:t>
            </a:fld>
            <a:endParaRPr lang="es-MX"/>
          </a:p>
        </p:txBody>
      </p:sp>
    </p:spTree>
    <p:extLst>
      <p:ext uri="{BB962C8B-B14F-4D97-AF65-F5344CB8AC3E}">
        <p14:creationId xmlns:p14="http://schemas.microsoft.com/office/powerpoint/2010/main" val="3357770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97897C4-617F-4BF5-A5E4-E09C1A297CC1}" type="slidenum">
              <a:rPr lang="es-MX" smtClean="0"/>
              <a:t>2</a:t>
            </a:fld>
            <a:endParaRPr lang="es-MX"/>
          </a:p>
        </p:txBody>
      </p:sp>
    </p:spTree>
    <p:extLst>
      <p:ext uri="{BB962C8B-B14F-4D97-AF65-F5344CB8AC3E}">
        <p14:creationId xmlns:p14="http://schemas.microsoft.com/office/powerpoint/2010/main" val="1374752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CF77AE-CEFE-48D0-87B3-D3DF9321F20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3D255F7-AD37-46E5-84F9-14041044CD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5046BF3-9424-41E3-89AF-579F1397586E}"/>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5" name="Marcador de pie de página 4">
            <a:extLst>
              <a:ext uri="{FF2B5EF4-FFF2-40B4-BE49-F238E27FC236}">
                <a16:creationId xmlns:a16="http://schemas.microsoft.com/office/drawing/2014/main" id="{D9321922-9AA1-49CF-859F-AB3DA90AE75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56637D8-31BD-441D-B14A-AB102E93CF17}"/>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2729962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7DD45-2176-4A3E-95F5-480C40660D6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B2A9113-A088-400F-A0F5-C662698F5C7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C2CDF3B-8209-4039-B3B4-EC5E92340466}"/>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5" name="Marcador de pie de página 4">
            <a:extLst>
              <a:ext uri="{FF2B5EF4-FFF2-40B4-BE49-F238E27FC236}">
                <a16:creationId xmlns:a16="http://schemas.microsoft.com/office/drawing/2014/main" id="{1FB32DDA-4818-4ACF-A39B-BE77C9BE905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FBE2684-6100-4C3A-824B-762E6E6A3DCA}"/>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1938513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61337D-59D1-4B61-9D51-3E3D480728E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6F34088-3FA7-4135-8DA7-ACB854DA05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853635D-7B68-4347-A73B-57536A4E35E2}"/>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5" name="Marcador de pie de página 4">
            <a:extLst>
              <a:ext uri="{FF2B5EF4-FFF2-40B4-BE49-F238E27FC236}">
                <a16:creationId xmlns:a16="http://schemas.microsoft.com/office/drawing/2014/main" id="{7AC5CEF7-64A9-4D3B-9AEF-376FBDB9F7C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52FE4DF-029A-4CF2-B6C0-60B4EC9EBC9A}"/>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139977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95330-2022-4EB6-B6CF-2D61A746545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41EF368-E208-4F37-B9CC-6905E8BAE5B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82CDE7F1-6190-48F1-AB72-09CB5D55B70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6525ECF-6340-4C6E-89EF-6C363196CB0C}"/>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6" name="Marcador de pie de página 5">
            <a:extLst>
              <a:ext uri="{FF2B5EF4-FFF2-40B4-BE49-F238E27FC236}">
                <a16:creationId xmlns:a16="http://schemas.microsoft.com/office/drawing/2014/main" id="{4FB5BEE5-7CFD-451B-B474-E5A309D2F88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F2E9777-D1AF-4688-B119-293BD0024264}"/>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129778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B0246-5BFB-46F9-B186-22C0BCCDE5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3EA74E7-AB71-4946-BAC6-16E87685C1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7048A2D-31AD-43A1-8D42-7F40E174350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C3025D8-558E-4055-8B6F-CDE971C8A3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DBEC2E3-B407-4506-BB0B-27A434A15C6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9F6C86F-27F4-49B2-8EBB-4EA4EF2EBC57}"/>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8" name="Marcador de pie de página 7">
            <a:extLst>
              <a:ext uri="{FF2B5EF4-FFF2-40B4-BE49-F238E27FC236}">
                <a16:creationId xmlns:a16="http://schemas.microsoft.com/office/drawing/2014/main" id="{0655A64B-AA46-48DF-979D-46E3284370C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8C364127-960E-48B1-8B31-1536C9B06D3E}"/>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94175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B9F98E-E838-4840-9FB3-31189E97497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9862756-26AF-4158-A07A-6B00B28E0721}"/>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4" name="Marcador de pie de página 3">
            <a:extLst>
              <a:ext uri="{FF2B5EF4-FFF2-40B4-BE49-F238E27FC236}">
                <a16:creationId xmlns:a16="http://schemas.microsoft.com/office/drawing/2014/main" id="{8955FC84-276F-42E4-BA49-C1C3859D520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F2D104-420B-4794-9D2D-9F55F7E57112}"/>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420624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13E26C6-FC2D-42FB-9A44-FC61593A4784}"/>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3" name="Marcador de pie de página 2">
            <a:extLst>
              <a:ext uri="{FF2B5EF4-FFF2-40B4-BE49-F238E27FC236}">
                <a16:creationId xmlns:a16="http://schemas.microsoft.com/office/drawing/2014/main" id="{97E3EDF6-E850-4FDA-8C1A-15F59DECD7C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856B5C4-9DCA-4D04-89A1-83DE131A3A1A}"/>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185300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D8A425-6E87-4669-8330-2E5DA7A784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6033A7B-6D02-4FA6-937E-33B29DFD16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03EBD30A-6827-45C8-87EA-E9CDB1BDB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1F8A22-F4D5-47FB-B303-FFEF8D48B679}"/>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6" name="Marcador de pie de página 5">
            <a:extLst>
              <a:ext uri="{FF2B5EF4-FFF2-40B4-BE49-F238E27FC236}">
                <a16:creationId xmlns:a16="http://schemas.microsoft.com/office/drawing/2014/main" id="{46FE5EBD-6799-4490-BC55-D1C2B2B9E02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DF4140D-9BEC-4789-A846-6E972563A09E}"/>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3713046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8B721-F7A5-4A0D-991A-3518C8B1F63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6EFE2B6-0887-446B-AB52-9F7430F337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4D7878D-D4F7-42C8-AAD9-E4E22E8ADD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669045F-C0F8-459F-B2AE-49DF8464A215}"/>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6" name="Marcador de pie de página 5">
            <a:extLst>
              <a:ext uri="{FF2B5EF4-FFF2-40B4-BE49-F238E27FC236}">
                <a16:creationId xmlns:a16="http://schemas.microsoft.com/office/drawing/2014/main" id="{2B1C3290-96CA-4DC1-A724-E3473D8DBA8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A41A5ED-0436-4D4E-AB7A-12C028223131}"/>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9980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3CB2C6-176C-4719-9565-9A68EEA97B9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93AF14A-956E-49DE-B94F-287A7B9C50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C0067C3-5D69-44B1-AA33-9E2BCC88F9C4}"/>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5" name="Marcador de pie de página 4">
            <a:extLst>
              <a:ext uri="{FF2B5EF4-FFF2-40B4-BE49-F238E27FC236}">
                <a16:creationId xmlns:a16="http://schemas.microsoft.com/office/drawing/2014/main" id="{40C42B58-A757-40D1-A1FD-8FA89936B09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5A428DF-34CF-48DB-A630-3A2E7B1BF2E2}"/>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202413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90F8EF1-6D62-4476-8DA4-534D9CC8F5E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ED2FDCD-A9C1-4423-8D87-D1707CF9F58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C794767-818E-49ED-B86F-43A7223FABEC}"/>
              </a:ext>
            </a:extLst>
          </p:cNvPr>
          <p:cNvSpPr>
            <a:spLocks noGrp="1"/>
          </p:cNvSpPr>
          <p:nvPr>
            <p:ph type="dt" sz="half" idx="10"/>
          </p:nvPr>
        </p:nvSpPr>
        <p:spPr/>
        <p:txBody>
          <a:bodyPr/>
          <a:lstStyle/>
          <a:p>
            <a:fld id="{9FE6AD74-E763-4FEF-A97E-4DAD6D408D8F}" type="datetimeFigureOut">
              <a:rPr lang="es-MX" smtClean="0"/>
              <a:t>11/06/2026</a:t>
            </a:fld>
            <a:endParaRPr lang="es-MX"/>
          </a:p>
        </p:txBody>
      </p:sp>
      <p:sp>
        <p:nvSpPr>
          <p:cNvPr id="5" name="Marcador de pie de página 4">
            <a:extLst>
              <a:ext uri="{FF2B5EF4-FFF2-40B4-BE49-F238E27FC236}">
                <a16:creationId xmlns:a16="http://schemas.microsoft.com/office/drawing/2014/main" id="{8A9BCE0E-8BF4-4D74-90FF-6230F519512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21D56C5-6C66-4D5B-91B5-D7026E7CE51B}"/>
              </a:ext>
            </a:extLst>
          </p:cNvPr>
          <p:cNvSpPr>
            <a:spLocks noGrp="1"/>
          </p:cNvSpPr>
          <p:nvPr>
            <p:ph type="sldNum" sz="quarter" idx="12"/>
          </p:nvPr>
        </p:nvSpPr>
        <p:spPr/>
        <p:txBody>
          <a:bodyPr/>
          <a:lstStyle/>
          <a:p>
            <a:fld id="{EECEB8AA-E499-49C8-AE1A-08BF76A190C7}" type="slidenum">
              <a:rPr lang="es-MX" smtClean="0"/>
              <a:t>‹Nº›</a:t>
            </a:fld>
            <a:endParaRPr lang="es-MX"/>
          </a:p>
        </p:txBody>
      </p:sp>
    </p:spTree>
    <p:extLst>
      <p:ext uri="{BB962C8B-B14F-4D97-AF65-F5344CB8AC3E}">
        <p14:creationId xmlns:p14="http://schemas.microsoft.com/office/powerpoint/2010/main" val="3157306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02D84EC-C280-4139-A849-FEC24D543C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75FFF48-E223-4CD1-A94F-BFA76D1F4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92809A-6256-4E57-B1CF-D7E491D454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E6AD74-E763-4FEF-A97E-4DAD6D408D8F}" type="datetimeFigureOut">
              <a:rPr lang="es-MX" smtClean="0"/>
              <a:t>11/06/2026</a:t>
            </a:fld>
            <a:endParaRPr lang="es-MX"/>
          </a:p>
        </p:txBody>
      </p:sp>
      <p:sp>
        <p:nvSpPr>
          <p:cNvPr id="5" name="Marcador de pie de página 4">
            <a:extLst>
              <a:ext uri="{FF2B5EF4-FFF2-40B4-BE49-F238E27FC236}">
                <a16:creationId xmlns:a16="http://schemas.microsoft.com/office/drawing/2014/main" id="{CD951BDF-BF61-4B63-BC0D-A95FE81329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977814AF-D082-4D5A-92E5-8614D4FEBE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CEB8AA-E499-49C8-AE1A-08BF76A190C7}" type="slidenum">
              <a:rPr lang="es-MX" smtClean="0"/>
              <a:t>‹Nº›</a:t>
            </a:fld>
            <a:endParaRPr lang="es-MX"/>
          </a:p>
        </p:txBody>
      </p:sp>
    </p:spTree>
    <p:extLst>
      <p:ext uri="{BB962C8B-B14F-4D97-AF65-F5344CB8AC3E}">
        <p14:creationId xmlns:p14="http://schemas.microsoft.com/office/powerpoint/2010/main" val="591436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m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www.youtube.com/watch?v=WmDPTqlBAX0"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www.youtube.com/watch?v=KNVttU7k51o" TargetMode="External"/><Relationship Id="rId5" Type="http://schemas.openxmlformats.org/officeDocument/2006/relationships/hyperlink" Target="http://www.youtube.com/watch?v=V_UrmKM9NE8" TargetMode="External"/><Relationship Id="rId4" Type="http://schemas.openxmlformats.org/officeDocument/2006/relationships/hyperlink" Target="http://www.youtube.com/watch?v=uqBZEL9m2V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944880" y="1249493"/>
            <a:ext cx="10668000" cy="5218673"/>
          </a:xfrm>
          <a:prstGeom prst="rect">
            <a:avLst/>
          </a:prstGeom>
          <a:noFill/>
        </p:spPr>
        <p:txBody>
          <a:bodyPr wrap="square">
            <a:spAutoFit/>
          </a:bodyPr>
          <a:lstStyle/>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Instituto Tecnológico de Frontera Comalapa</a:t>
            </a: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Modalidad Mixta</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Materia: </a:t>
            </a:r>
            <a:r>
              <a:rPr lang="es-MX" dirty="0">
                <a:latin typeface="Arial" panose="020B0604020202020204" pitchFamily="34" charset="0"/>
                <a:ea typeface="Calibri" panose="020F0502020204030204" pitchFamily="34" charset="0"/>
                <a:cs typeface="Times New Roman" panose="02020603050405020304" pitchFamily="18" charset="0"/>
              </a:rPr>
              <a:t>Administración de Base de Datos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Semestre:  </a:t>
            </a:r>
            <a:r>
              <a:rPr lang="es-MX" dirty="0">
                <a:effectLst/>
                <a:latin typeface="Arial" panose="020B0604020202020204" pitchFamily="34" charset="0"/>
                <a:ea typeface="Calibri" panose="020F0502020204030204" pitchFamily="34" charset="0"/>
                <a:cs typeface="Times New Roman" panose="02020603050405020304" pitchFamily="18" charset="0"/>
              </a:rPr>
              <a:t>Sexto semestre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Especialidad: </a:t>
            </a:r>
            <a:r>
              <a:rPr lang="es-MX" dirty="0">
                <a:effectLst/>
                <a:latin typeface="Arial" panose="020B0604020202020204" pitchFamily="34" charset="0"/>
                <a:ea typeface="Calibri" panose="020F0502020204030204" pitchFamily="34" charset="0"/>
                <a:cs typeface="Times New Roman" panose="02020603050405020304" pitchFamily="18" charset="0"/>
              </a:rPr>
              <a:t>Ingeniería en Sistemas Computacionales.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Numero de control:</a:t>
            </a:r>
            <a:r>
              <a:rPr lang="es-MX" dirty="0">
                <a:effectLst/>
                <a:latin typeface="Arial" panose="020B0604020202020204" pitchFamily="34" charset="0"/>
                <a:ea typeface="Calibri" panose="020F0502020204030204" pitchFamily="34" charset="0"/>
                <a:cs typeface="Times New Roman" panose="02020603050405020304" pitchFamily="18" charset="0"/>
              </a:rPr>
              <a:t>231260008</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alumno:</a:t>
            </a:r>
            <a:r>
              <a:rPr lang="es-MX" dirty="0">
                <a:effectLst/>
                <a:latin typeface="Arial" panose="020B0604020202020204" pitchFamily="34" charset="0"/>
                <a:ea typeface="Calibri" panose="020F0502020204030204" pitchFamily="34" charset="0"/>
                <a:cs typeface="Times New Roman" panose="02020603050405020304" pitchFamily="18" charset="0"/>
              </a:rPr>
              <a:t> Vanni Gutiérrez Pérez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docente:</a:t>
            </a:r>
            <a:r>
              <a:rPr lang="es-MX" dirty="0">
                <a:effectLst/>
                <a:latin typeface="Arial" panose="020B0604020202020204" pitchFamily="34" charset="0"/>
                <a:ea typeface="Calibri" panose="020F0502020204030204" pitchFamily="34" charset="0"/>
                <a:cs typeface="Times New Roman" panose="02020603050405020304" pitchFamily="18" charset="0"/>
              </a:rPr>
              <a:t> Francisco Javier Mingo Velázquez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Nombre del trabajo: </a:t>
            </a:r>
            <a:r>
              <a:rPr lang="es-MX" dirty="0">
                <a:effectLst/>
                <a:latin typeface="Arial" panose="020B0604020202020204" pitchFamily="34" charset="0"/>
                <a:ea typeface="Calibri" panose="020F0502020204030204" pitchFamily="34" charset="0"/>
                <a:cs typeface="Times New Roman" panose="02020603050405020304" pitchFamily="18" charset="0"/>
              </a:rPr>
              <a:t>Reporte de ejercicios</a:t>
            </a:r>
            <a:r>
              <a:rPr lang="es-MX" dirty="0">
                <a:effectLst/>
                <a:latin typeface="Arial" panose="020B0604020202020204" pitchFamily="34" charset="0"/>
                <a:ea typeface="Calibri" panose="020F0502020204030204" pitchFamily="34" charset="0"/>
                <a:cs typeface="Arial" panose="020B0604020202020204" pitchFamily="34" charset="0"/>
              </a:rPr>
              <a:t>:</a:t>
            </a:r>
            <a:r>
              <a:rPr lang="es-ES" dirty="0">
                <a:latin typeface="Arial" panose="020B0604020202020204" pitchFamily="34" charset="0"/>
                <a:ea typeface="Calibri" panose="020F050202020403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prueba de microservicios con </a:t>
            </a:r>
            <a:r>
              <a:rPr lang="es-MX" dirty="0" err="1">
                <a:latin typeface="Arial" panose="020B0604020202020204" pitchFamily="34" charset="0"/>
                <a:cs typeface="Arial" panose="020B0604020202020204" pitchFamily="34" charset="0"/>
              </a:rPr>
              <a:t>spring</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boot</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docker</a:t>
            </a:r>
            <a:r>
              <a:rPr lang="es-MX" dirty="0">
                <a:latin typeface="Arial" panose="020B0604020202020204" pitchFamily="34" charset="0"/>
                <a:cs typeface="Arial" panose="020B0604020202020204" pitchFamily="34" charset="0"/>
              </a:rPr>
              <a:t> y </a:t>
            </a:r>
            <a:r>
              <a:rPr lang="es-MX" dirty="0" err="1">
                <a:latin typeface="Arial" panose="020B0604020202020204" pitchFamily="34" charset="0"/>
                <a:cs typeface="Arial" panose="020B0604020202020204" pitchFamily="34" charset="0"/>
              </a:rPr>
              <a:t>nginx</a:t>
            </a:r>
            <a:r>
              <a:rPr lang="es-MX" dirty="0">
                <a:latin typeface="Arial" panose="020B0604020202020204" pitchFamily="34" charset="0"/>
                <a:cs typeface="Arial" panose="020B0604020202020204" pitchFamily="34" charset="0"/>
              </a:rPr>
              <a:t> en </a:t>
            </a:r>
            <a:r>
              <a:rPr lang="es-MX" dirty="0" err="1">
                <a:latin typeface="Arial" panose="020B0604020202020204" pitchFamily="34" charset="0"/>
                <a:cs typeface="Arial" panose="020B0604020202020204" pitchFamily="34" charset="0"/>
              </a:rPr>
              <a:t>linux</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ubuntu</a:t>
            </a:r>
            <a:r>
              <a:rPr lang="es-MX" dirty="0">
                <a:latin typeface="Arial" panose="020B0604020202020204" pitchFamily="34" charset="0"/>
                <a:cs typeface="Arial" panose="020B0604020202020204" pitchFamily="34" charset="0"/>
              </a:rPr>
              <a:t>)</a:t>
            </a:r>
            <a:endParaRPr lang="es-ES" dirty="0">
              <a:latin typeface="Arial" panose="020B0604020202020204" pitchFamily="34" charset="0"/>
              <a:cs typeface="Arial" panose="020B0604020202020204" pitchFamily="34" charset="0"/>
            </a:endParaRPr>
          </a:p>
          <a:p>
            <a:pPr algn="ctr">
              <a:lnSpc>
                <a:spcPct val="106000"/>
              </a:lnSpc>
              <a:spcAft>
                <a:spcPts val="800"/>
              </a:spcAft>
            </a:pP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Fecha de entrega</a:t>
            </a:r>
            <a:r>
              <a:rPr lang="es-MX"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dirty="0">
                <a:effectLst/>
                <a:latin typeface="Arial" panose="020B0604020202020204" pitchFamily="34" charset="0"/>
                <a:ea typeface="Calibri" panose="020F0502020204030204" pitchFamily="34" charset="0"/>
                <a:cs typeface="Times New Roman" panose="02020603050405020304" pitchFamily="18" charset="0"/>
              </a:rPr>
              <a:t>Bella Vista, Chiapas a 13 de junio </a:t>
            </a:r>
            <a:r>
              <a:rPr lang="es-MX" dirty="0">
                <a:latin typeface="Arial" panose="020B0604020202020204" pitchFamily="34" charset="0"/>
                <a:ea typeface="Calibri" panose="020F0502020204030204" pitchFamily="34" charset="0"/>
                <a:cs typeface="Times New Roman" panose="02020603050405020304" pitchFamily="18" charset="0"/>
              </a:rPr>
              <a:t>del 2026</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2.png">
            <a:extLst>
              <a:ext uri="{FF2B5EF4-FFF2-40B4-BE49-F238E27FC236}">
                <a16:creationId xmlns:a16="http://schemas.microsoft.com/office/drawing/2014/main" id="{C530A503-595F-4484-BDAD-B0E49C5BE2D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440940" y="509349"/>
            <a:ext cx="2528570" cy="566420"/>
          </a:xfrm>
          <a:prstGeom prst="rect">
            <a:avLst/>
          </a:prstGeom>
        </p:spPr>
      </p:pic>
      <p:pic>
        <p:nvPicPr>
          <p:cNvPr id="10" name="image3.png">
            <a:extLst>
              <a:ext uri="{FF2B5EF4-FFF2-40B4-BE49-F238E27FC236}">
                <a16:creationId xmlns:a16="http://schemas.microsoft.com/office/drawing/2014/main" id="{9257A986-D344-4C09-A410-5B24351FDFD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682615" y="261805"/>
            <a:ext cx="1755140" cy="859155"/>
          </a:xfrm>
          <a:prstGeom prst="rect">
            <a:avLst/>
          </a:prstGeom>
        </p:spPr>
      </p:pic>
      <p:pic>
        <p:nvPicPr>
          <p:cNvPr id="11" name="image4.jpeg">
            <a:extLst>
              <a:ext uri="{FF2B5EF4-FFF2-40B4-BE49-F238E27FC236}">
                <a16:creationId xmlns:a16="http://schemas.microsoft.com/office/drawing/2014/main" id="{09C089BE-883F-41F0-A2C0-16298D0B23F9}"/>
              </a:ext>
            </a:extLst>
          </p:cNvPr>
          <p:cNvPicPr/>
          <p:nvPr/>
        </p:nvPicPr>
        <p:blipFill>
          <a:blip r:embed="rId5"/>
          <a:stretch>
            <a:fillRect/>
          </a:stretch>
        </p:blipFill>
        <p:spPr>
          <a:xfrm>
            <a:off x="8278495" y="279623"/>
            <a:ext cx="1178560" cy="860425"/>
          </a:xfrm>
          <a:prstGeom prst="rect">
            <a:avLst/>
          </a:prstGeom>
        </p:spPr>
      </p:pic>
    </p:spTree>
    <p:extLst>
      <p:ext uri="{BB962C8B-B14F-4D97-AF65-F5344CB8AC3E}">
        <p14:creationId xmlns:p14="http://schemas.microsoft.com/office/powerpoint/2010/main" val="4210877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3"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3"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3"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3" cstate="print"/>
          <a:stretch>
            <a:fillRect/>
          </a:stretch>
        </p:blipFill>
        <p:spPr>
          <a:xfrm rot="5400000">
            <a:off x="5972174" y="914874"/>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2151001" y="592380"/>
            <a:ext cx="9360660" cy="4283160"/>
          </a:xfrm>
          <a:prstGeom prst="rect">
            <a:avLst/>
          </a:prstGeom>
          <a:noFill/>
        </p:spPr>
        <p:txBody>
          <a:bodyPr wrap="square">
            <a:spAutoFit/>
          </a:bodyPr>
          <a:lstStyle/>
          <a:p>
            <a:pPr>
              <a:lnSpc>
                <a:spcPct val="115000"/>
              </a:lnSpc>
            </a:pPr>
            <a:r>
              <a:rPr lang="es-MX" sz="1400" dirty="0">
                <a:effectLst/>
                <a:latin typeface="Arial" panose="020B0604020202020204" pitchFamily="34" charset="0"/>
                <a:ea typeface="Arial" panose="020B0604020202020204" pitchFamily="34" charset="0"/>
              </a:rPr>
              <a:t>Introducción ------------------------------------------------------------------------------------------ 3</a:t>
            </a: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MX" sz="1400" dirty="0">
                <a:effectLst/>
                <a:latin typeface="Arial" panose="020B0604020202020204" pitchFamily="34" charset="0"/>
                <a:ea typeface="Arial" panose="020B0604020202020204" pitchFamily="34" charset="0"/>
              </a:rPr>
              <a:t>Justificación ------------------------------------------------------------------------------------------ 4</a:t>
            </a:r>
          </a:p>
          <a:p>
            <a:pPr>
              <a:lnSpc>
                <a:spcPct val="115000"/>
              </a:lnSpc>
            </a:pPr>
            <a:endParaRPr lang="es-MX" sz="1400" dirty="0">
              <a:solidFill>
                <a:schemeClr val="tx1"/>
              </a:solidFill>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Preparación del Entorno y Clonación del Proyecto</a:t>
            </a:r>
            <a:r>
              <a:rPr lang="es-MX" sz="1400" dirty="0">
                <a:latin typeface="Arial" panose="020B0604020202020204" pitchFamily="34" charset="0"/>
                <a:cs typeface="Arial" panose="020B0604020202020204" pitchFamily="34" charset="0"/>
              </a:rPr>
              <a:t> </a:t>
            </a:r>
            <a:r>
              <a:rPr lang="es-MX" sz="1400" dirty="0">
                <a:effectLst/>
                <a:latin typeface="Arial" panose="020B0604020202020204" pitchFamily="34" charset="0"/>
                <a:ea typeface="Arial" panose="020B0604020202020204" pitchFamily="34" charset="0"/>
              </a:rPr>
              <a:t>----------------------------------------- 5</a:t>
            </a:r>
          </a:p>
          <a:p>
            <a:pPr>
              <a:lnSpc>
                <a:spcPct val="115000"/>
              </a:lnSpc>
            </a:pPr>
            <a:endParaRPr lang="es-MX" sz="1400" dirty="0">
              <a:solidFill>
                <a:schemeClr val="tx1"/>
              </a:solidFill>
              <a:latin typeface="Arial" panose="020B0604020202020204" pitchFamily="34" charset="0"/>
              <a:cs typeface="Arial" panose="020B0604020202020204" pitchFamily="34" charset="0"/>
            </a:endParaRPr>
          </a:p>
          <a:p>
            <a:pPr>
              <a:lnSpc>
                <a:spcPct val="115000"/>
              </a:lnSpc>
            </a:pPr>
            <a:r>
              <a:rPr lang="es-ES" sz="1400" dirty="0" err="1">
                <a:solidFill>
                  <a:schemeClr val="tx1"/>
                </a:solidFill>
                <a:latin typeface="Arial" panose="020B0604020202020204" pitchFamily="34" charset="0"/>
                <a:cs typeface="Arial" panose="020B0604020202020204" pitchFamily="34" charset="0"/>
              </a:rPr>
              <a:t>Dockerización</a:t>
            </a:r>
            <a:r>
              <a:rPr lang="es-ES" sz="1400" dirty="0">
                <a:solidFill>
                  <a:schemeClr val="tx1"/>
                </a:solidFill>
                <a:latin typeface="Arial" panose="020B0604020202020204" pitchFamily="34" charset="0"/>
                <a:cs typeface="Arial" panose="020B0604020202020204" pitchFamily="34" charset="0"/>
              </a:rPr>
              <a:t> de Microservicios, Angular y Bases de Datos </a:t>
            </a:r>
            <a:r>
              <a:rPr lang="es-MX" sz="1400" dirty="0">
                <a:solidFill>
                  <a:schemeClr val="tx1"/>
                </a:solidFill>
                <a:latin typeface="Arial" panose="020B0604020202020204" pitchFamily="34" charset="0"/>
                <a:cs typeface="Arial" panose="020B0604020202020204" pitchFamily="34" charset="0"/>
              </a:rPr>
              <a:t>----</a:t>
            </a:r>
            <a:r>
              <a:rPr lang="es-ES" sz="1400" dirty="0">
                <a:latin typeface="Arial" panose="020B0604020202020204" pitchFamily="34" charset="0"/>
                <a:cs typeface="Arial" panose="020B0604020202020204" pitchFamily="34" charset="0"/>
              </a:rPr>
              <a:t>---------------------- </a:t>
            </a:r>
            <a:r>
              <a:rPr lang="es-MX" sz="1400" dirty="0">
                <a:latin typeface="Arial" panose="020B0604020202020204" pitchFamily="34" charset="0"/>
                <a:cs typeface="Arial" panose="020B0604020202020204" pitchFamily="34" charset="0"/>
              </a:rPr>
              <a:t>9</a:t>
            </a:r>
            <a:endParaRPr lang="es-MX" sz="1400" dirty="0">
              <a:effectLst/>
              <a:latin typeface="Arial" panose="020B0604020202020204" pitchFamily="34" charset="0"/>
              <a:ea typeface="Arial" panose="020B0604020202020204" pitchFamily="34" charset="0"/>
            </a:endParaRPr>
          </a:p>
          <a:p>
            <a:pPr>
              <a:lnSpc>
                <a:spcPct val="115000"/>
              </a:lnSpc>
            </a:pPr>
            <a:endParaRPr lang="es-ES" sz="1400" dirty="0">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Verificación en Eureka y Angular Front</a:t>
            </a:r>
            <a:r>
              <a:rPr lang="es-MX" sz="1400" dirty="0">
                <a:latin typeface="Arial" panose="020B0604020202020204" pitchFamily="34" charset="0"/>
                <a:cs typeface="Arial" panose="020B0604020202020204" pitchFamily="34" charset="0"/>
              </a:rPr>
              <a:t>  </a:t>
            </a:r>
            <a:r>
              <a:rPr lang="es-ES" sz="1400" dirty="0">
                <a:latin typeface="Arial" panose="020B0604020202020204" pitchFamily="34" charset="0"/>
                <a:cs typeface="Arial" panose="020B0604020202020204" pitchFamily="34" charset="0"/>
              </a:rPr>
              <a:t>------------------------------------------------------- 1</a:t>
            </a:r>
            <a:r>
              <a:rPr lang="es-MX" sz="1400" dirty="0">
                <a:latin typeface="Arial" panose="020B0604020202020204" pitchFamily="34" charset="0"/>
                <a:cs typeface="Arial" panose="020B0604020202020204" pitchFamily="34" charset="0"/>
              </a:rPr>
              <a:t>7</a:t>
            </a:r>
            <a:endParaRPr lang="es-MX" sz="1400" dirty="0">
              <a:effectLst/>
              <a:latin typeface="Arial" panose="020B0604020202020204" pitchFamily="34" charset="0"/>
              <a:ea typeface="Arial" panose="020B0604020202020204" pitchFamily="34" charset="0"/>
            </a:endParaRPr>
          </a:p>
          <a:p>
            <a:pPr>
              <a:lnSpc>
                <a:spcPct val="115000"/>
              </a:lnSpc>
            </a:pPr>
            <a:endParaRPr lang="es-ES" sz="1400" dirty="0">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Implementación de </a:t>
            </a:r>
            <a:r>
              <a:rPr lang="es-ES" sz="1400" dirty="0" err="1">
                <a:solidFill>
                  <a:schemeClr val="tx1"/>
                </a:solidFill>
                <a:latin typeface="Arial" panose="020B0604020202020204" pitchFamily="34" charset="0"/>
                <a:cs typeface="Arial" panose="020B0604020202020204" pitchFamily="34" charset="0"/>
              </a:rPr>
              <a:t>Nginx</a:t>
            </a:r>
            <a:r>
              <a:rPr lang="es-ES" sz="1400" dirty="0">
                <a:solidFill>
                  <a:schemeClr val="tx1"/>
                </a:solidFill>
                <a:latin typeface="Arial" panose="020B0604020202020204" pitchFamily="34" charset="0"/>
                <a:cs typeface="Arial" panose="020B0604020202020204" pitchFamily="34" charset="0"/>
              </a:rPr>
              <a:t> y Asignación del Dominio Local ---------------</a:t>
            </a:r>
            <a:r>
              <a:rPr lang="es-ES" sz="1400" dirty="0">
                <a:latin typeface="Arial" panose="020B0604020202020204" pitchFamily="34" charset="0"/>
                <a:cs typeface="Arial" panose="020B0604020202020204" pitchFamily="34" charset="0"/>
              </a:rPr>
              <a:t>-----------------1</a:t>
            </a:r>
            <a:r>
              <a:rPr lang="es-MX" sz="1400" dirty="0">
                <a:latin typeface="Arial" panose="020B0604020202020204" pitchFamily="34" charset="0"/>
                <a:cs typeface="Arial" panose="020B0604020202020204" pitchFamily="34" charset="0"/>
              </a:rPr>
              <a:t>9</a:t>
            </a: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Resultados y Correcciones</a:t>
            </a:r>
            <a:r>
              <a:rPr lang="es-MX" sz="1400" dirty="0">
                <a:latin typeface="Arial" panose="020B0604020202020204" pitchFamily="34" charset="0"/>
                <a:cs typeface="Arial" panose="020B0604020202020204" pitchFamily="34" charset="0"/>
              </a:rPr>
              <a:t> </a:t>
            </a:r>
            <a:r>
              <a:rPr lang="es-ES" sz="1400" dirty="0">
                <a:solidFill>
                  <a:schemeClr val="tx1"/>
                </a:solidFill>
                <a:latin typeface="Arial" panose="020B0604020202020204" pitchFamily="34" charset="0"/>
                <a:cs typeface="Arial" panose="020B0604020202020204" pitchFamily="34" charset="0"/>
              </a:rPr>
              <a:t>----------------------------------------------------------</a:t>
            </a:r>
            <a:r>
              <a:rPr lang="es-ES" sz="1400" dirty="0">
                <a:latin typeface="Arial" panose="020B0604020202020204" pitchFamily="34" charset="0"/>
                <a:cs typeface="Arial" panose="020B0604020202020204" pitchFamily="34" charset="0"/>
              </a:rPr>
              <a:t>-----------------24</a:t>
            </a:r>
            <a:endParaRPr lang="es-MX" sz="1400" dirty="0">
              <a:effectLst/>
              <a:latin typeface="Arial" panose="020B0604020202020204" pitchFamily="34" charset="0"/>
              <a:ea typeface="Arial" panose="020B0604020202020204" pitchFamily="34" charset="0"/>
            </a:endParaRP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MX" sz="1400" dirty="0">
                <a:effectLst/>
                <a:latin typeface="Arial" panose="020B0604020202020204" pitchFamily="34" charset="0"/>
                <a:ea typeface="Arial" panose="020B0604020202020204" pitchFamily="34" charset="0"/>
              </a:rPr>
              <a:t>Conclusión ------------------------------------------------------------------------------------------   </a:t>
            </a:r>
            <a:r>
              <a:rPr lang="es-MX" sz="1400" dirty="0">
                <a:latin typeface="Arial" panose="020B0604020202020204" pitchFamily="34" charset="0"/>
                <a:ea typeface="Arial" panose="020B0604020202020204" pitchFamily="34" charset="0"/>
              </a:rPr>
              <a:t>28</a:t>
            </a:r>
            <a:endParaRPr lang="es-MX" sz="1400" dirty="0">
              <a:effectLst/>
              <a:latin typeface="Arial" panose="020B0604020202020204" pitchFamily="34" charset="0"/>
              <a:ea typeface="Arial" panose="020B0604020202020204" pitchFamily="34" charset="0"/>
            </a:endParaRPr>
          </a:p>
          <a:p>
            <a:pPr>
              <a:lnSpc>
                <a:spcPct val="115000"/>
              </a:lnSpc>
            </a:pPr>
            <a:endParaRPr lang="es-MX" sz="1400" dirty="0">
              <a:latin typeface="Arial" panose="020B0604020202020204" pitchFamily="34" charset="0"/>
              <a:ea typeface="Arial" panose="020B0604020202020204" pitchFamily="34" charset="0"/>
            </a:endParaRPr>
          </a:p>
          <a:p>
            <a:pPr>
              <a:lnSpc>
                <a:spcPct val="115000"/>
              </a:lnSpc>
            </a:pPr>
            <a:r>
              <a:rPr lang="es-MX" sz="1400" dirty="0">
                <a:latin typeface="Arial" panose="020B0604020202020204" pitchFamily="34" charset="0"/>
                <a:ea typeface="Arial" panose="020B0604020202020204" pitchFamily="34" charset="0"/>
              </a:rPr>
              <a:t>Fuentes Consultadas ------</a:t>
            </a:r>
            <a:r>
              <a:rPr lang="es-MX" sz="1400" dirty="0">
                <a:effectLst/>
                <a:latin typeface="Arial" panose="020B0604020202020204" pitchFamily="34" charset="0"/>
                <a:ea typeface="Arial" panose="020B0604020202020204" pitchFamily="34" charset="0"/>
              </a:rPr>
              <a:t>-----------------------------------------------------------------------  </a:t>
            </a:r>
            <a:r>
              <a:rPr lang="es-MX" sz="1400" dirty="0">
                <a:latin typeface="Arial" panose="020B0604020202020204" pitchFamily="34" charset="0"/>
                <a:ea typeface="Arial" panose="020B0604020202020204" pitchFamily="34" charset="0"/>
              </a:rPr>
              <a:t>29</a:t>
            </a:r>
            <a:endParaRPr lang="es-MX" sz="1400" dirty="0">
              <a:effectLst/>
              <a:latin typeface="Arial" panose="020B0604020202020204" pitchFamily="34" charset="0"/>
              <a:ea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212672"/>
            <a:ext cx="1000125" cy="247651"/>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ÍNDICE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105703"/>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7" name="Imagen 16">
            <a:extLst>
              <a:ext uri="{FF2B5EF4-FFF2-40B4-BE49-F238E27FC236}">
                <a16:creationId xmlns:a16="http://schemas.microsoft.com/office/drawing/2014/main" id="{1F2CF5EC-2601-4FF9-96AE-945D03F8AA8C}"/>
              </a:ext>
            </a:extLst>
          </p:cNvPr>
          <p:cNvPicPr/>
          <p:nvPr/>
        </p:nvPicPr>
        <p:blipFill rotWithShape="1">
          <a:blip r:embed="rId4" cstate="print">
            <a:extLst>
              <a:ext uri="{28A0092B-C50C-407E-A947-70E740481C1C}">
                <a14:useLocalDpi xmlns:a14="http://schemas.microsoft.com/office/drawing/2010/main" val="0"/>
              </a:ext>
            </a:extLst>
          </a:blip>
          <a:srcRect b="29679"/>
          <a:stretch/>
        </p:blipFill>
        <p:spPr bwMode="auto">
          <a:xfrm rot="10800000">
            <a:off x="5001894" y="237761"/>
            <a:ext cx="341630" cy="2070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2381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1415669" y="1126599"/>
            <a:ext cx="9360660" cy="4401205"/>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Una vez que logré empaquetar, configurar y ordenar el arranque de mi ecosistema de microservicios mediante Docker, la última fase de mi proyecto consistió en validar la disponibilidad y el correcto funcionamiento de toda la estructura de cara al usuario. Para ello, centralicé el acceso del sistema bajo el dominio personalizado http://vannisystem.local administrado por </a:t>
            </a:r>
            <a:r>
              <a:rPr lang="es-ES" sz="2000" b="0" i="0" dirty="0" err="1">
                <a:effectLst/>
                <a:latin typeface="Arial" panose="020B0604020202020204" pitchFamily="34" charset="0"/>
                <a:cs typeface="Arial" panose="020B0604020202020204" pitchFamily="34" charset="0"/>
              </a:rPr>
              <a:t>Nginx</a:t>
            </a:r>
            <a:r>
              <a:rPr lang="es-ES" sz="2000" b="0" i="0" dirty="0">
                <a:effectLst/>
                <a:latin typeface="Arial" panose="020B0604020202020204" pitchFamily="34" charset="0"/>
                <a:cs typeface="Arial" panose="020B0604020202020204" pitchFamily="34" charset="0"/>
              </a:rPr>
              <a:t>.</a:t>
            </a:r>
          </a:p>
          <a:p>
            <a:pPr algn="just"/>
            <a:endParaRPr lang="es-ES" sz="2000" b="0" i="0" dirty="0">
              <a:effectLst/>
              <a:latin typeface="Arial" panose="020B0604020202020204" pitchFamily="34" charset="0"/>
              <a:cs typeface="Arial" panose="020B0604020202020204" pitchFamily="34" charset="0"/>
            </a:endParaRPr>
          </a:p>
          <a:p>
            <a:pPr algn="just"/>
            <a:r>
              <a:rPr lang="es-ES" sz="2000" b="0" i="0" dirty="0">
                <a:effectLst/>
                <a:latin typeface="Arial" panose="020B0604020202020204" pitchFamily="34" charset="0"/>
                <a:cs typeface="Arial" panose="020B0604020202020204" pitchFamily="34" charset="0"/>
              </a:rPr>
              <a:t>Este reporte detalla el proceso de experimentación y control de calidad que realicé para verificar la estabilidad de la plataforma. Mi práctica consistió en someter al sistema a un ciclo intensivo de 20 ejercicios de prueba en caliente, interactuando directamente con la interfaz gráfica de Angular para ejecutar operaciones completas de creación, lectura, actualización y eliminación de registros (CRUD). Con esto, busco certificar que las peticiones del navegador web en Ubuntu viajen correctamente a través del API Gateway y se consoliden de forma inmediata en las bases de datos relacionales.</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467315"/>
            <a:ext cx="1943100" cy="25525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INTRODUCCIÓN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383496"/>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a:extLst>
              <a:ext uri="{FF2B5EF4-FFF2-40B4-BE49-F238E27FC236}">
                <a16:creationId xmlns:a16="http://schemas.microsoft.com/office/drawing/2014/main" id="{2C17DC6D-AD33-4EC2-A83F-22DC0FDFBF8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5870" y="445737"/>
            <a:ext cx="268605" cy="306070"/>
          </a:xfrm>
          <a:prstGeom prst="rect">
            <a:avLst/>
          </a:prstGeom>
          <a:noFill/>
        </p:spPr>
      </p:pic>
    </p:spTree>
    <p:extLst>
      <p:ext uri="{BB962C8B-B14F-4D97-AF65-F5344CB8AC3E}">
        <p14:creationId xmlns:p14="http://schemas.microsoft.com/office/powerpoint/2010/main" val="597710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695325" y="946532"/>
            <a:ext cx="11068050" cy="4093428"/>
          </a:xfrm>
          <a:prstGeom prst="rect">
            <a:avLst/>
          </a:prstGeom>
          <a:noFill/>
        </p:spPr>
        <p:txBody>
          <a:bodyPr wrap="square">
            <a:spAutoFit/>
          </a:bodyPr>
          <a:lstStyle/>
          <a:p>
            <a:pPr algn="l"/>
            <a:r>
              <a:rPr lang="es-ES" sz="2000" b="0" i="0" dirty="0">
                <a:effectLst/>
                <a:latin typeface="Arial" panose="020B0604020202020204" pitchFamily="34" charset="0"/>
                <a:cs typeface="Arial" panose="020B0604020202020204" pitchFamily="34" charset="0"/>
              </a:rPr>
              <a:t>Contar con una arquitectura distribuida en verde no garantiza que la experiencia del usuario o el flujo de datos sea el correcto. En muchas ocasiones, los problemas de asignación de rutas, el manejo de respuestas vacías desde el </a:t>
            </a:r>
            <a:r>
              <a:rPr lang="es-ES" sz="2000" b="0" i="0" dirty="0" err="1">
                <a:effectLst/>
                <a:latin typeface="Arial" panose="020B0604020202020204" pitchFamily="34" charset="0"/>
                <a:cs typeface="Arial" panose="020B0604020202020204" pitchFamily="34" charset="0"/>
              </a:rPr>
              <a:t>backend</a:t>
            </a:r>
            <a:r>
              <a:rPr lang="es-ES" sz="2000" b="0" i="0" dirty="0">
                <a:effectLst/>
                <a:latin typeface="Arial" panose="020B0604020202020204" pitchFamily="34" charset="0"/>
                <a:cs typeface="Arial" panose="020B0604020202020204" pitchFamily="34" charset="0"/>
              </a:rPr>
              <a:t> o las restricciones de seguridad bloquean las acciones de escritura y borrado en la interfaz del cliente. Por lo tanto, la realización de esta batería de pruebas se justifica por mi necesidad de evaluar el comportamiento del sistema bajo un escenario de uso real y continuo.</a:t>
            </a:r>
          </a:p>
          <a:p>
            <a:pPr algn="l"/>
            <a:endParaRPr lang="es-ES" sz="2000" b="0" i="0" dirty="0">
              <a:effectLst/>
              <a:latin typeface="Arial" panose="020B0604020202020204" pitchFamily="34" charset="0"/>
              <a:cs typeface="Arial" panose="020B0604020202020204" pitchFamily="34" charset="0"/>
            </a:endParaRPr>
          </a:p>
          <a:p>
            <a:pPr algn="l"/>
            <a:r>
              <a:rPr lang="es-ES" sz="2000" b="0" i="0" dirty="0">
                <a:effectLst/>
                <a:latin typeface="Arial" panose="020B0604020202020204" pitchFamily="34" charset="0"/>
                <a:cs typeface="Arial" panose="020B0604020202020204" pitchFamily="34" charset="0"/>
              </a:rPr>
              <a:t>Llevar a cabo 10 pruebas detalladas en el módulo de cursos y 10 en el de estudiantes me permite auditar la persistencia de datos en MySQL y PostgreSQL de manera simultánea. Además, esta experimentación me sirve para constatar que el mapeo de rutas relativas que configuré en </a:t>
            </a:r>
            <a:r>
              <a:rPr lang="es-ES" sz="2000" b="0" i="0" dirty="0" err="1">
                <a:effectLst/>
                <a:latin typeface="Arial" panose="020B0604020202020204" pitchFamily="34" charset="0"/>
                <a:cs typeface="Arial" panose="020B0604020202020204" pitchFamily="34" charset="0"/>
              </a:rPr>
              <a:t>Nginx</a:t>
            </a:r>
            <a:r>
              <a:rPr lang="es-ES" sz="2000" b="0" i="0" dirty="0">
                <a:effectLst/>
                <a:latin typeface="Arial" panose="020B0604020202020204" pitchFamily="34" charset="0"/>
                <a:cs typeface="Arial" panose="020B0604020202020204" pitchFamily="34" charset="0"/>
              </a:rPr>
              <a:t> y el Gateway maneja el tráfico de forma transparente, asegurando que mi sistema sea confiable, libre de errores de comunicación y esté listo para ser presentado como una solución de software totalmente funcional.</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467315"/>
            <a:ext cx="1943100" cy="25525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JUSTIFICACIÓN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383496"/>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descr="izquierda justificación vector icono 40666057 Vector en Vecteezy">
            <a:extLst>
              <a:ext uri="{FF2B5EF4-FFF2-40B4-BE49-F238E27FC236}">
                <a16:creationId xmlns:a16="http://schemas.microsoft.com/office/drawing/2014/main" id="{F0F57F88-E129-4891-A963-DB2F9355C49A}"/>
              </a:ext>
            </a:extLst>
          </p:cNvPr>
          <p:cNvPicPr/>
          <p:nvPr/>
        </p:nvPicPr>
        <p:blipFill rotWithShape="1">
          <a:blip r:embed="rId3" cstate="print">
            <a:extLst>
              <a:ext uri="{BEBA8EAE-BF5A-486C-A8C5-ECC9F3942E4B}">
                <a14:imgProps xmlns:a14="http://schemas.microsoft.com/office/drawing/2010/main">
                  <a14:imgLayer r:embed="rId4">
                    <a14:imgEffect>
                      <a14:backgroundRemoval t="4698" b="42281" l="58880" r="95431">
                        <a14:foregroundMark x1="70074" y1="9481" x2="68963" y2="6889"/>
                        <a14:foregroundMark x1="88148" y1="8741" x2="86889" y2="8000"/>
                        <a14:foregroundMark x1="71481" y1="20148" x2="73185" y2="20148"/>
                        <a14:foregroundMark x1="72667" y1="25778" x2="75259" y2="25778"/>
                        <a14:foregroundMark x1="72074" y1="31259" x2="74519" y2="31259"/>
                        <a14:foregroundMark x1="70444" y1="36296" x2="71333" y2="36444"/>
                        <a14:foregroundMark x1="82963" y1="36815" x2="82963" y2="35704"/>
                      </a14:backgroundRemoval>
                    </a14:imgEffect>
                  </a14:imgLayer>
                </a14:imgProps>
              </a:ext>
              <a:ext uri="{28A0092B-C50C-407E-A947-70E740481C1C}">
                <a14:useLocalDpi xmlns:a14="http://schemas.microsoft.com/office/drawing/2010/main" val="0"/>
              </a:ext>
            </a:extLst>
          </a:blip>
          <a:srcRect l="55258" b="53021"/>
          <a:stretch/>
        </p:blipFill>
        <p:spPr bwMode="auto">
          <a:xfrm>
            <a:off x="4975541" y="419035"/>
            <a:ext cx="370205" cy="3886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5592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00110"/>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Antes de empezar con los ejercicios, encendí todo el ecosistema con un comando</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Encender el ecosistema completo</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079AFE59-3341-4EA7-80F3-D6E9520F83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6862" y="1790700"/>
            <a:ext cx="8277225" cy="2628900"/>
          </a:xfrm>
          <a:prstGeom prst="rect">
            <a:avLst/>
          </a:prstGeom>
        </p:spPr>
      </p:pic>
    </p:spTree>
    <p:extLst>
      <p:ext uri="{BB962C8B-B14F-4D97-AF65-F5344CB8AC3E}">
        <p14:creationId xmlns:p14="http://schemas.microsoft.com/office/powerpoint/2010/main" val="3201866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Para poder llevar a cabo y que no haya errores, tengo que iniciar con el Módulo de cursos</a:t>
            </a:r>
            <a:r>
              <a:rPr lang="es-ES" sz="2000" dirty="0">
                <a:latin typeface="Arial" panose="020B0604020202020204" pitchFamily="34" charset="0"/>
                <a:cs typeface="Arial" panose="020B0604020202020204" pitchFamily="34" charset="0"/>
              </a:rPr>
              <a:t>.</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1. POST: Empecé por registrar un nuevo curso con los siguientes datos</a:t>
            </a: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2" name="Imagen 11">
            <a:extLst>
              <a:ext uri="{FF2B5EF4-FFF2-40B4-BE49-F238E27FC236}">
                <a16:creationId xmlns:a16="http://schemas.microsoft.com/office/drawing/2014/main" id="{6995BD48-7277-4F9B-8480-03C2A6BFFA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5595" y="2509837"/>
            <a:ext cx="5800725" cy="3667125"/>
          </a:xfrm>
          <a:prstGeom prst="rect">
            <a:avLst/>
          </a:prstGeom>
        </p:spPr>
      </p:pic>
    </p:spTree>
    <p:extLst>
      <p:ext uri="{BB962C8B-B14F-4D97-AF65-F5344CB8AC3E}">
        <p14:creationId xmlns:p14="http://schemas.microsoft.com/office/powerpoint/2010/main" val="187314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2. </a:t>
            </a:r>
            <a:r>
              <a:rPr lang="es-ES" sz="2000" dirty="0" err="1">
                <a:latin typeface="Arial" panose="020B0604020202020204" pitchFamily="34" charset="0"/>
                <a:cs typeface="Arial" panose="020B0604020202020204" pitchFamily="34" charset="0"/>
              </a:rPr>
              <a:t>Get</a:t>
            </a:r>
            <a:r>
              <a:rPr lang="es-ES" sz="2000" dirty="0">
                <a:latin typeface="Arial" panose="020B0604020202020204" pitchFamily="34" charset="0"/>
                <a:cs typeface="Arial" panose="020B0604020202020204" pitchFamily="34" charset="0"/>
              </a:rPr>
              <a:t> </a:t>
            </a:r>
            <a:r>
              <a:rPr lang="es-ES" sz="2000" dirty="0" err="1">
                <a:latin typeface="Arial" panose="020B0604020202020204" pitchFamily="34" charset="0"/>
                <a:cs typeface="Arial" panose="020B0604020202020204" pitchFamily="34" charset="0"/>
              </a:rPr>
              <a:t>all</a:t>
            </a:r>
            <a:r>
              <a:rPr lang="es-ES" sz="2000" dirty="0">
                <a:latin typeface="Arial" panose="020B0604020202020204" pitchFamily="34" charset="0"/>
                <a:cs typeface="Arial" panose="020B0604020202020204" pitchFamily="34" charset="0"/>
              </a:rPr>
              <a:t>: Una vez hecho el primer ejercicio, seguí con la función (</a:t>
            </a:r>
            <a:r>
              <a:rPr lang="es-ES" sz="2000" dirty="0" err="1">
                <a:latin typeface="Arial" panose="020B0604020202020204" pitchFamily="34" charset="0"/>
                <a:cs typeface="Arial" panose="020B0604020202020204" pitchFamily="34" charset="0"/>
              </a:rPr>
              <a:t>Get</a:t>
            </a:r>
            <a:r>
              <a:rPr lang="es-ES" sz="2000" dirty="0">
                <a:latin typeface="Arial" panose="020B0604020202020204" pitchFamily="34" charset="0"/>
                <a:cs typeface="Arial" panose="020B0604020202020204" pitchFamily="34" charset="0"/>
              </a:rPr>
              <a:t> </a:t>
            </a:r>
            <a:r>
              <a:rPr lang="es-ES" sz="2000" dirty="0" err="1">
                <a:latin typeface="Arial" panose="020B0604020202020204" pitchFamily="34" charset="0"/>
                <a:cs typeface="Arial" panose="020B0604020202020204" pitchFamily="34" charset="0"/>
              </a:rPr>
              <a:t>all</a:t>
            </a:r>
            <a:r>
              <a:rPr lang="es-ES" sz="2000" dirty="0">
                <a:latin typeface="Arial" panose="020B0604020202020204" pitchFamily="34" charset="0"/>
                <a:cs typeface="Arial" panose="020B0604020202020204" pitchFamily="34" charset="0"/>
              </a:rPr>
              <a:t>), para ver la lista de todos los cursos, en este caso solo aparece el que agregué anteriormente.</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F15C1ADC-8468-4FAE-B39B-AB18CB6E9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99" y="2636516"/>
            <a:ext cx="11496675" cy="1832619"/>
          </a:xfrm>
          <a:prstGeom prst="rect">
            <a:avLst/>
          </a:prstGeom>
        </p:spPr>
      </p:pic>
    </p:spTree>
    <p:extLst>
      <p:ext uri="{BB962C8B-B14F-4D97-AF65-F5344CB8AC3E}">
        <p14:creationId xmlns:p14="http://schemas.microsoft.com/office/powerpoint/2010/main" val="856871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3.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Registré el curso de Arquitectura de Computadoras</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B71C94A8-8280-4357-ABCE-4E3C4B0F03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6587" y="1924050"/>
            <a:ext cx="4886325" cy="3505200"/>
          </a:xfrm>
          <a:prstGeom prst="rect">
            <a:avLst/>
          </a:prstGeom>
        </p:spPr>
      </p:pic>
    </p:spTree>
    <p:extLst>
      <p:ext uri="{BB962C8B-B14F-4D97-AF65-F5344CB8AC3E}">
        <p14:creationId xmlns:p14="http://schemas.microsoft.com/office/powerpoint/2010/main" val="2224050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4.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Registré un nuevo curso (Ingeniería de Software)</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FF7F713F-DF15-467D-B5AF-AF10853BC0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0387" y="2099011"/>
            <a:ext cx="4886325" cy="3505200"/>
          </a:xfrm>
          <a:prstGeom prst="rect">
            <a:avLst/>
          </a:prstGeom>
        </p:spPr>
      </p:pic>
    </p:spTree>
    <p:extLst>
      <p:ext uri="{BB962C8B-B14F-4D97-AF65-F5344CB8AC3E}">
        <p14:creationId xmlns:p14="http://schemas.microsoft.com/office/powerpoint/2010/main" val="2480144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5.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Agregué nuevo curso (Bases de Datos Relacionales)</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F5C69337-51BB-4293-97D4-D26436906E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8887" y="2277930"/>
            <a:ext cx="4886325" cy="3505200"/>
          </a:xfrm>
          <a:prstGeom prst="rect">
            <a:avLst/>
          </a:prstGeom>
        </p:spPr>
      </p:pic>
    </p:spTree>
    <p:extLst>
      <p:ext uri="{BB962C8B-B14F-4D97-AF65-F5344CB8AC3E}">
        <p14:creationId xmlns:p14="http://schemas.microsoft.com/office/powerpoint/2010/main" val="1633832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6.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Agregué nuevo curso (Redes de Computadoras)</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00343EC3-A87C-42D9-BBFF-CE60CF411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4615" y="1924050"/>
            <a:ext cx="4886325" cy="3505200"/>
          </a:xfrm>
          <a:prstGeom prst="rect">
            <a:avLst/>
          </a:prstGeom>
        </p:spPr>
      </p:pic>
    </p:spTree>
    <p:extLst>
      <p:ext uri="{BB962C8B-B14F-4D97-AF65-F5344CB8AC3E}">
        <p14:creationId xmlns:p14="http://schemas.microsoft.com/office/powerpoint/2010/main" val="2706880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7. </a:t>
            </a:r>
            <a:r>
              <a:rPr lang="es-ES" sz="2000" i="0" dirty="0" err="1">
                <a:effectLst/>
                <a:latin typeface="Arial" panose="020B0604020202020204" pitchFamily="34" charset="0"/>
                <a:cs typeface="Arial" panose="020B0604020202020204" pitchFamily="34" charset="0"/>
              </a:rPr>
              <a:t>Get</a:t>
            </a:r>
            <a:r>
              <a:rPr lang="es-ES" sz="2000" i="0" dirty="0">
                <a:effectLst/>
                <a:latin typeface="Arial" panose="020B0604020202020204" pitchFamily="34" charset="0"/>
                <a:cs typeface="Arial" panose="020B0604020202020204" pitchFamily="34" charset="0"/>
              </a:rPr>
              <a:t> </a:t>
            </a:r>
            <a:r>
              <a:rPr lang="es-ES" sz="2000" i="0" dirty="0" err="1">
                <a:effectLst/>
                <a:latin typeface="Arial" panose="020B0604020202020204" pitchFamily="34" charset="0"/>
                <a:cs typeface="Arial" panose="020B0604020202020204" pitchFamily="34" charset="0"/>
              </a:rPr>
              <a:t>All</a:t>
            </a:r>
            <a:r>
              <a:rPr lang="es-ES" sz="2000" i="0" dirty="0">
                <a:effectLst/>
                <a:latin typeface="Arial" panose="020B0604020202020204" pitchFamily="34" charset="0"/>
                <a:cs typeface="Arial" panose="020B0604020202020204" pitchFamily="34" charset="0"/>
              </a:rPr>
              <a:t>: Usé la función de (</a:t>
            </a:r>
            <a:r>
              <a:rPr lang="es-ES" sz="2000" i="0" dirty="0" err="1">
                <a:effectLst/>
                <a:latin typeface="Arial" panose="020B0604020202020204" pitchFamily="34" charset="0"/>
                <a:cs typeface="Arial" panose="020B0604020202020204" pitchFamily="34" charset="0"/>
              </a:rPr>
              <a:t>get</a:t>
            </a:r>
            <a:r>
              <a:rPr lang="es-ES" sz="2000" i="0" dirty="0">
                <a:effectLst/>
                <a:latin typeface="Arial" panose="020B0604020202020204" pitchFamily="34" charset="0"/>
                <a:cs typeface="Arial" panose="020B0604020202020204" pitchFamily="34" charset="0"/>
              </a:rPr>
              <a:t> </a:t>
            </a:r>
            <a:r>
              <a:rPr lang="es-ES" sz="2000" i="0" dirty="0" err="1">
                <a:effectLst/>
                <a:latin typeface="Arial" panose="020B0604020202020204" pitchFamily="34" charset="0"/>
                <a:cs typeface="Arial" panose="020B0604020202020204" pitchFamily="34" charset="0"/>
              </a:rPr>
              <a:t>all</a:t>
            </a:r>
            <a:r>
              <a:rPr lang="es-ES" sz="2000" i="0" dirty="0">
                <a:effectLst/>
                <a:latin typeface="Arial" panose="020B0604020202020204" pitchFamily="34" charset="0"/>
                <a:cs typeface="Arial" panose="020B0604020202020204" pitchFamily="34" charset="0"/>
              </a:rPr>
              <a:t>) para ver todos los cursos ingresados</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36F3D60C-C8CA-417C-9629-79F5885FF8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930" y="2781696"/>
            <a:ext cx="10868025" cy="3166226"/>
          </a:xfrm>
          <a:prstGeom prst="rect">
            <a:avLst/>
          </a:prstGeom>
        </p:spPr>
      </p:pic>
    </p:spTree>
    <p:extLst>
      <p:ext uri="{BB962C8B-B14F-4D97-AF65-F5344CB8AC3E}">
        <p14:creationId xmlns:p14="http://schemas.microsoft.com/office/powerpoint/2010/main" val="3710722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8. </a:t>
            </a:r>
            <a:r>
              <a:rPr lang="es-ES" sz="2000" i="0" dirty="0" err="1">
                <a:effectLst/>
                <a:latin typeface="Arial" panose="020B0604020202020204" pitchFamily="34" charset="0"/>
                <a:cs typeface="Arial" panose="020B0604020202020204" pitchFamily="34" charset="0"/>
              </a:rPr>
              <a:t>Get</a:t>
            </a:r>
            <a:r>
              <a:rPr lang="es-ES" sz="2000" i="0" dirty="0">
                <a:effectLst/>
                <a:latin typeface="Arial" panose="020B0604020202020204" pitchFamily="34" charset="0"/>
                <a:cs typeface="Arial" panose="020B0604020202020204" pitchFamily="34" charset="0"/>
              </a:rPr>
              <a:t> ID: Hice una consulta con el ID 3, me mostró los datos correspondientes </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A38F72F9-C43D-47B6-85E1-05406AD614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6160" y="1770622"/>
            <a:ext cx="3562350" cy="4171950"/>
          </a:xfrm>
          <a:prstGeom prst="rect">
            <a:avLst/>
          </a:prstGeom>
        </p:spPr>
      </p:pic>
    </p:spTree>
    <p:extLst>
      <p:ext uri="{BB962C8B-B14F-4D97-AF65-F5344CB8AC3E}">
        <p14:creationId xmlns:p14="http://schemas.microsoft.com/office/powerpoint/2010/main" val="1169339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9. </a:t>
            </a:r>
            <a:r>
              <a:rPr lang="es-ES" sz="2000" i="0" dirty="0" err="1">
                <a:effectLst/>
                <a:latin typeface="Arial" panose="020B0604020202020204" pitchFamily="34" charset="0"/>
                <a:cs typeface="Arial" panose="020B0604020202020204" pitchFamily="34" charset="0"/>
              </a:rPr>
              <a:t>Update</a:t>
            </a:r>
            <a:r>
              <a:rPr lang="es-ES" sz="2000" i="0" dirty="0">
                <a:effectLst/>
                <a:latin typeface="Arial" panose="020B0604020202020204" pitchFamily="34" charset="0"/>
                <a:cs typeface="Arial" panose="020B0604020202020204" pitchFamily="34" charset="0"/>
              </a:rPr>
              <a:t>: Consulté el ID 2 y modifiqué el nombre del profesor</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29A5863F-2A0A-4E37-A158-FB912AD357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3887" y="3145008"/>
            <a:ext cx="3609975" cy="2857500"/>
          </a:xfrm>
          <a:prstGeom prst="rect">
            <a:avLst/>
          </a:prstGeom>
        </p:spPr>
      </p:pic>
      <p:pic>
        <p:nvPicPr>
          <p:cNvPr id="10" name="Imagen 9">
            <a:extLst>
              <a:ext uri="{FF2B5EF4-FFF2-40B4-BE49-F238E27FC236}">
                <a16:creationId xmlns:a16="http://schemas.microsoft.com/office/drawing/2014/main" id="{D79E59F7-1586-4985-BE52-3A800997D2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585" y="3173218"/>
            <a:ext cx="3686175" cy="2914650"/>
          </a:xfrm>
          <a:prstGeom prst="rect">
            <a:avLst/>
          </a:prstGeom>
        </p:spPr>
      </p:pic>
      <p:pic>
        <p:nvPicPr>
          <p:cNvPr id="12" name="Imagen 11">
            <a:extLst>
              <a:ext uri="{FF2B5EF4-FFF2-40B4-BE49-F238E27FC236}">
                <a16:creationId xmlns:a16="http://schemas.microsoft.com/office/drawing/2014/main" id="{197D13DD-E263-469D-A56A-363864A3E8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8020" y="4133849"/>
            <a:ext cx="3777249" cy="1317961"/>
          </a:xfrm>
          <a:prstGeom prst="rect">
            <a:avLst/>
          </a:prstGeom>
        </p:spPr>
      </p:pic>
    </p:spTree>
    <p:extLst>
      <p:ext uri="{BB962C8B-B14F-4D97-AF65-F5344CB8AC3E}">
        <p14:creationId xmlns:p14="http://schemas.microsoft.com/office/powerpoint/2010/main" val="3677701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10. DELETE: Ingresé el ID 2 para dar de baja a ese curso, primero consulté todos los cursos que existen, después </a:t>
            </a:r>
            <a:r>
              <a:rPr lang="es-ES" sz="2000" i="0" dirty="0" err="1">
                <a:effectLst/>
                <a:latin typeface="Arial" panose="020B0604020202020204" pitchFamily="34" charset="0"/>
                <a:cs typeface="Arial" panose="020B0604020202020204" pitchFamily="34" charset="0"/>
              </a:rPr>
              <a:t>dí</a:t>
            </a:r>
            <a:r>
              <a:rPr lang="es-ES" sz="2000" i="0" dirty="0">
                <a:effectLst/>
                <a:latin typeface="Arial" panose="020B0604020202020204" pitchFamily="34" charset="0"/>
                <a:cs typeface="Arial" panose="020B0604020202020204" pitchFamily="34" charset="0"/>
              </a:rPr>
              <a:t> de baja al curso con el ID 2, posteriormente consulté por id el curso y me salió que No existe ningún curso con ese ID registrado, lo cual confirma que la eliminación fue un éxito.</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Course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05742DFD-701F-4482-9CF7-400C2EAEC1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7575" y="3901513"/>
            <a:ext cx="3495675" cy="2371725"/>
          </a:xfrm>
          <a:prstGeom prst="rect">
            <a:avLst/>
          </a:prstGeom>
        </p:spPr>
      </p:pic>
      <p:pic>
        <p:nvPicPr>
          <p:cNvPr id="10" name="Imagen 9">
            <a:extLst>
              <a:ext uri="{FF2B5EF4-FFF2-40B4-BE49-F238E27FC236}">
                <a16:creationId xmlns:a16="http://schemas.microsoft.com/office/drawing/2014/main" id="{B6E24BA3-AE8A-43DB-9792-B4725BE404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0493" y="2039164"/>
            <a:ext cx="8262632" cy="1593807"/>
          </a:xfrm>
          <a:prstGeom prst="rect">
            <a:avLst/>
          </a:prstGeom>
        </p:spPr>
      </p:pic>
      <p:pic>
        <p:nvPicPr>
          <p:cNvPr id="12" name="Imagen 11">
            <a:extLst>
              <a:ext uri="{FF2B5EF4-FFF2-40B4-BE49-F238E27FC236}">
                <a16:creationId xmlns:a16="http://schemas.microsoft.com/office/drawing/2014/main" id="{3364CC9B-5FCD-48CA-9F12-40F857BD13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3937" y="3789488"/>
            <a:ext cx="5067300" cy="2457450"/>
          </a:xfrm>
          <a:prstGeom prst="rect">
            <a:avLst/>
          </a:prstGeom>
        </p:spPr>
      </p:pic>
    </p:spTree>
    <p:extLst>
      <p:ext uri="{BB962C8B-B14F-4D97-AF65-F5344CB8AC3E}">
        <p14:creationId xmlns:p14="http://schemas.microsoft.com/office/powerpoint/2010/main" val="368358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1.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Registré el primer alumno y le asigné el curso 1 </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1" name="Imagen 10">
            <a:extLst>
              <a:ext uri="{FF2B5EF4-FFF2-40B4-BE49-F238E27FC236}">
                <a16:creationId xmlns:a16="http://schemas.microsoft.com/office/drawing/2014/main" id="{0DEDE366-B129-4B8B-9841-E6251A342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5175" y="1770622"/>
            <a:ext cx="4533900" cy="3600450"/>
          </a:xfrm>
          <a:prstGeom prst="rect">
            <a:avLst/>
          </a:prstGeom>
        </p:spPr>
      </p:pic>
    </p:spTree>
    <p:extLst>
      <p:ext uri="{BB962C8B-B14F-4D97-AF65-F5344CB8AC3E}">
        <p14:creationId xmlns:p14="http://schemas.microsoft.com/office/powerpoint/2010/main" val="3374061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2.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Para el segund</a:t>
            </a:r>
            <a:r>
              <a:rPr lang="es-ES" sz="2000" dirty="0">
                <a:latin typeface="Arial" panose="020B0604020202020204" pitchFamily="34" charset="0"/>
                <a:cs typeface="Arial" panose="020B0604020202020204" pitchFamily="34" charset="0"/>
              </a:rPr>
              <a:t>o alumno le asigné el curso 3</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F7FDAE12-E642-4306-BB5F-BAD7019834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5595" y="1984711"/>
            <a:ext cx="4533900" cy="3600450"/>
          </a:xfrm>
          <a:prstGeom prst="rect">
            <a:avLst/>
          </a:prstGeom>
        </p:spPr>
      </p:pic>
    </p:spTree>
    <p:extLst>
      <p:ext uri="{BB962C8B-B14F-4D97-AF65-F5344CB8AC3E}">
        <p14:creationId xmlns:p14="http://schemas.microsoft.com/office/powerpoint/2010/main" val="3438666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3.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Asigné el curso 4 al tercer alumno</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3CACF947-7223-44A4-99C9-C9CC2E19F9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5585" y="1885950"/>
            <a:ext cx="4533900" cy="3600450"/>
          </a:xfrm>
          <a:prstGeom prst="rect">
            <a:avLst/>
          </a:prstGeom>
        </p:spPr>
      </p:pic>
    </p:spTree>
    <p:extLst>
      <p:ext uri="{BB962C8B-B14F-4D97-AF65-F5344CB8AC3E}">
        <p14:creationId xmlns:p14="http://schemas.microsoft.com/office/powerpoint/2010/main" val="1361738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4.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Para el cuarto alumno registrado le asigné el curso 5</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EC559608-B6E5-4FEF-AED0-0AACE2395D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5585" y="2105892"/>
            <a:ext cx="4533900" cy="3600450"/>
          </a:xfrm>
          <a:prstGeom prst="rect">
            <a:avLst/>
          </a:prstGeom>
        </p:spPr>
      </p:pic>
    </p:spTree>
    <p:extLst>
      <p:ext uri="{BB962C8B-B14F-4D97-AF65-F5344CB8AC3E}">
        <p14:creationId xmlns:p14="http://schemas.microsoft.com/office/powerpoint/2010/main" val="3486165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5. </a:t>
            </a:r>
            <a:r>
              <a:rPr lang="es-ES" sz="2000" dirty="0">
                <a:latin typeface="Arial" panose="020B0604020202020204" pitchFamily="34" charset="0"/>
                <a:cs typeface="Arial" panose="020B0604020202020204" pitchFamily="34" charset="0"/>
              </a:rPr>
              <a:t>POST: </a:t>
            </a:r>
            <a:r>
              <a:rPr lang="es-ES" sz="2000" i="0" dirty="0">
                <a:effectLst/>
                <a:latin typeface="Arial" panose="020B0604020202020204" pitchFamily="34" charset="0"/>
                <a:cs typeface="Arial" panose="020B0604020202020204" pitchFamily="34" charset="0"/>
              </a:rPr>
              <a:t>Para el quinto alumno, le asigné el curso 1</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9FFFA3FA-6DBC-4C8D-BB7A-05BEE7F355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3300" y="2003761"/>
            <a:ext cx="4533900" cy="3600450"/>
          </a:xfrm>
          <a:prstGeom prst="rect">
            <a:avLst/>
          </a:prstGeom>
        </p:spPr>
      </p:pic>
    </p:spTree>
    <p:extLst>
      <p:ext uri="{BB962C8B-B14F-4D97-AF65-F5344CB8AC3E}">
        <p14:creationId xmlns:p14="http://schemas.microsoft.com/office/powerpoint/2010/main" val="337090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707886"/>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6. </a:t>
            </a:r>
            <a:r>
              <a:rPr lang="es-ES" sz="2000" dirty="0" err="1">
                <a:latin typeface="Arial" panose="020B0604020202020204" pitchFamily="34" charset="0"/>
                <a:cs typeface="Arial" panose="020B0604020202020204" pitchFamily="34" charset="0"/>
              </a:rPr>
              <a:t>Get</a:t>
            </a:r>
            <a:r>
              <a:rPr lang="es-ES" sz="2000" dirty="0">
                <a:latin typeface="Arial" panose="020B0604020202020204" pitchFamily="34" charset="0"/>
                <a:cs typeface="Arial" panose="020B0604020202020204" pitchFamily="34" charset="0"/>
              </a:rPr>
              <a:t> </a:t>
            </a:r>
            <a:r>
              <a:rPr lang="es-ES" sz="2000" dirty="0" err="1">
                <a:latin typeface="Arial" panose="020B0604020202020204" pitchFamily="34" charset="0"/>
                <a:cs typeface="Arial" panose="020B0604020202020204" pitchFamily="34" charset="0"/>
              </a:rPr>
              <a:t>All</a:t>
            </a:r>
            <a:r>
              <a:rPr lang="es-ES" sz="2000" dirty="0">
                <a:latin typeface="Arial" panose="020B0604020202020204" pitchFamily="34" charset="0"/>
                <a:cs typeface="Arial" panose="020B0604020202020204" pitchFamily="34" charset="0"/>
              </a:rPr>
              <a:t>: Hice la petición para ver a todos los alumnos que registré</a:t>
            </a: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4A8D44EE-2A21-40FC-9CA7-1C262618B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8350" y="2147811"/>
            <a:ext cx="7086600" cy="3800475"/>
          </a:xfrm>
          <a:prstGeom prst="rect">
            <a:avLst/>
          </a:prstGeom>
        </p:spPr>
      </p:pic>
    </p:spTree>
    <p:extLst>
      <p:ext uri="{BB962C8B-B14F-4D97-AF65-F5344CB8AC3E}">
        <p14:creationId xmlns:p14="http://schemas.microsoft.com/office/powerpoint/2010/main" val="3223031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7. </a:t>
            </a:r>
            <a:r>
              <a:rPr lang="es-ES" sz="2000" i="0" dirty="0" err="1">
                <a:effectLst/>
                <a:latin typeface="Arial" panose="020B0604020202020204" pitchFamily="34" charset="0"/>
                <a:cs typeface="Arial" panose="020B0604020202020204" pitchFamily="34" charset="0"/>
              </a:rPr>
              <a:t>Get</a:t>
            </a:r>
            <a:r>
              <a:rPr lang="es-ES" sz="2000" i="0" dirty="0">
                <a:effectLst/>
                <a:latin typeface="Arial" panose="020B0604020202020204" pitchFamily="34" charset="0"/>
                <a:cs typeface="Arial" panose="020B0604020202020204" pitchFamily="34" charset="0"/>
              </a:rPr>
              <a:t> ID: Hice la petición del id 3 y me salieron los datos que le corresponden.</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2C4B1DA5-9772-452A-B60A-AB0CE959A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0960" y="2147811"/>
            <a:ext cx="3438525" cy="3629025"/>
          </a:xfrm>
          <a:prstGeom prst="rect">
            <a:avLst/>
          </a:prstGeom>
        </p:spPr>
      </p:pic>
    </p:spTree>
    <p:extLst>
      <p:ext uri="{BB962C8B-B14F-4D97-AF65-F5344CB8AC3E}">
        <p14:creationId xmlns:p14="http://schemas.microsoft.com/office/powerpoint/2010/main" val="3028913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8. UPDATE: Hice la modificación del alumno Diego Gómez con el id 5, le cambié el nombre, apellido y correo como se muestra en las imágenes:</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2440FB10-A199-469B-8F08-58340546EB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3387" y="2125226"/>
            <a:ext cx="3514725" cy="3505200"/>
          </a:xfrm>
          <a:prstGeom prst="rect">
            <a:avLst/>
          </a:prstGeom>
        </p:spPr>
      </p:pic>
      <p:pic>
        <p:nvPicPr>
          <p:cNvPr id="10" name="Imagen 9">
            <a:extLst>
              <a:ext uri="{FF2B5EF4-FFF2-40B4-BE49-F238E27FC236}">
                <a16:creationId xmlns:a16="http://schemas.microsoft.com/office/drawing/2014/main" id="{42DE86FE-FB06-44C5-A6BD-2E75B061C0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24" y="2489230"/>
            <a:ext cx="3476625" cy="3419475"/>
          </a:xfrm>
          <a:prstGeom prst="rect">
            <a:avLst/>
          </a:prstGeom>
        </p:spPr>
      </p:pic>
      <p:pic>
        <p:nvPicPr>
          <p:cNvPr id="12" name="Imagen 11">
            <a:extLst>
              <a:ext uri="{FF2B5EF4-FFF2-40B4-BE49-F238E27FC236}">
                <a16:creationId xmlns:a16="http://schemas.microsoft.com/office/drawing/2014/main" id="{78240CF0-83A4-4C10-9F6B-714343D1DB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649" y="3408392"/>
            <a:ext cx="3819525" cy="1984725"/>
          </a:xfrm>
          <a:prstGeom prst="rect">
            <a:avLst/>
          </a:prstGeom>
        </p:spPr>
      </p:pic>
    </p:spTree>
    <p:extLst>
      <p:ext uri="{BB962C8B-B14F-4D97-AF65-F5344CB8AC3E}">
        <p14:creationId xmlns:p14="http://schemas.microsoft.com/office/powerpoint/2010/main" val="3523493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9. DELETE: Voy a dar de baja al alumno co</a:t>
            </a:r>
            <a:r>
              <a:rPr lang="es-ES" sz="2000" dirty="0">
                <a:latin typeface="Arial" panose="020B0604020202020204" pitchFamily="34" charset="0"/>
                <a:cs typeface="Arial" panose="020B0604020202020204" pitchFamily="34" charset="0"/>
              </a:rPr>
              <a:t>n el id 5</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47C903A0-E5CF-42A6-99A7-8AF7CDF0D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050" y="3171941"/>
            <a:ext cx="3662362" cy="1828683"/>
          </a:xfrm>
          <a:prstGeom prst="rect">
            <a:avLst/>
          </a:prstGeom>
        </p:spPr>
      </p:pic>
      <p:pic>
        <p:nvPicPr>
          <p:cNvPr id="10" name="Imagen 9">
            <a:extLst>
              <a:ext uri="{FF2B5EF4-FFF2-40B4-BE49-F238E27FC236}">
                <a16:creationId xmlns:a16="http://schemas.microsoft.com/office/drawing/2014/main" id="{D2A975AA-D9E6-4A34-BA2F-2E00D917AF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0045" y="3293593"/>
            <a:ext cx="4117584" cy="1676284"/>
          </a:xfrm>
          <a:prstGeom prst="rect">
            <a:avLst/>
          </a:prstGeom>
        </p:spPr>
      </p:pic>
      <p:pic>
        <p:nvPicPr>
          <p:cNvPr id="12" name="Imagen 11">
            <a:extLst>
              <a:ext uri="{FF2B5EF4-FFF2-40B4-BE49-F238E27FC236}">
                <a16:creationId xmlns:a16="http://schemas.microsoft.com/office/drawing/2014/main" id="{44273563-3608-4C9D-BDF1-54A1BB2185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29012" y="3277628"/>
            <a:ext cx="4010025" cy="1809750"/>
          </a:xfrm>
          <a:prstGeom prst="rect">
            <a:avLst/>
          </a:prstGeom>
        </p:spPr>
      </p:pic>
      <p:sp>
        <p:nvSpPr>
          <p:cNvPr id="17" name="CuadroTexto 16">
            <a:extLst>
              <a:ext uri="{FF2B5EF4-FFF2-40B4-BE49-F238E27FC236}">
                <a16:creationId xmlns:a16="http://schemas.microsoft.com/office/drawing/2014/main" id="{5957BAF8-B4FE-4E67-A5B2-BB6B4DFCE625}"/>
              </a:ext>
            </a:extLst>
          </p:cNvPr>
          <p:cNvSpPr txBox="1"/>
          <p:nvPr/>
        </p:nvSpPr>
        <p:spPr>
          <a:xfrm>
            <a:off x="698695" y="2577355"/>
            <a:ext cx="130155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Antes</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1B8738-0C80-4D1E-BE73-D27B1DC6484E}"/>
              </a:ext>
            </a:extLst>
          </p:cNvPr>
          <p:cNvSpPr txBox="1"/>
          <p:nvPr/>
        </p:nvSpPr>
        <p:spPr>
          <a:xfrm>
            <a:off x="9233095" y="2664109"/>
            <a:ext cx="1301555" cy="1015663"/>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Después</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1160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10. POST y GET ALL: Registré un nuevo alumno y le asigné al curso 5, después hice una consulta general de todos los alumnos registrados.</a:t>
            </a:r>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Ejercicios CRUD - </a:t>
            </a:r>
            <a:r>
              <a:rPr lang="es-ES" sz="1600" b="1" dirty="0" err="1">
                <a:solidFill>
                  <a:schemeClr val="tx1"/>
                </a:solidFill>
                <a:latin typeface="Arial" panose="020B0604020202020204" pitchFamily="34" charset="0"/>
                <a:cs typeface="Arial" panose="020B0604020202020204" pitchFamily="34" charset="0"/>
              </a:rPr>
              <a:t>Student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0AB7D528-1362-40F5-B638-2F861F75DF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3508" y="3193145"/>
            <a:ext cx="5302795" cy="2411066"/>
          </a:xfrm>
          <a:prstGeom prst="rect">
            <a:avLst/>
          </a:prstGeom>
        </p:spPr>
      </p:pic>
      <p:pic>
        <p:nvPicPr>
          <p:cNvPr id="10" name="Imagen 9">
            <a:extLst>
              <a:ext uri="{FF2B5EF4-FFF2-40B4-BE49-F238E27FC236}">
                <a16:creationId xmlns:a16="http://schemas.microsoft.com/office/drawing/2014/main" id="{C2701329-E243-4E16-B1BD-BB1313A61D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562" y="2785548"/>
            <a:ext cx="5095875" cy="2809875"/>
          </a:xfrm>
          <a:prstGeom prst="rect">
            <a:avLst/>
          </a:prstGeom>
        </p:spPr>
      </p:pic>
    </p:spTree>
    <p:extLst>
      <p:ext uri="{BB962C8B-B14F-4D97-AF65-F5344CB8AC3E}">
        <p14:creationId xmlns:p14="http://schemas.microsoft.com/office/powerpoint/2010/main" val="1042640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459105" y="984148"/>
            <a:ext cx="11096625" cy="3477875"/>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La ejecución exitosa de los 20 ejercicios de prueba demostró de forma contundente que mi arquitectura de microservicios es completamente operativa y estable. Al interactuar con los formularios de Angular bajo el dominio </a:t>
            </a:r>
            <a:r>
              <a:rPr lang="es-ES" sz="2000" b="0" i="0" dirty="0" err="1">
                <a:effectLst/>
                <a:latin typeface="Arial" panose="020B0604020202020204" pitchFamily="34" charset="0"/>
                <a:cs typeface="Arial" panose="020B0604020202020204" pitchFamily="34" charset="0"/>
              </a:rPr>
              <a:t>vannisystem.local</a:t>
            </a:r>
            <a:r>
              <a:rPr lang="es-ES" sz="2000" b="0" i="0" dirty="0">
                <a:effectLst/>
                <a:latin typeface="Arial" panose="020B0604020202020204" pitchFamily="34" charset="0"/>
                <a:cs typeface="Arial" panose="020B0604020202020204" pitchFamily="34" charset="0"/>
              </a:rPr>
              <a:t>, comprobé que cada inserción, modificación y eliminación se transmitió al </a:t>
            </a:r>
            <a:r>
              <a:rPr lang="es-ES" sz="2000" b="0" i="0" dirty="0" err="1">
                <a:effectLst/>
                <a:latin typeface="Arial" panose="020B0604020202020204" pitchFamily="34" charset="0"/>
                <a:cs typeface="Arial" panose="020B0604020202020204" pitchFamily="34" charset="0"/>
              </a:rPr>
              <a:t>backend</a:t>
            </a:r>
            <a:r>
              <a:rPr lang="es-ES" sz="2000" b="0" i="0" dirty="0">
                <a:effectLst/>
                <a:latin typeface="Arial" panose="020B0604020202020204" pitchFamily="34" charset="0"/>
                <a:cs typeface="Arial" panose="020B0604020202020204" pitchFamily="34" charset="0"/>
              </a:rPr>
              <a:t> sin latencias ni pérdidas de información, confirmando que las tablas en las bases de datos relacionales responden perfectamente a los comandos de JPA e </a:t>
            </a:r>
            <a:r>
              <a:rPr lang="es-ES" sz="2000" b="0" i="0" dirty="0" err="1">
                <a:effectLst/>
                <a:latin typeface="Arial" panose="020B0604020202020204" pitchFamily="34" charset="0"/>
                <a:cs typeface="Arial" panose="020B0604020202020204" pitchFamily="34" charset="0"/>
              </a:rPr>
              <a:t>Hibernate</a:t>
            </a:r>
            <a:r>
              <a:rPr lang="es-ES" sz="2000" b="0" i="0" dirty="0">
                <a:effectLst/>
                <a:latin typeface="Arial" panose="020B0604020202020204" pitchFamily="34" charset="0"/>
                <a:cs typeface="Arial" panose="020B0604020202020204" pitchFamily="34" charset="0"/>
              </a:rPr>
              <a:t>.</a:t>
            </a:r>
          </a:p>
          <a:p>
            <a:pPr algn="just"/>
            <a:endParaRPr lang="es-ES" sz="2000" b="0" i="0" dirty="0">
              <a:effectLst/>
              <a:latin typeface="Arial" panose="020B0604020202020204" pitchFamily="34" charset="0"/>
              <a:cs typeface="Arial" panose="020B0604020202020204" pitchFamily="34" charset="0"/>
            </a:endParaRPr>
          </a:p>
          <a:p>
            <a:pPr algn="just"/>
            <a:r>
              <a:rPr lang="es-ES" sz="2000" b="0" i="0" dirty="0">
                <a:effectLst/>
                <a:latin typeface="Arial" panose="020B0604020202020204" pitchFamily="34" charset="0"/>
                <a:cs typeface="Arial" panose="020B0604020202020204" pitchFamily="34" charset="0"/>
              </a:rPr>
              <a:t>Llevar a cabo esta validación sobre el sistema operativo Ubuntu me permitió confirmar que la abstracción lograda con </a:t>
            </a:r>
            <a:r>
              <a:rPr lang="es-ES" sz="2000" b="0" i="0" dirty="0" err="1">
                <a:effectLst/>
                <a:latin typeface="Arial" panose="020B0604020202020204" pitchFamily="34" charset="0"/>
                <a:cs typeface="Arial" panose="020B0604020202020204" pitchFamily="34" charset="0"/>
              </a:rPr>
              <a:t>Nginx</a:t>
            </a:r>
            <a:r>
              <a:rPr lang="es-ES" sz="2000" b="0" i="0" dirty="0">
                <a:effectLst/>
                <a:latin typeface="Arial" panose="020B0604020202020204" pitchFamily="34" charset="0"/>
                <a:cs typeface="Arial" panose="020B0604020202020204" pitchFamily="34" charset="0"/>
              </a:rPr>
              <a:t> como proxy inverso cumple su objetivo a nivel profesional: el </a:t>
            </a:r>
            <a:r>
              <a:rPr lang="es-ES" sz="2000" b="0" i="0" dirty="0" err="1">
                <a:effectLst/>
                <a:latin typeface="Arial" panose="020B0604020202020204" pitchFamily="34" charset="0"/>
                <a:cs typeface="Arial" panose="020B0604020202020204" pitchFamily="34" charset="0"/>
              </a:rPr>
              <a:t>frontend</a:t>
            </a:r>
            <a:r>
              <a:rPr lang="es-ES" sz="2000" b="0" i="0" dirty="0">
                <a:effectLst/>
                <a:latin typeface="Arial" panose="020B0604020202020204" pitchFamily="34" charset="0"/>
                <a:cs typeface="Arial" panose="020B0604020202020204" pitchFamily="34" charset="0"/>
              </a:rPr>
              <a:t> y los microservicios se comportan como una sola aplicación unificada ante el navegador. </a:t>
            </a:r>
            <a:endParaRPr lang="es-ES" sz="2000" dirty="0">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b="1" dirty="0">
                <a:solidFill>
                  <a:schemeClr val="tx1"/>
                </a:solidFill>
                <a:latin typeface="Arial" panose="020B0604020202020204" pitchFamily="34" charset="0"/>
                <a:cs typeface="Arial" panose="020B0604020202020204" pitchFamily="34" charset="0"/>
              </a:rPr>
              <a:t>Conclusión</a:t>
            </a:r>
            <a:endParaRPr lang="es-MX" sz="2000"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1223674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81024" y="1088334"/>
            <a:ext cx="11096625" cy="5324535"/>
          </a:xfrm>
          <a:prstGeom prst="rect">
            <a:avLst/>
          </a:prstGeom>
          <a:noFill/>
        </p:spPr>
        <p:txBody>
          <a:bodyPr wrap="square">
            <a:spAutoFit/>
          </a:bodyPr>
          <a:lstStyle/>
          <a:p>
            <a:pPr algn="just"/>
            <a:r>
              <a:rPr lang="es-MX" sz="2000" b="0" i="0" dirty="0">
                <a:effectLst/>
                <a:latin typeface="Arial" panose="020B0604020202020204" pitchFamily="34" charset="0"/>
                <a:cs typeface="Arial" panose="020B0604020202020204" pitchFamily="34" charset="0"/>
              </a:rPr>
              <a:t>Un Programador Nace. (24 de junio de 2024). 🚀 Cómo </a:t>
            </a:r>
            <a:r>
              <a:rPr lang="es-MX" sz="2000" b="0" i="0" dirty="0" err="1">
                <a:effectLst/>
                <a:latin typeface="Arial" panose="020B0604020202020204" pitchFamily="34" charset="0"/>
                <a:cs typeface="Arial" panose="020B0604020202020204" pitchFamily="34" charset="0"/>
              </a:rPr>
              <a:t>dockerizar</a:t>
            </a:r>
            <a:r>
              <a:rPr lang="es-MX" sz="2000" b="0" i="0" dirty="0">
                <a:effectLst/>
                <a:latin typeface="Arial" panose="020B0604020202020204" pitchFamily="34" charset="0"/>
                <a:cs typeface="Arial" panose="020B0604020202020204" pitchFamily="34" charset="0"/>
              </a:rPr>
              <a:t> una aplicación con Spring </a:t>
            </a:r>
            <a:r>
              <a:rPr lang="es-MX" sz="2000" b="0" i="0" dirty="0" err="1">
                <a:effectLst/>
                <a:latin typeface="Arial" panose="020B0604020202020204" pitchFamily="34" charset="0"/>
                <a:cs typeface="Arial" panose="020B0604020202020204" pitchFamily="34" charset="0"/>
              </a:rPr>
              <a:t>Boot</a:t>
            </a:r>
            <a:r>
              <a:rPr lang="es-MX" sz="2000" b="0" i="0" dirty="0">
                <a:effectLst/>
                <a:latin typeface="Arial" panose="020B0604020202020204" pitchFamily="34" charset="0"/>
                <a:cs typeface="Arial" panose="020B0604020202020204" pitchFamily="34" charset="0"/>
              </a:rPr>
              <a:t> 🐳 [Video]. YouTube. </a:t>
            </a:r>
            <a:r>
              <a:rPr lang="es-MX" sz="2000" b="0" i="0" dirty="0">
                <a:effectLst/>
                <a:latin typeface="Arial" panose="020B0604020202020204" pitchFamily="34" charset="0"/>
                <a:cs typeface="Arial" panose="020B0604020202020204" pitchFamily="34" charset="0"/>
                <a:hlinkClick r:id="rId3"/>
              </a:rPr>
              <a:t>http://www.youtube.com/watch?v=WmDPTqlBAX0</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0" i="0" dirty="0">
                <a:effectLst/>
                <a:latin typeface="Arial" panose="020B0604020202020204" pitchFamily="34" charset="0"/>
                <a:cs typeface="Arial" panose="020B0604020202020204" pitchFamily="34" charset="0"/>
              </a:rPr>
              <a:t>Programación en español. (7 de mayo de 2023). </a:t>
            </a:r>
            <a:r>
              <a:rPr lang="es-MX" sz="2000" b="0" i="0" dirty="0" err="1">
                <a:effectLst/>
                <a:latin typeface="Arial" panose="020B0604020202020204" pitchFamily="34" charset="0"/>
                <a:cs typeface="Arial" panose="020B0604020202020204" pitchFamily="34" charset="0"/>
              </a:rPr>
              <a:t>Dockerizar</a:t>
            </a:r>
            <a:r>
              <a:rPr lang="es-MX" sz="2000" b="0" i="0" dirty="0">
                <a:effectLst/>
                <a:latin typeface="Arial" panose="020B0604020202020204" pitchFamily="34" charset="0"/>
                <a:cs typeface="Arial" panose="020B0604020202020204" pitchFamily="34" charset="0"/>
              </a:rPr>
              <a:t> API REST Java + Spring </a:t>
            </a:r>
            <a:r>
              <a:rPr lang="es-MX" sz="2000" b="0" i="0" dirty="0" err="1">
                <a:effectLst/>
                <a:latin typeface="Arial" panose="020B0604020202020204" pitchFamily="34" charset="0"/>
                <a:cs typeface="Arial" panose="020B0604020202020204" pitchFamily="34" charset="0"/>
              </a:rPr>
              <a:t>Boot</a:t>
            </a:r>
            <a:r>
              <a:rPr lang="es-MX" sz="2000" b="0" i="0" dirty="0">
                <a:effectLst/>
                <a:latin typeface="Arial" panose="020B0604020202020204" pitchFamily="34" charset="0"/>
                <a:cs typeface="Arial" panose="020B0604020202020204" pitchFamily="34" charset="0"/>
              </a:rPr>
              <a:t> con PostgreSQL y Docker </a:t>
            </a:r>
            <a:r>
              <a:rPr lang="es-MX" sz="2000" b="0" i="0" dirty="0" err="1">
                <a:effectLst/>
                <a:latin typeface="Arial" panose="020B0604020202020204" pitchFamily="34" charset="0"/>
                <a:cs typeface="Arial" panose="020B0604020202020204" pitchFamily="34" charset="0"/>
              </a:rPr>
              <a:t>Compose</a:t>
            </a:r>
            <a:r>
              <a:rPr lang="es-MX" sz="2000" b="0" i="0" dirty="0">
                <a:effectLst/>
                <a:latin typeface="Arial" panose="020B0604020202020204" pitchFamily="34" charset="0"/>
                <a:cs typeface="Arial" panose="020B0604020202020204" pitchFamily="34" charset="0"/>
              </a:rPr>
              <a:t> 2023 [Video]. YouTube. </a:t>
            </a:r>
            <a:r>
              <a:rPr lang="es-MX" sz="2000" b="0" i="0" dirty="0">
                <a:effectLst/>
                <a:latin typeface="Arial" panose="020B0604020202020204" pitchFamily="34" charset="0"/>
                <a:cs typeface="Arial" panose="020B0604020202020204" pitchFamily="34" charset="0"/>
                <a:hlinkClick r:id="rId4"/>
              </a:rPr>
              <a:t>http://www.youtube.com/watch?v=uqBZEL9m2V4</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0" i="0" dirty="0">
                <a:effectLst/>
                <a:latin typeface="Arial" panose="020B0604020202020204" pitchFamily="34" charset="0"/>
                <a:cs typeface="Arial" panose="020B0604020202020204" pitchFamily="34" charset="0"/>
              </a:rPr>
              <a:t>Programación en español. (25 de mayo de 2023). Desplegar en </a:t>
            </a:r>
            <a:r>
              <a:rPr lang="es-MX" sz="2000" b="0" i="0" dirty="0" err="1">
                <a:effectLst/>
                <a:latin typeface="Arial" panose="020B0604020202020204" pitchFamily="34" charset="0"/>
                <a:cs typeface="Arial" panose="020B0604020202020204" pitchFamily="34" charset="0"/>
              </a:rPr>
              <a:t>cloud</a:t>
            </a:r>
            <a:r>
              <a:rPr lang="es-MX" sz="2000" b="0" i="0" dirty="0">
                <a:effectLst/>
                <a:latin typeface="Arial" panose="020B0604020202020204" pitchFamily="34" charset="0"/>
                <a:cs typeface="Arial" panose="020B0604020202020204" pitchFamily="34" charset="0"/>
              </a:rPr>
              <a:t> con Docker </a:t>
            </a:r>
            <a:r>
              <a:rPr lang="es-MX" sz="2000" b="0" i="0" dirty="0" err="1">
                <a:effectLst/>
                <a:latin typeface="Arial" panose="020B0604020202020204" pitchFamily="34" charset="0"/>
                <a:cs typeface="Arial" panose="020B0604020202020204" pitchFamily="34" charset="0"/>
              </a:rPr>
              <a:t>compose</a:t>
            </a:r>
            <a:r>
              <a:rPr lang="es-MX" sz="2000" b="0" i="0" dirty="0">
                <a:effectLst/>
                <a:latin typeface="Arial" panose="020B0604020202020204" pitchFamily="34" charset="0"/>
                <a:cs typeface="Arial" panose="020B0604020202020204" pitchFamily="34" charset="0"/>
              </a:rPr>
              <a:t> + Spring + PostgreSQL + Angular en </a:t>
            </a:r>
            <a:r>
              <a:rPr lang="es-MX" sz="2000" b="0" i="0" dirty="0" err="1">
                <a:effectLst/>
                <a:latin typeface="Arial" panose="020B0604020202020204" pitchFamily="34" charset="0"/>
                <a:cs typeface="Arial" panose="020B0604020202020204" pitchFamily="34" charset="0"/>
              </a:rPr>
              <a:t>DonWeb</a:t>
            </a:r>
            <a:r>
              <a:rPr lang="es-MX" sz="2000" b="0" i="0" dirty="0">
                <a:effectLst/>
                <a:latin typeface="Arial" panose="020B0604020202020204" pitchFamily="34" charset="0"/>
                <a:cs typeface="Arial" panose="020B0604020202020204" pitchFamily="34" charset="0"/>
              </a:rPr>
              <a:t> [Video]. YouTube. </a:t>
            </a:r>
            <a:r>
              <a:rPr lang="es-MX" sz="2000" b="0" i="0" dirty="0">
                <a:effectLst/>
                <a:latin typeface="Arial" panose="020B0604020202020204" pitchFamily="34" charset="0"/>
                <a:cs typeface="Arial" panose="020B0604020202020204" pitchFamily="34" charset="0"/>
                <a:hlinkClick r:id="rId5"/>
              </a:rPr>
              <a:t>http://www.youtube.com/watch?v=V_UrmKM9NE8</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0" i="0" dirty="0" err="1">
                <a:effectLst/>
                <a:latin typeface="Arial" panose="020B0604020202020204" pitchFamily="34" charset="0"/>
                <a:cs typeface="Arial" panose="020B0604020202020204" pitchFamily="34" charset="0"/>
              </a:rPr>
              <a:t>OpenWebinars</a:t>
            </a:r>
            <a:r>
              <a:rPr lang="es-MX" sz="2000" b="0" i="0" dirty="0">
                <a:effectLst/>
                <a:latin typeface="Arial" panose="020B0604020202020204" pitchFamily="34" charset="0"/>
                <a:cs typeface="Arial" panose="020B0604020202020204" pitchFamily="34" charset="0"/>
              </a:rPr>
              <a:t>. (22 de octubre de 2021). Curso Crea tu servidor web con </a:t>
            </a:r>
            <a:r>
              <a:rPr lang="es-MX" sz="2000" b="0" i="0" dirty="0" err="1">
                <a:effectLst/>
                <a:latin typeface="Arial" panose="020B0604020202020204" pitchFamily="34" charset="0"/>
                <a:cs typeface="Arial" panose="020B0604020202020204" pitchFamily="34" charset="0"/>
              </a:rPr>
              <a:t>Nginx</a:t>
            </a:r>
            <a:r>
              <a:rPr lang="es-MX" sz="2000" b="0" i="0" dirty="0">
                <a:effectLst/>
                <a:latin typeface="Arial" panose="020B0604020202020204" pitchFamily="34" charset="0"/>
                <a:cs typeface="Arial" panose="020B0604020202020204" pitchFamily="34" charset="0"/>
              </a:rPr>
              <a:t> sobre Linux (Debian) [Video]. YouTube. </a:t>
            </a:r>
            <a:r>
              <a:rPr lang="es-MX" sz="2000" b="0" i="0" dirty="0">
                <a:effectLst/>
                <a:latin typeface="Arial" panose="020B0604020202020204" pitchFamily="34" charset="0"/>
                <a:cs typeface="Arial" panose="020B0604020202020204" pitchFamily="34" charset="0"/>
                <a:hlinkClick r:id="rId6"/>
              </a:rPr>
              <a:t>http://www.youtube.com/watch?v=KNVttU7k51o</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b="1" dirty="0">
                <a:solidFill>
                  <a:schemeClr val="tx1"/>
                </a:solidFill>
                <a:latin typeface="Arial" panose="020B0604020202020204" pitchFamily="34" charset="0"/>
                <a:cs typeface="Arial" panose="020B0604020202020204" pitchFamily="34" charset="0"/>
              </a:rPr>
              <a:t>Fuentes</a:t>
            </a:r>
            <a:endParaRPr lang="es-MX" sz="2000"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15960384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1287</Words>
  <Application>Microsoft Office PowerPoint</Application>
  <PresentationFormat>Panorámica</PresentationFormat>
  <Paragraphs>100</Paragraphs>
  <Slides>27</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27</vt:i4>
      </vt:variant>
    </vt:vector>
  </HeadingPairs>
  <TitlesOfParts>
    <vt:vector size="31"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VANNI GUTIÉRREZ PÉREZ</dc:creator>
  <cp:lastModifiedBy>VANNI GUTIÉRREZ PÉREZ</cp:lastModifiedBy>
  <cp:revision>4</cp:revision>
  <dcterms:created xsi:type="dcterms:W3CDTF">2026-06-12T04:39:40Z</dcterms:created>
  <dcterms:modified xsi:type="dcterms:W3CDTF">2026-06-12T05:10:56Z</dcterms:modified>
</cp:coreProperties>
</file>