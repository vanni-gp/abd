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0" r:id="rId5"/>
    <p:sldId id="26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7" r:id="rId19"/>
    <p:sldId id="326" r:id="rId20"/>
    <p:sldId id="328" r:id="rId21"/>
    <p:sldId id="330" r:id="rId22"/>
    <p:sldId id="329" r:id="rId23"/>
    <p:sldId id="331" r:id="rId24"/>
    <p:sldId id="332" r:id="rId25"/>
    <p:sldId id="334" r:id="rId26"/>
    <p:sldId id="335" r:id="rId27"/>
    <p:sldId id="336" r:id="rId28"/>
    <p:sldId id="276" r:id="rId29"/>
    <p:sldId id="313" r:id="rId3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69E00B-0794-4E17-86E1-6FF2A018D903}" type="datetimeFigureOut">
              <a:rPr lang="es-MX" smtClean="0"/>
              <a:t>11/06/2026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F7DEF5-4D21-4188-BC06-13683C6E7689}" type="slidenum">
              <a:rPr lang="es-MX" smtClean="0"/>
              <a:t>‹Nº›</a:t>
            </a:fld>
            <a:endParaRPr lang="es-MX"/>
          </a:p>
        </p:txBody>
      </p:sp>
    </p:spTree>
    <p:extLst>
      <p:ext uri="{BB962C8B-B14F-4D97-AF65-F5344CB8AC3E}">
        <p14:creationId xmlns:p14="http://schemas.microsoft.com/office/powerpoint/2010/main" val="1647893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97897C4-617F-4BF5-A5E4-E09C1A297CC1}" type="slidenum">
              <a:rPr lang="es-MX" smtClean="0"/>
              <a:t>2</a:t>
            </a:fld>
            <a:endParaRPr lang="es-MX"/>
          </a:p>
        </p:txBody>
      </p:sp>
    </p:spTree>
    <p:extLst>
      <p:ext uri="{BB962C8B-B14F-4D97-AF65-F5344CB8AC3E}">
        <p14:creationId xmlns:p14="http://schemas.microsoft.com/office/powerpoint/2010/main" val="1374752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3C4A5A-8F86-4CA8-B809-9F0E6F19D71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718FE85-9E84-41F3-8548-DC9765B64F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E4C1DCC-D91A-43C0-B6E5-C194F4DB3E30}"/>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5" name="Marcador de pie de página 4">
            <a:extLst>
              <a:ext uri="{FF2B5EF4-FFF2-40B4-BE49-F238E27FC236}">
                <a16:creationId xmlns:a16="http://schemas.microsoft.com/office/drawing/2014/main" id="{C44A5FC7-907E-489A-AD22-BA55F3CB580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93395FB-9477-42D8-AF2B-7B0072EDE010}"/>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609906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86423-99AB-4BF1-B093-93A296A752C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5152762-AE2C-494E-AEDE-2E7EE9DB01D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07B039F-7CDC-40F4-9420-3BD2489913DF}"/>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5" name="Marcador de pie de página 4">
            <a:extLst>
              <a:ext uri="{FF2B5EF4-FFF2-40B4-BE49-F238E27FC236}">
                <a16:creationId xmlns:a16="http://schemas.microsoft.com/office/drawing/2014/main" id="{199E139E-FC56-4C39-AF1E-7E07A11675C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3F4DEBC-AEAA-4C5D-9944-1445537A4952}"/>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2146749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58AF2-EBD4-4BA5-B0A6-8B58BFB54C9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726BFDE-9A77-4BA0-8FBD-47D71756E0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4E6F81D-B2AB-47DF-8AFA-169829C68436}"/>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5" name="Marcador de pie de página 4">
            <a:extLst>
              <a:ext uri="{FF2B5EF4-FFF2-40B4-BE49-F238E27FC236}">
                <a16:creationId xmlns:a16="http://schemas.microsoft.com/office/drawing/2014/main" id="{1BE39D71-89F4-4F87-89E1-78A0A16EE96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E43830-0368-4C47-8D56-C93E46BB5025}"/>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312866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66869-8091-48E0-9DD7-1D2E26BB251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5C879A0-4E05-4F6B-B1A1-0B45AAC3EC0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1FD85C6-2C1E-49EE-9328-42695B14DBF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0DCD003-ED2D-4BCF-903E-EDB4FAF249BD}"/>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6" name="Marcador de pie de página 5">
            <a:extLst>
              <a:ext uri="{FF2B5EF4-FFF2-40B4-BE49-F238E27FC236}">
                <a16:creationId xmlns:a16="http://schemas.microsoft.com/office/drawing/2014/main" id="{CDE5EE53-A6BE-4A21-BCF7-9CE8E67C891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5BA2DCD-F3AD-4BB3-BAED-FEE8D023FE04}"/>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81596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1677D0-435E-4FC1-8FE0-470EFA078D3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D37F144-F118-4692-BEB4-487EDA1D6D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794A9A-5AEE-4FAD-B5B8-8504FC3A07E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C947B68-4307-48AC-93D8-D218ED2657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C75431-3600-42A2-88DC-0994905F698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981BB764-1912-4E23-82D7-F98B306F870A}"/>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8" name="Marcador de pie de página 7">
            <a:extLst>
              <a:ext uri="{FF2B5EF4-FFF2-40B4-BE49-F238E27FC236}">
                <a16:creationId xmlns:a16="http://schemas.microsoft.com/office/drawing/2014/main" id="{BBBECF2C-5A36-438A-A482-98E7E238C21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4E537493-FA41-471A-9A81-B6EDD5A6854C}"/>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616568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E0643A-B48E-480D-9DE2-CACBB224C26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A8AA31E-9573-4022-8EF1-1B9BAC33ACF8}"/>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4" name="Marcador de pie de página 3">
            <a:extLst>
              <a:ext uri="{FF2B5EF4-FFF2-40B4-BE49-F238E27FC236}">
                <a16:creationId xmlns:a16="http://schemas.microsoft.com/office/drawing/2014/main" id="{4D52E006-E927-45A6-AA2A-BA0B53D87F9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351FDA95-EADA-412F-83D6-380C7B4F22C7}"/>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2335377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5B4800F-23BA-4EF0-8826-E457D05DF6EA}"/>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3" name="Marcador de pie de página 2">
            <a:extLst>
              <a:ext uri="{FF2B5EF4-FFF2-40B4-BE49-F238E27FC236}">
                <a16:creationId xmlns:a16="http://schemas.microsoft.com/office/drawing/2014/main" id="{EB9F9B0A-1BD8-4796-A4CF-51BC5054B03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4F21DCF-FEB6-4D0B-B0CA-9C4F77168CC3}"/>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1034665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A0405C-4704-4AB7-8B6A-FF7CEEB040E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64FE740-6C61-486C-B52B-AFB75461A8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3E60CFB-7BD3-4B3A-B683-F3A2CD4E3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99F5411-2208-4D9F-B04C-71E6EE200E74}"/>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6" name="Marcador de pie de página 5">
            <a:extLst>
              <a:ext uri="{FF2B5EF4-FFF2-40B4-BE49-F238E27FC236}">
                <a16:creationId xmlns:a16="http://schemas.microsoft.com/office/drawing/2014/main" id="{0618DEBD-4544-40EC-B4FF-6981784B712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557B208-EE04-4794-A240-1751EF7A98C6}"/>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3594818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9F66FC-CF9F-426C-AF8C-660B199713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597001B-C56F-43DB-AE72-2CFB7F0D32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B465DA6-AB42-473B-AB7E-549B64DC8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D3158F1-174E-4DC6-93AE-21E99A618929}"/>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6" name="Marcador de pie de página 5">
            <a:extLst>
              <a:ext uri="{FF2B5EF4-FFF2-40B4-BE49-F238E27FC236}">
                <a16:creationId xmlns:a16="http://schemas.microsoft.com/office/drawing/2014/main" id="{E6B4E517-B467-4D1F-8DC5-B3A228AB0F0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C9BAC9F-B6D0-4347-8D65-B46D9320623F}"/>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2313065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C9C705-598F-4502-A080-1204BB49D1A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F7CF54E-056E-4B80-9E45-CCB42725386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C48263A-13F6-4413-A9CF-59BF1D00F5B6}"/>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5" name="Marcador de pie de página 4">
            <a:extLst>
              <a:ext uri="{FF2B5EF4-FFF2-40B4-BE49-F238E27FC236}">
                <a16:creationId xmlns:a16="http://schemas.microsoft.com/office/drawing/2014/main" id="{A69BDF39-5648-40F7-9194-032BB653231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BA78EF8-B364-4A07-8669-071D3E6CB824}"/>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160036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64596C0-DCC7-45D7-91C0-2B0E416864C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5F9EBB3-E0F5-48C3-B535-B217A80398A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07D3BE2-BC95-44B3-9536-1100FABD909B}"/>
              </a:ext>
            </a:extLst>
          </p:cNvPr>
          <p:cNvSpPr>
            <a:spLocks noGrp="1"/>
          </p:cNvSpPr>
          <p:nvPr>
            <p:ph type="dt" sz="half" idx="10"/>
          </p:nvPr>
        </p:nvSpPr>
        <p:spPr/>
        <p:txBody>
          <a:bodyPr/>
          <a:lstStyle/>
          <a:p>
            <a:fld id="{7AB973BD-060E-4C4F-B301-36B620141E18}" type="datetimeFigureOut">
              <a:rPr lang="es-MX" smtClean="0"/>
              <a:t>11/06/2026</a:t>
            </a:fld>
            <a:endParaRPr lang="es-MX"/>
          </a:p>
        </p:txBody>
      </p:sp>
      <p:sp>
        <p:nvSpPr>
          <p:cNvPr id="5" name="Marcador de pie de página 4">
            <a:extLst>
              <a:ext uri="{FF2B5EF4-FFF2-40B4-BE49-F238E27FC236}">
                <a16:creationId xmlns:a16="http://schemas.microsoft.com/office/drawing/2014/main" id="{7C9ACB34-DFB3-4164-BC7E-72E2835A80F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C7713DF-A0DC-488A-8438-35D50B7FD4CE}"/>
              </a:ext>
            </a:extLst>
          </p:cNvPr>
          <p:cNvSpPr>
            <a:spLocks noGrp="1"/>
          </p:cNvSpPr>
          <p:nvPr>
            <p:ph type="sldNum" sz="quarter" idx="12"/>
          </p:nvPr>
        </p:nvSpPr>
        <p:spPr/>
        <p:txBody>
          <a:bodyPr/>
          <a:lstStyle/>
          <a:p>
            <a:fld id="{94E66670-E294-481D-8447-B5DCAD2F1F8B}" type="slidenum">
              <a:rPr lang="es-MX" smtClean="0"/>
              <a:t>‹Nº›</a:t>
            </a:fld>
            <a:endParaRPr lang="es-MX"/>
          </a:p>
        </p:txBody>
      </p:sp>
    </p:spTree>
    <p:extLst>
      <p:ext uri="{BB962C8B-B14F-4D97-AF65-F5344CB8AC3E}">
        <p14:creationId xmlns:p14="http://schemas.microsoft.com/office/powerpoint/2010/main" val="270420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2C310D8-7089-4CE5-9536-FDE1AEBB7D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4475AD3-B1FE-4DE5-9815-F02D1F319B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EAA090-7234-486A-A9EA-471BB0AA5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B973BD-060E-4C4F-B301-36B620141E18}" type="datetimeFigureOut">
              <a:rPr lang="es-MX" smtClean="0"/>
              <a:t>11/06/2026</a:t>
            </a:fld>
            <a:endParaRPr lang="es-MX"/>
          </a:p>
        </p:txBody>
      </p:sp>
      <p:sp>
        <p:nvSpPr>
          <p:cNvPr id="5" name="Marcador de pie de página 4">
            <a:extLst>
              <a:ext uri="{FF2B5EF4-FFF2-40B4-BE49-F238E27FC236}">
                <a16:creationId xmlns:a16="http://schemas.microsoft.com/office/drawing/2014/main" id="{18848B72-5C0C-4E76-9469-5A9F997C6A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E2B044F5-E11E-4E36-89CF-DE43134F4F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E66670-E294-481D-8447-B5DCAD2F1F8B}" type="slidenum">
              <a:rPr lang="es-MX" smtClean="0"/>
              <a:t>‹Nº›</a:t>
            </a:fld>
            <a:endParaRPr lang="es-MX"/>
          </a:p>
        </p:txBody>
      </p:sp>
    </p:spTree>
    <p:extLst>
      <p:ext uri="{BB962C8B-B14F-4D97-AF65-F5344CB8AC3E}">
        <p14:creationId xmlns:p14="http://schemas.microsoft.com/office/powerpoint/2010/main" val="3455366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m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www.youtube.com/watch?v=WmDPTqlBAX0"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www.youtube.com/watch?v=KNVttU7k51o" TargetMode="External"/><Relationship Id="rId5" Type="http://schemas.openxmlformats.org/officeDocument/2006/relationships/hyperlink" Target="http://www.youtube.com/watch?v=V_UrmKM9NE8" TargetMode="External"/><Relationship Id="rId4" Type="http://schemas.openxmlformats.org/officeDocument/2006/relationships/hyperlink" Target="http://www.youtube.com/watch?v=uqBZEL9m2V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944880" y="1249493"/>
            <a:ext cx="10668000" cy="5218673"/>
          </a:xfrm>
          <a:prstGeom prst="rect">
            <a:avLst/>
          </a:prstGeom>
          <a:noFill/>
        </p:spPr>
        <p:txBody>
          <a:bodyPr wrap="square">
            <a:spAutoFit/>
          </a:bodyPr>
          <a:lstStyle/>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Instituto Tecnológico de Frontera Comalapa</a:t>
            </a: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Modalidad Mixta</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Materia: </a:t>
            </a:r>
            <a:r>
              <a:rPr lang="es-MX" dirty="0">
                <a:latin typeface="Arial" panose="020B0604020202020204" pitchFamily="34" charset="0"/>
                <a:ea typeface="Calibri" panose="020F0502020204030204" pitchFamily="34" charset="0"/>
                <a:cs typeface="Times New Roman" panose="02020603050405020304" pitchFamily="18" charset="0"/>
              </a:rPr>
              <a:t>Administración de Base de Datos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Semestre:  </a:t>
            </a:r>
            <a:r>
              <a:rPr lang="es-MX" dirty="0">
                <a:effectLst/>
                <a:latin typeface="Arial" panose="020B0604020202020204" pitchFamily="34" charset="0"/>
                <a:ea typeface="Calibri" panose="020F0502020204030204" pitchFamily="34" charset="0"/>
                <a:cs typeface="Times New Roman" panose="02020603050405020304" pitchFamily="18" charset="0"/>
              </a:rPr>
              <a:t>Sexto semestre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Especialidad: </a:t>
            </a:r>
            <a:r>
              <a:rPr lang="es-MX"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Numero de control:</a:t>
            </a:r>
            <a:r>
              <a:rPr lang="es-MX" dirty="0">
                <a:effectLst/>
                <a:latin typeface="Arial" panose="020B0604020202020204" pitchFamily="34" charset="0"/>
                <a:ea typeface="Calibri" panose="020F0502020204030204" pitchFamily="34" charset="0"/>
                <a:cs typeface="Times New Roman" panose="02020603050405020304" pitchFamily="18" charset="0"/>
              </a:rPr>
              <a:t>231260008</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alumno:</a:t>
            </a:r>
            <a:r>
              <a:rPr lang="es-MX" dirty="0">
                <a:effectLst/>
                <a:latin typeface="Arial" panose="020B0604020202020204" pitchFamily="34" charset="0"/>
                <a:ea typeface="Calibri" panose="020F0502020204030204" pitchFamily="34" charset="0"/>
                <a:cs typeface="Times New Roman" panose="02020603050405020304" pitchFamily="18" charset="0"/>
              </a:rPr>
              <a:t> Vanni Gutiérrez Pérez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docente:</a:t>
            </a:r>
            <a:r>
              <a:rPr lang="es-MX" dirty="0">
                <a:effectLst/>
                <a:latin typeface="Arial" panose="020B0604020202020204" pitchFamily="34" charset="0"/>
                <a:ea typeface="Calibri" panose="020F0502020204030204" pitchFamily="34" charset="0"/>
                <a:cs typeface="Times New Roman" panose="02020603050405020304" pitchFamily="18" charset="0"/>
              </a:rPr>
              <a:t> Francisco Javier Mingo Velázquez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Nombre del trabajo: </a:t>
            </a:r>
            <a:r>
              <a:rPr lang="es-MX" dirty="0">
                <a:effectLst/>
                <a:latin typeface="Arial" panose="020B0604020202020204" pitchFamily="34" charset="0"/>
                <a:ea typeface="Calibri" panose="020F0502020204030204" pitchFamily="34" charset="0"/>
                <a:cs typeface="Times New Roman" panose="02020603050405020304" pitchFamily="18" charset="0"/>
              </a:rPr>
              <a:t>Reporte de </a:t>
            </a:r>
            <a:r>
              <a:rPr lang="es-MX" dirty="0">
                <a:effectLst/>
                <a:latin typeface="Arial" panose="020B0604020202020204" pitchFamily="34" charset="0"/>
                <a:ea typeface="Calibri" panose="020F0502020204030204" pitchFamily="34" charset="0"/>
                <a:cs typeface="Arial" panose="020B0604020202020204" pitchFamily="34" charset="0"/>
              </a:rPr>
              <a:t>Practica:</a:t>
            </a:r>
            <a:r>
              <a:rPr lang="es-ES" dirty="0">
                <a:latin typeface="Arial" panose="020B0604020202020204" pitchFamily="34" charset="0"/>
                <a:ea typeface="Calibri" panose="020F050202020403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DESPLIEGUE DE MICROSERVICIOS CON SPRING BOOT, DOCKER Y NGINX EN LINUX (UBUNTU)</a:t>
            </a:r>
            <a:endParaRPr lang="es-ES" dirty="0">
              <a:latin typeface="Arial" panose="020B0604020202020204" pitchFamily="34" charset="0"/>
              <a:cs typeface="Arial" panose="020B0604020202020204" pitchFamily="34" charset="0"/>
            </a:endParaRPr>
          </a:p>
          <a:p>
            <a:pPr algn="ctr">
              <a:lnSpc>
                <a:spcPct val="106000"/>
              </a:lnSpc>
              <a:spcAft>
                <a:spcPts val="800"/>
              </a:spcAft>
            </a:pP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Fecha de entrega</a:t>
            </a:r>
            <a:r>
              <a:rPr lang="es-MX"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dirty="0">
                <a:effectLst/>
                <a:latin typeface="Arial" panose="020B0604020202020204" pitchFamily="34" charset="0"/>
                <a:ea typeface="Calibri" panose="020F0502020204030204" pitchFamily="34" charset="0"/>
                <a:cs typeface="Times New Roman" panose="02020603050405020304" pitchFamily="18" charset="0"/>
              </a:rPr>
              <a:t>Bella Vista, Chiapas a 13 de junio </a:t>
            </a:r>
            <a:r>
              <a:rPr lang="es-MX" dirty="0">
                <a:latin typeface="Arial" panose="020B0604020202020204" pitchFamily="34" charset="0"/>
                <a:ea typeface="Calibri" panose="020F0502020204030204" pitchFamily="34" charset="0"/>
                <a:cs typeface="Times New Roman" panose="02020603050405020304" pitchFamily="18" charset="0"/>
              </a:rPr>
              <a:t>del 2026</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2.png">
            <a:extLst>
              <a:ext uri="{FF2B5EF4-FFF2-40B4-BE49-F238E27FC236}">
                <a16:creationId xmlns:a16="http://schemas.microsoft.com/office/drawing/2014/main" id="{C530A503-595F-4484-BDAD-B0E49C5BE2D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440940" y="509349"/>
            <a:ext cx="2528570" cy="566420"/>
          </a:xfrm>
          <a:prstGeom prst="rect">
            <a:avLst/>
          </a:prstGeom>
        </p:spPr>
      </p:pic>
      <p:pic>
        <p:nvPicPr>
          <p:cNvPr id="10" name="image3.png">
            <a:extLst>
              <a:ext uri="{FF2B5EF4-FFF2-40B4-BE49-F238E27FC236}">
                <a16:creationId xmlns:a16="http://schemas.microsoft.com/office/drawing/2014/main" id="{9257A986-D344-4C09-A410-5B24351FDFD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682615" y="261805"/>
            <a:ext cx="1755140" cy="859155"/>
          </a:xfrm>
          <a:prstGeom prst="rect">
            <a:avLst/>
          </a:prstGeom>
        </p:spPr>
      </p:pic>
      <p:pic>
        <p:nvPicPr>
          <p:cNvPr id="11" name="image4.jpeg">
            <a:extLst>
              <a:ext uri="{FF2B5EF4-FFF2-40B4-BE49-F238E27FC236}">
                <a16:creationId xmlns:a16="http://schemas.microsoft.com/office/drawing/2014/main" id="{09C089BE-883F-41F0-A2C0-16298D0B23F9}"/>
              </a:ext>
            </a:extLst>
          </p:cNvPr>
          <p:cNvPicPr/>
          <p:nvPr/>
        </p:nvPicPr>
        <p:blipFill>
          <a:blip r:embed="rId5"/>
          <a:stretch>
            <a:fillRect/>
          </a:stretch>
        </p:blipFill>
        <p:spPr>
          <a:xfrm>
            <a:off x="8278495" y="279623"/>
            <a:ext cx="1178560" cy="860425"/>
          </a:xfrm>
          <a:prstGeom prst="rect">
            <a:avLst/>
          </a:prstGeom>
        </p:spPr>
      </p:pic>
    </p:spTree>
    <p:extLst>
      <p:ext uri="{BB962C8B-B14F-4D97-AF65-F5344CB8AC3E}">
        <p14:creationId xmlns:p14="http://schemas.microsoft.com/office/powerpoint/2010/main" val="4210877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3"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3"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3"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3" cstate="print"/>
          <a:stretch>
            <a:fillRect/>
          </a:stretch>
        </p:blipFill>
        <p:spPr>
          <a:xfrm rot="5400000">
            <a:off x="5972174" y="914874"/>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2151001" y="592380"/>
            <a:ext cx="9360660" cy="4283160"/>
          </a:xfrm>
          <a:prstGeom prst="rect">
            <a:avLst/>
          </a:prstGeom>
          <a:noFill/>
        </p:spPr>
        <p:txBody>
          <a:bodyPr wrap="square">
            <a:spAutoFit/>
          </a:bodyPr>
          <a:lstStyle/>
          <a:p>
            <a:pPr>
              <a:lnSpc>
                <a:spcPct val="115000"/>
              </a:lnSpc>
            </a:pPr>
            <a:r>
              <a:rPr lang="es-MX" sz="1400" dirty="0">
                <a:effectLst/>
                <a:latin typeface="Arial" panose="020B0604020202020204" pitchFamily="34" charset="0"/>
                <a:ea typeface="Arial" panose="020B0604020202020204" pitchFamily="34" charset="0"/>
              </a:rPr>
              <a:t>Introducción ------------------------------------------------------------------------------------------ 3</a:t>
            </a: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MX" sz="1400" dirty="0">
                <a:effectLst/>
                <a:latin typeface="Arial" panose="020B0604020202020204" pitchFamily="34" charset="0"/>
                <a:ea typeface="Arial" panose="020B0604020202020204" pitchFamily="34" charset="0"/>
              </a:rPr>
              <a:t>Justificación ------------------------------------------------------------------------------------------ 4</a:t>
            </a:r>
          </a:p>
          <a:p>
            <a:pPr>
              <a:lnSpc>
                <a:spcPct val="115000"/>
              </a:lnSpc>
            </a:pPr>
            <a:endParaRPr lang="es-MX"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Preparación del Entorno y Clonación del Proyecto</a:t>
            </a:r>
            <a:r>
              <a:rPr lang="es-MX" sz="1400" dirty="0">
                <a:latin typeface="Arial" panose="020B0604020202020204" pitchFamily="34" charset="0"/>
                <a:cs typeface="Arial" panose="020B0604020202020204" pitchFamily="34" charset="0"/>
              </a:rPr>
              <a:t> </a:t>
            </a:r>
            <a:r>
              <a:rPr lang="es-MX" sz="1400" dirty="0">
                <a:effectLst/>
                <a:latin typeface="Arial" panose="020B0604020202020204" pitchFamily="34" charset="0"/>
                <a:ea typeface="Arial" panose="020B0604020202020204" pitchFamily="34" charset="0"/>
              </a:rPr>
              <a:t>----------------------------------------- 5</a:t>
            </a:r>
          </a:p>
          <a:p>
            <a:pPr>
              <a:lnSpc>
                <a:spcPct val="115000"/>
              </a:lnSpc>
            </a:pPr>
            <a:endParaRPr lang="es-MX"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err="1">
                <a:solidFill>
                  <a:schemeClr val="tx1"/>
                </a:solidFill>
                <a:latin typeface="Arial" panose="020B0604020202020204" pitchFamily="34" charset="0"/>
                <a:cs typeface="Arial" panose="020B0604020202020204" pitchFamily="34" charset="0"/>
              </a:rPr>
              <a:t>Dockerización</a:t>
            </a:r>
            <a:r>
              <a:rPr lang="es-ES" sz="1400" dirty="0">
                <a:solidFill>
                  <a:schemeClr val="tx1"/>
                </a:solidFill>
                <a:latin typeface="Arial" panose="020B0604020202020204" pitchFamily="34" charset="0"/>
                <a:cs typeface="Arial" panose="020B0604020202020204" pitchFamily="34" charset="0"/>
              </a:rPr>
              <a:t> de Microservicios, Angular y Bases de Datos </a:t>
            </a:r>
            <a:r>
              <a:rPr lang="es-MX" sz="1400" dirty="0">
                <a:solidFill>
                  <a:schemeClr val="tx1"/>
                </a:solidFill>
                <a:latin typeface="Arial" panose="020B0604020202020204" pitchFamily="34" charset="0"/>
                <a:cs typeface="Arial" panose="020B0604020202020204" pitchFamily="34" charset="0"/>
              </a:rPr>
              <a:t>----</a:t>
            </a:r>
            <a:r>
              <a:rPr lang="es-ES" sz="1400" dirty="0">
                <a:latin typeface="Arial" panose="020B0604020202020204" pitchFamily="34" charset="0"/>
                <a:cs typeface="Arial" panose="020B0604020202020204" pitchFamily="34" charset="0"/>
              </a:rPr>
              <a:t>---------------------- </a:t>
            </a:r>
            <a:r>
              <a:rPr lang="es-MX" sz="1400" dirty="0">
                <a:latin typeface="Arial" panose="020B0604020202020204" pitchFamily="34" charset="0"/>
                <a:cs typeface="Arial" panose="020B0604020202020204" pitchFamily="34" charset="0"/>
              </a:rPr>
              <a:t>9</a:t>
            </a:r>
            <a:endParaRPr lang="es-MX" sz="1400" dirty="0">
              <a:effectLst/>
              <a:latin typeface="Arial" panose="020B0604020202020204" pitchFamily="34" charset="0"/>
              <a:ea typeface="Arial" panose="020B0604020202020204" pitchFamily="34" charset="0"/>
            </a:endParaRPr>
          </a:p>
          <a:p>
            <a:pPr>
              <a:lnSpc>
                <a:spcPct val="115000"/>
              </a:lnSpc>
            </a:pPr>
            <a:endParaRPr lang="es-ES" sz="1400" dirty="0">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Verificación en Eureka y Angular Front</a:t>
            </a:r>
            <a:r>
              <a:rPr lang="es-MX" sz="1400" dirty="0">
                <a:latin typeface="Arial" panose="020B0604020202020204" pitchFamily="34" charset="0"/>
                <a:cs typeface="Arial" panose="020B0604020202020204" pitchFamily="34" charset="0"/>
              </a:rPr>
              <a:t>  </a:t>
            </a:r>
            <a:r>
              <a:rPr lang="es-ES" sz="1400" dirty="0">
                <a:latin typeface="Arial" panose="020B0604020202020204" pitchFamily="34" charset="0"/>
                <a:cs typeface="Arial" panose="020B0604020202020204" pitchFamily="34" charset="0"/>
              </a:rPr>
              <a:t>------------------------------------------------------- 1</a:t>
            </a:r>
            <a:r>
              <a:rPr lang="es-MX" sz="1400" dirty="0">
                <a:latin typeface="Arial" panose="020B0604020202020204" pitchFamily="34" charset="0"/>
                <a:cs typeface="Arial" panose="020B0604020202020204" pitchFamily="34" charset="0"/>
              </a:rPr>
              <a:t>7</a:t>
            </a:r>
            <a:endParaRPr lang="es-MX" sz="1400" dirty="0">
              <a:effectLst/>
              <a:latin typeface="Arial" panose="020B0604020202020204" pitchFamily="34" charset="0"/>
              <a:ea typeface="Arial" panose="020B0604020202020204" pitchFamily="34" charset="0"/>
            </a:endParaRPr>
          </a:p>
          <a:p>
            <a:pPr>
              <a:lnSpc>
                <a:spcPct val="115000"/>
              </a:lnSpc>
            </a:pPr>
            <a:endParaRPr lang="es-ES" sz="1400" dirty="0">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Implementación de </a:t>
            </a:r>
            <a:r>
              <a:rPr lang="es-ES" sz="1400" dirty="0" err="1">
                <a:solidFill>
                  <a:schemeClr val="tx1"/>
                </a:solidFill>
                <a:latin typeface="Arial" panose="020B0604020202020204" pitchFamily="34" charset="0"/>
                <a:cs typeface="Arial" panose="020B0604020202020204" pitchFamily="34" charset="0"/>
              </a:rPr>
              <a:t>Nginx</a:t>
            </a:r>
            <a:r>
              <a:rPr lang="es-ES" sz="1400" dirty="0">
                <a:solidFill>
                  <a:schemeClr val="tx1"/>
                </a:solidFill>
                <a:latin typeface="Arial" panose="020B0604020202020204" pitchFamily="34" charset="0"/>
                <a:cs typeface="Arial" panose="020B0604020202020204" pitchFamily="34" charset="0"/>
              </a:rPr>
              <a:t> y Asignación del Dominio Local ---------------</a:t>
            </a:r>
            <a:r>
              <a:rPr lang="es-ES" sz="1400" dirty="0">
                <a:latin typeface="Arial" panose="020B0604020202020204" pitchFamily="34" charset="0"/>
                <a:cs typeface="Arial" panose="020B0604020202020204" pitchFamily="34" charset="0"/>
              </a:rPr>
              <a:t>-----------------1</a:t>
            </a:r>
            <a:r>
              <a:rPr lang="es-MX" sz="1400" dirty="0">
                <a:latin typeface="Arial" panose="020B0604020202020204" pitchFamily="34" charset="0"/>
                <a:cs typeface="Arial" panose="020B0604020202020204" pitchFamily="34" charset="0"/>
              </a:rPr>
              <a:t>9</a:t>
            </a: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Resultados y Correcciones</a:t>
            </a:r>
            <a:r>
              <a:rPr lang="es-MX" sz="1400" dirty="0">
                <a:latin typeface="Arial" panose="020B0604020202020204" pitchFamily="34" charset="0"/>
                <a:cs typeface="Arial" panose="020B0604020202020204" pitchFamily="34" charset="0"/>
              </a:rPr>
              <a:t> </a:t>
            </a:r>
            <a:r>
              <a:rPr lang="es-ES" sz="1400" dirty="0">
                <a:solidFill>
                  <a:schemeClr val="tx1"/>
                </a:solidFill>
                <a:latin typeface="Arial" panose="020B0604020202020204" pitchFamily="34" charset="0"/>
                <a:cs typeface="Arial" panose="020B0604020202020204" pitchFamily="34" charset="0"/>
              </a:rPr>
              <a:t>----------------------------------------------------------</a:t>
            </a:r>
            <a:r>
              <a:rPr lang="es-ES" sz="1400" dirty="0">
                <a:latin typeface="Arial" panose="020B0604020202020204" pitchFamily="34" charset="0"/>
                <a:cs typeface="Arial" panose="020B0604020202020204" pitchFamily="34" charset="0"/>
              </a:rPr>
              <a:t>-----------------24</a:t>
            </a:r>
            <a:endParaRPr lang="es-MX" sz="1400" dirty="0">
              <a:effectLst/>
              <a:latin typeface="Arial" panose="020B0604020202020204" pitchFamily="34" charset="0"/>
              <a:ea typeface="Arial" panose="020B0604020202020204" pitchFamily="34" charset="0"/>
            </a:endParaRP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MX" sz="1400" dirty="0">
                <a:effectLst/>
                <a:latin typeface="Arial" panose="020B0604020202020204" pitchFamily="34" charset="0"/>
                <a:ea typeface="Arial" panose="020B0604020202020204" pitchFamily="34" charset="0"/>
              </a:rPr>
              <a:t>Conclusión ------------------------------------------------------------------------------------------   </a:t>
            </a:r>
            <a:r>
              <a:rPr lang="es-MX" sz="1400" dirty="0">
                <a:latin typeface="Arial" panose="020B0604020202020204" pitchFamily="34" charset="0"/>
                <a:ea typeface="Arial" panose="020B0604020202020204" pitchFamily="34" charset="0"/>
              </a:rPr>
              <a:t>28</a:t>
            </a:r>
            <a:endParaRPr lang="es-MX" sz="1400" dirty="0">
              <a:effectLst/>
              <a:latin typeface="Arial" panose="020B0604020202020204" pitchFamily="34" charset="0"/>
              <a:ea typeface="Arial" panose="020B0604020202020204" pitchFamily="34" charset="0"/>
            </a:endParaRPr>
          </a:p>
          <a:p>
            <a:pPr>
              <a:lnSpc>
                <a:spcPct val="115000"/>
              </a:lnSpc>
            </a:pPr>
            <a:endParaRPr lang="es-MX" sz="1400" dirty="0">
              <a:latin typeface="Arial" panose="020B0604020202020204" pitchFamily="34" charset="0"/>
              <a:ea typeface="Arial" panose="020B0604020202020204" pitchFamily="34" charset="0"/>
            </a:endParaRPr>
          </a:p>
          <a:p>
            <a:pPr>
              <a:lnSpc>
                <a:spcPct val="115000"/>
              </a:lnSpc>
            </a:pPr>
            <a:r>
              <a:rPr lang="es-MX" sz="1400" dirty="0">
                <a:latin typeface="Arial" panose="020B0604020202020204" pitchFamily="34" charset="0"/>
                <a:ea typeface="Arial" panose="020B0604020202020204" pitchFamily="34" charset="0"/>
              </a:rPr>
              <a:t>Fuentes Consultadas ------</a:t>
            </a:r>
            <a:r>
              <a:rPr lang="es-MX" sz="1400" dirty="0">
                <a:effectLst/>
                <a:latin typeface="Arial" panose="020B0604020202020204" pitchFamily="34" charset="0"/>
                <a:ea typeface="Arial" panose="020B0604020202020204" pitchFamily="34" charset="0"/>
              </a:rPr>
              <a:t>-----------------------------------------------------------------------  </a:t>
            </a:r>
            <a:r>
              <a:rPr lang="es-MX" sz="1400" dirty="0">
                <a:latin typeface="Arial" panose="020B0604020202020204" pitchFamily="34" charset="0"/>
                <a:ea typeface="Arial" panose="020B0604020202020204" pitchFamily="34" charset="0"/>
              </a:rPr>
              <a:t>29</a:t>
            </a:r>
            <a:endParaRPr lang="es-MX" sz="1400" dirty="0">
              <a:effectLst/>
              <a:latin typeface="Arial" panose="020B0604020202020204" pitchFamily="34" charset="0"/>
              <a:ea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212672"/>
            <a:ext cx="1000125" cy="247651"/>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ÍNDICE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105703"/>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7" name="Imagen 16">
            <a:extLst>
              <a:ext uri="{FF2B5EF4-FFF2-40B4-BE49-F238E27FC236}">
                <a16:creationId xmlns:a16="http://schemas.microsoft.com/office/drawing/2014/main" id="{1F2CF5EC-2601-4FF9-96AE-945D03F8AA8C}"/>
              </a:ext>
            </a:extLst>
          </p:cNvPr>
          <p:cNvPicPr/>
          <p:nvPr/>
        </p:nvPicPr>
        <p:blipFill rotWithShape="1">
          <a:blip r:embed="rId4" cstate="print">
            <a:extLst>
              <a:ext uri="{28A0092B-C50C-407E-A947-70E740481C1C}">
                <a14:useLocalDpi xmlns:a14="http://schemas.microsoft.com/office/drawing/2010/main" val="0"/>
              </a:ext>
            </a:extLst>
          </a:blip>
          <a:srcRect b="29679"/>
          <a:stretch/>
        </p:blipFill>
        <p:spPr bwMode="auto">
          <a:xfrm rot="10800000">
            <a:off x="5001894" y="237761"/>
            <a:ext cx="341630" cy="2070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2381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1415669" y="1126599"/>
            <a:ext cx="9360660" cy="4708981"/>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En el desarrollo de software actual, trabajar con microservicios es la forma más común de estructurar aplicaciones grandes, ya que permite separar las funciones del sistema para que sean más fáciles de mantener y escalar. Esta práctica detalla el proceso completo para conectar y arrancar un sistema distribuido usando Spring Cloud. El proyecto cuenta con un servidor de configuración centralizado, un servidor de descubrimiento (Eureka Server), microservicios para la gestión de alumnos (</a:t>
            </a:r>
            <a:r>
              <a:rPr lang="es-ES" sz="2000" b="0" i="0" dirty="0" err="1">
                <a:effectLst/>
                <a:latin typeface="Arial" panose="020B0604020202020204" pitchFamily="34" charset="0"/>
                <a:cs typeface="Arial" panose="020B0604020202020204" pitchFamily="34" charset="0"/>
              </a:rPr>
              <a:t>student</a:t>
            </a:r>
            <a:r>
              <a:rPr lang="es-ES" sz="2000" b="0" i="0" dirty="0">
                <a:effectLst/>
                <a:latin typeface="Arial" panose="020B0604020202020204" pitchFamily="34" charset="0"/>
                <a:cs typeface="Arial" panose="020B0604020202020204" pitchFamily="34" charset="0"/>
              </a:rPr>
              <a:t>) y cursos (</a:t>
            </a:r>
            <a:r>
              <a:rPr lang="es-ES" sz="2000" b="0" i="0" dirty="0" err="1">
                <a:effectLst/>
                <a:latin typeface="Arial" panose="020B0604020202020204" pitchFamily="34" charset="0"/>
                <a:cs typeface="Arial" panose="020B0604020202020204" pitchFamily="34" charset="0"/>
              </a:rPr>
              <a:t>course</a:t>
            </a:r>
            <a:r>
              <a:rPr lang="es-ES" sz="2000" b="0" i="0" dirty="0">
                <a:effectLst/>
                <a:latin typeface="Arial" panose="020B0604020202020204" pitchFamily="34" charset="0"/>
                <a:cs typeface="Arial" panose="020B0604020202020204" pitchFamily="34" charset="0"/>
              </a:rPr>
              <a:t>), y sus respectivas bases de datos independientes (MySQL y PostgreSQL).</a:t>
            </a:r>
          </a:p>
          <a:p>
            <a:pPr algn="just"/>
            <a:endParaRPr lang="es-ES" sz="2000" b="0"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Para evitar problemas con los puertos y asegurar que el proyecto funcione en cualquier computadora sin importar el sistema operativo, empaquetamos cada parte dentro de contenedores usando Docker y Docker </a:t>
            </a:r>
            <a:r>
              <a:rPr lang="es-ES" sz="2000" b="0" i="0" dirty="0" err="1">
                <a:effectLst/>
                <a:latin typeface="Arial" panose="020B0604020202020204" pitchFamily="34" charset="0"/>
                <a:cs typeface="Arial" panose="020B0604020202020204" pitchFamily="34" charset="0"/>
              </a:rPr>
              <a:t>Compose</a:t>
            </a:r>
            <a:r>
              <a:rPr lang="es-ES" sz="2000" b="0" i="0" dirty="0">
                <a:effectLst/>
                <a:latin typeface="Arial" panose="020B0604020202020204" pitchFamily="34" charset="0"/>
                <a:cs typeface="Arial" panose="020B0604020202020204" pitchFamily="34" charset="0"/>
              </a:rPr>
              <a:t>. Por último, agregamos </a:t>
            </a:r>
            <a:r>
              <a:rPr lang="es-ES" sz="2000" b="0" i="0" dirty="0" err="1">
                <a:effectLst/>
                <a:latin typeface="Arial" panose="020B0604020202020204" pitchFamily="34" charset="0"/>
                <a:cs typeface="Arial" panose="020B0604020202020204" pitchFamily="34" charset="0"/>
              </a:rPr>
              <a:t>Nginx</a:t>
            </a:r>
            <a:r>
              <a:rPr lang="es-ES" sz="2000" b="0" i="0" dirty="0">
                <a:effectLst/>
                <a:latin typeface="Arial" panose="020B0604020202020204" pitchFamily="34" charset="0"/>
                <a:cs typeface="Arial" panose="020B0604020202020204" pitchFamily="34" charset="0"/>
              </a:rPr>
              <a:t> como un proxy inverso (un intermediario de red) para que sirva la aplicación de Angular y mande las peticiones hacia el </a:t>
            </a:r>
            <a:r>
              <a:rPr lang="es-ES" sz="2000" b="0" i="0"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usando un nombre de dominio propio en el puerto estándar de internet.</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467315"/>
            <a:ext cx="1943100" cy="25525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INTRODUCCIÓN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383496"/>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a:extLst>
              <a:ext uri="{FF2B5EF4-FFF2-40B4-BE49-F238E27FC236}">
                <a16:creationId xmlns:a16="http://schemas.microsoft.com/office/drawing/2014/main" id="{2C17DC6D-AD33-4EC2-A83F-22DC0FDFBF8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5870" y="445737"/>
            <a:ext cx="268605" cy="306070"/>
          </a:xfrm>
          <a:prstGeom prst="rect">
            <a:avLst/>
          </a:prstGeom>
          <a:noFill/>
        </p:spPr>
      </p:pic>
    </p:spTree>
    <p:extLst>
      <p:ext uri="{BB962C8B-B14F-4D97-AF65-F5344CB8AC3E}">
        <p14:creationId xmlns:p14="http://schemas.microsoft.com/office/powerpoint/2010/main" val="597710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695325" y="946532"/>
            <a:ext cx="11068050" cy="2862322"/>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Cuando se desarrollan microservicios de forma local, es muy común enfrentarse a problemas de red, errores porque un servicio arranca antes que otro, o bloqueos por políticas de seguridad del navegador. Al realizar este proyecto sobre Ubuntu, aprovechamos la compatibilidad nativa de Linux con Docker para gestionar los recursos de la computadora de manera eficiente.</a:t>
            </a:r>
          </a:p>
          <a:p>
            <a:pPr algn="just"/>
            <a:endParaRPr lang="es-ES" sz="2000" b="0"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La integración de </a:t>
            </a:r>
            <a:r>
              <a:rPr lang="es-ES" sz="2000" b="0" i="0" dirty="0" err="1">
                <a:effectLst/>
                <a:latin typeface="Arial" panose="020B0604020202020204" pitchFamily="34" charset="0"/>
                <a:cs typeface="Arial" panose="020B0604020202020204" pitchFamily="34" charset="0"/>
              </a:rPr>
              <a:t>Nginx</a:t>
            </a:r>
            <a:r>
              <a:rPr lang="es-ES" sz="2000" b="0" i="0" dirty="0">
                <a:effectLst/>
                <a:latin typeface="Arial" panose="020B0604020202020204" pitchFamily="34" charset="0"/>
                <a:cs typeface="Arial" panose="020B0604020202020204" pitchFamily="34" charset="0"/>
              </a:rPr>
              <a:t> está totalmente justificada porque resuelve los problemas de origen cruzado (CORS) que bloquean la comunicación entre Angular y Java. Además, nos permite unificar todo el sistema en el puerto 80, logrando que el usuario no tenga que escribir puertos raros en la URL de su navegador, sino que use un dominio local limpio y fácil de recordar.</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467315"/>
            <a:ext cx="1943100" cy="25525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JUSTIFICACIÓN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383496"/>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descr="izquierda justificación vector icono 40666057 Vector en Vecteezy">
            <a:extLst>
              <a:ext uri="{FF2B5EF4-FFF2-40B4-BE49-F238E27FC236}">
                <a16:creationId xmlns:a16="http://schemas.microsoft.com/office/drawing/2014/main" id="{F0F57F88-E129-4891-A963-DB2F9355C49A}"/>
              </a:ext>
            </a:extLst>
          </p:cNvPr>
          <p:cNvPicPr/>
          <p:nvPr/>
        </p:nvPicPr>
        <p:blipFill rotWithShape="1">
          <a:blip r:embed="rId3" cstate="print">
            <a:extLst>
              <a:ext uri="{BEBA8EAE-BF5A-486C-A8C5-ECC9F3942E4B}">
                <a14:imgProps xmlns:a14="http://schemas.microsoft.com/office/drawing/2010/main">
                  <a14:imgLayer r:embed="rId4">
                    <a14:imgEffect>
                      <a14:backgroundRemoval t="4698" b="42281" l="58880" r="95431">
                        <a14:foregroundMark x1="70074" y1="9481" x2="68963" y2="6889"/>
                        <a14:foregroundMark x1="88148" y1="8741" x2="86889" y2="8000"/>
                        <a14:foregroundMark x1="71481" y1="20148" x2="73185" y2="20148"/>
                        <a14:foregroundMark x1="72667" y1="25778" x2="75259" y2="25778"/>
                        <a14:foregroundMark x1="72074" y1="31259" x2="74519" y2="31259"/>
                        <a14:foregroundMark x1="70444" y1="36296" x2="71333" y2="36444"/>
                        <a14:foregroundMark x1="82963" y1="36815" x2="82963" y2="35704"/>
                      </a14:backgroundRemoval>
                    </a14:imgEffect>
                  </a14:imgLayer>
                </a14:imgProps>
              </a:ext>
              <a:ext uri="{28A0092B-C50C-407E-A947-70E740481C1C}">
                <a14:useLocalDpi xmlns:a14="http://schemas.microsoft.com/office/drawing/2010/main" val="0"/>
              </a:ext>
            </a:extLst>
          </a:blip>
          <a:srcRect l="55258" b="53021"/>
          <a:stretch/>
        </p:blipFill>
        <p:spPr bwMode="auto">
          <a:xfrm>
            <a:off x="4975541" y="419035"/>
            <a:ext cx="370205" cy="3886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5592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El primer paso consistió en preparar la carpeta de trabajo dentro de nuestro sistema operativo Ubuntu. En mi caso para hacerlo de forma más rápida, desde Windows copié y pegué la carpeta del proyecto (microservicios y angular) en un disco secundario.</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Preparación del Entorno y Clonación del Proyecto</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2" name="Imagen 11">
            <a:extLst>
              <a:ext uri="{FF2B5EF4-FFF2-40B4-BE49-F238E27FC236}">
                <a16:creationId xmlns:a16="http://schemas.microsoft.com/office/drawing/2014/main" id="{58B3A392-6AB8-44EF-AE8B-1C2971339CA9}"/>
              </a:ext>
            </a:extLst>
          </p:cNvPr>
          <p:cNvPicPr>
            <a:picLocks noChangeAspect="1"/>
          </p:cNvPicPr>
          <p:nvPr/>
        </p:nvPicPr>
        <p:blipFill>
          <a:blip r:embed="rId3"/>
          <a:stretch>
            <a:fillRect/>
          </a:stretch>
        </p:blipFill>
        <p:spPr>
          <a:xfrm>
            <a:off x="2413635" y="2400139"/>
            <a:ext cx="6487430" cy="2305372"/>
          </a:xfrm>
          <a:prstGeom prst="rect">
            <a:avLst/>
          </a:prstGeom>
        </p:spPr>
      </p:pic>
    </p:spTree>
    <p:extLst>
      <p:ext uri="{BB962C8B-B14F-4D97-AF65-F5344CB8AC3E}">
        <p14:creationId xmlns:p14="http://schemas.microsoft.com/office/powerpoint/2010/main" val="320186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2554545"/>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En Ubuntu solo entré y moví la carpeta al menú de inicio. Abrí el proyecto y entré hasta la carpeta donde están los microservicios (</a:t>
            </a:r>
            <a:r>
              <a:rPr lang="es-ES" sz="2000" dirty="0" err="1">
                <a:latin typeface="Arial" panose="020B0604020202020204" pitchFamily="34" charset="0"/>
                <a:cs typeface="Arial" panose="020B0604020202020204" pitchFamily="34" charset="0"/>
              </a:rPr>
              <a:t>SpringMicroservices</a:t>
            </a:r>
            <a:r>
              <a:rPr lang="es-ES" sz="2000" dirty="0">
                <a:latin typeface="Arial" panose="020B0604020202020204" pitchFamily="34" charset="0"/>
                <a:cs typeface="Arial" panose="020B0604020202020204" pitchFamily="34" charset="0"/>
              </a:rPr>
              <a:t>), abrí una terminal desde esa carpeta para poder trabajar.</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Preparación del Entorno y Clonación del Proyecto</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5CC2F6DF-552B-4146-8A14-0A9A0F6A6965}"/>
              </a:ext>
            </a:extLst>
          </p:cNvPr>
          <p:cNvPicPr>
            <a:picLocks noChangeAspect="1"/>
          </p:cNvPicPr>
          <p:nvPr/>
        </p:nvPicPr>
        <p:blipFill rotWithShape="1">
          <a:blip r:embed="rId3">
            <a:extLst>
              <a:ext uri="{28A0092B-C50C-407E-A947-70E740481C1C}">
                <a14:useLocalDpi xmlns:a14="http://schemas.microsoft.com/office/drawing/2010/main" val="0"/>
              </a:ext>
            </a:extLst>
          </a:blip>
          <a:srcRect t="50000"/>
          <a:stretch/>
        </p:blipFill>
        <p:spPr>
          <a:xfrm>
            <a:off x="1304925" y="2277930"/>
            <a:ext cx="9353550" cy="523875"/>
          </a:xfrm>
          <a:prstGeom prst="rect">
            <a:avLst/>
          </a:prstGeom>
        </p:spPr>
      </p:pic>
    </p:spTree>
    <p:extLst>
      <p:ext uri="{BB962C8B-B14F-4D97-AF65-F5344CB8AC3E}">
        <p14:creationId xmlns:p14="http://schemas.microsoft.com/office/powerpoint/2010/main" val="2152695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Antes de empezar, hice la instalación nativa de Docker desde otra terminal:</a:t>
            </a:r>
            <a:endParaRPr lang="es-ES" sz="2000" i="0" dirty="0">
              <a:effectLst/>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Preparación del Entorno y Clonación del Proyecto</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DDE8064C-A113-4202-9F03-AC4936DEB1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6475" y="1415268"/>
            <a:ext cx="6481762" cy="4687773"/>
          </a:xfrm>
          <a:prstGeom prst="rect">
            <a:avLst/>
          </a:prstGeom>
        </p:spPr>
      </p:pic>
    </p:spTree>
    <p:extLst>
      <p:ext uri="{BB962C8B-B14F-4D97-AF65-F5344CB8AC3E}">
        <p14:creationId xmlns:p14="http://schemas.microsoft.com/office/powerpoint/2010/main" val="1821736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Antes de empezar, hice la instalación nativa de Docker desde otra terminal:</a:t>
            </a:r>
            <a:endParaRPr lang="es-ES" sz="2000" i="0" dirty="0">
              <a:effectLst/>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Preparación del Entorno y Clonación del Proyecto</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DDE8064C-A113-4202-9F03-AC4936DEB1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925" y="1333704"/>
            <a:ext cx="6481762" cy="4687773"/>
          </a:xfrm>
          <a:prstGeom prst="rect">
            <a:avLst/>
          </a:prstGeom>
        </p:spPr>
      </p:pic>
      <p:pic>
        <p:nvPicPr>
          <p:cNvPr id="3" name="Imagen 2">
            <a:extLst>
              <a:ext uri="{FF2B5EF4-FFF2-40B4-BE49-F238E27FC236}">
                <a16:creationId xmlns:a16="http://schemas.microsoft.com/office/drawing/2014/main" id="{13DCEA2B-0F60-418D-9530-63235AB36E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7850" y="4367212"/>
            <a:ext cx="6172200" cy="962025"/>
          </a:xfrm>
          <a:prstGeom prst="rect">
            <a:avLst/>
          </a:prstGeom>
        </p:spPr>
      </p:pic>
    </p:spTree>
    <p:extLst>
      <p:ext uri="{BB962C8B-B14F-4D97-AF65-F5344CB8AC3E}">
        <p14:creationId xmlns:p14="http://schemas.microsoft.com/office/powerpoint/2010/main" val="3657260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Una ve</a:t>
            </a:r>
            <a:r>
              <a:rPr lang="es-ES" sz="2000" dirty="0">
                <a:latin typeface="Arial" panose="020B0604020202020204" pitchFamily="34" charset="0"/>
                <a:cs typeface="Arial" panose="020B0604020202020204" pitchFamily="34" charset="0"/>
              </a:rPr>
              <a:t>z que instaló Docker, empecé con la configuración para </a:t>
            </a:r>
            <a:r>
              <a:rPr lang="es-ES" sz="2000" dirty="0" err="1">
                <a:latin typeface="Arial" panose="020B0604020202020204" pitchFamily="34" charset="0"/>
                <a:cs typeface="Arial" panose="020B0604020202020204" pitchFamily="34" charset="0"/>
              </a:rPr>
              <a:t>dockerizar</a:t>
            </a:r>
            <a:r>
              <a:rPr lang="es-ES" sz="2000" dirty="0">
                <a:latin typeface="Arial" panose="020B0604020202020204" pitchFamily="34" charset="0"/>
                <a:cs typeface="Arial" panose="020B0604020202020204" pitchFamily="34" charset="0"/>
              </a:rPr>
              <a:t> el proyecto. Abrí el proyecto en </a:t>
            </a:r>
            <a:r>
              <a:rPr lang="es-ES" sz="2000" dirty="0" err="1">
                <a:latin typeface="Arial" panose="020B0604020202020204" pitchFamily="34" charset="0"/>
                <a:cs typeface="Arial" panose="020B0604020202020204" pitchFamily="34" charset="0"/>
              </a:rPr>
              <a:t>VSCode</a:t>
            </a:r>
            <a:r>
              <a:rPr lang="es-ES" sz="2000" dirty="0">
                <a:latin typeface="Arial" panose="020B0604020202020204" pitchFamily="34" charset="0"/>
                <a:cs typeface="Arial" panose="020B0604020202020204" pitchFamily="34" charset="0"/>
              </a:rPr>
              <a:t> y creé un archivo “</a:t>
            </a:r>
            <a:r>
              <a:rPr lang="es-ES" sz="2000" dirty="0" err="1">
                <a:latin typeface="Arial" panose="020B0604020202020204" pitchFamily="34" charset="0"/>
                <a:cs typeface="Arial" panose="020B0604020202020204" pitchFamily="34" charset="0"/>
              </a:rPr>
              <a:t>Dockerfile</a:t>
            </a:r>
            <a:r>
              <a:rPr lang="es-ES" sz="2000" dirty="0">
                <a:latin typeface="Arial" panose="020B0604020202020204" pitchFamily="34" charset="0"/>
                <a:cs typeface="Arial" panose="020B0604020202020204" pitchFamily="34" charset="0"/>
              </a:rPr>
              <a:t>” para cada microservicio, esto es necesario para que el Docker </a:t>
            </a:r>
            <a:r>
              <a:rPr lang="es-ES" sz="2000" dirty="0" err="1">
                <a:latin typeface="Arial" panose="020B0604020202020204" pitchFamily="34" charset="0"/>
                <a:cs typeface="Arial" panose="020B0604020202020204" pitchFamily="34" charset="0"/>
              </a:rPr>
              <a:t>Compose</a:t>
            </a:r>
            <a:r>
              <a:rPr lang="es-ES" sz="2000" dirty="0">
                <a:latin typeface="Arial" panose="020B0604020202020204" pitchFamily="34" charset="0"/>
                <a:cs typeface="Arial" panose="020B0604020202020204" pitchFamily="34" charset="0"/>
              </a:rPr>
              <a:t> funcione.</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2" name="Imagen 11">
            <a:extLst>
              <a:ext uri="{FF2B5EF4-FFF2-40B4-BE49-F238E27FC236}">
                <a16:creationId xmlns:a16="http://schemas.microsoft.com/office/drawing/2014/main" id="{00FBFB33-F677-41C0-997C-78755B83A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5475" y="2042950"/>
            <a:ext cx="7258050" cy="2428875"/>
          </a:xfrm>
          <a:prstGeom prst="rect">
            <a:avLst/>
          </a:prstGeom>
        </p:spPr>
      </p:pic>
    </p:spTree>
    <p:extLst>
      <p:ext uri="{BB962C8B-B14F-4D97-AF65-F5344CB8AC3E}">
        <p14:creationId xmlns:p14="http://schemas.microsoft.com/office/powerpoint/2010/main" val="3964605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708981"/>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En cada archivo </a:t>
            </a:r>
            <a:r>
              <a:rPr lang="es-ES" sz="2000" i="0" dirty="0" err="1">
                <a:effectLst/>
                <a:latin typeface="Arial" panose="020B0604020202020204" pitchFamily="34" charset="0"/>
                <a:cs typeface="Arial" panose="020B0604020202020204" pitchFamily="34" charset="0"/>
              </a:rPr>
              <a:t>Dockerfile</a:t>
            </a:r>
            <a:r>
              <a:rPr lang="es-ES" sz="2000" i="0" dirty="0">
                <a:effectLst/>
                <a:latin typeface="Arial" panose="020B0604020202020204" pitchFamily="34" charset="0"/>
                <a:cs typeface="Arial" panose="020B0604020202020204" pitchFamily="34" charset="0"/>
              </a:rPr>
              <a:t> puse lo siguiente:</a:t>
            </a: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Su objetivo principal es darle las instrucciones a Docker para empaquetar y aislar nuestro microservicio de Java en un contenedor que pueda correr en cualquier máquina.</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D0A06ABA-E779-4ED0-BB5F-1C28D7369809}"/>
              </a:ext>
            </a:extLst>
          </p:cNvPr>
          <p:cNvPicPr>
            <a:picLocks noChangeAspect="1"/>
          </p:cNvPicPr>
          <p:nvPr/>
        </p:nvPicPr>
        <p:blipFill>
          <a:blip r:embed="rId3"/>
          <a:stretch>
            <a:fillRect/>
          </a:stretch>
        </p:blipFill>
        <p:spPr>
          <a:xfrm>
            <a:off x="2855595" y="1484851"/>
            <a:ext cx="6306430" cy="1857634"/>
          </a:xfrm>
          <a:prstGeom prst="rect">
            <a:avLst/>
          </a:prstGeom>
        </p:spPr>
      </p:pic>
    </p:spTree>
    <p:extLst>
      <p:ext uri="{BB962C8B-B14F-4D97-AF65-F5344CB8AC3E}">
        <p14:creationId xmlns:p14="http://schemas.microsoft.com/office/powerpoint/2010/main" val="2312100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707886"/>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Ejecuté el siguiente comando</a:t>
            </a:r>
            <a:r>
              <a:rPr lang="es-ES" sz="2000" dirty="0">
                <a:latin typeface="Arial" panose="020B0604020202020204" pitchFamily="34" charset="0"/>
                <a:cs typeface="Arial" panose="020B0604020202020204" pitchFamily="34" charset="0"/>
              </a:rPr>
              <a:t> para compilar todo el proyecto desde la carpeta raíz para generar los nuevos archivos .</a:t>
            </a:r>
            <a:r>
              <a:rPr lang="es-ES" sz="2000" dirty="0" err="1">
                <a:latin typeface="Arial" panose="020B0604020202020204" pitchFamily="34" charset="0"/>
                <a:cs typeface="Arial" panose="020B0604020202020204" pitchFamily="34" charset="0"/>
              </a:rPr>
              <a:t>jar</a:t>
            </a:r>
            <a:r>
              <a:rPr lang="es-ES" sz="2000" dirty="0">
                <a:latin typeface="Arial" panose="020B0604020202020204" pitchFamily="34" charset="0"/>
                <a:cs typeface="Arial" panose="020B0604020202020204" pitchFamily="34" charset="0"/>
              </a:rPr>
              <a:t> actualizados:</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85913D8A-F411-49AE-858E-B4DD80159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041811"/>
            <a:ext cx="6603161" cy="1016928"/>
          </a:xfrm>
          <a:prstGeom prst="rect">
            <a:avLst/>
          </a:prstGeom>
        </p:spPr>
      </p:pic>
      <p:pic>
        <p:nvPicPr>
          <p:cNvPr id="11" name="Imagen 10">
            <a:extLst>
              <a:ext uri="{FF2B5EF4-FFF2-40B4-BE49-F238E27FC236}">
                <a16:creationId xmlns:a16="http://schemas.microsoft.com/office/drawing/2014/main" id="{8A9C151D-A7BF-46BF-B541-93BC1F9632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475" y="3709474"/>
            <a:ext cx="6858000" cy="2619375"/>
          </a:xfrm>
          <a:prstGeom prst="rect">
            <a:avLst/>
          </a:prstGeom>
        </p:spPr>
      </p:pic>
      <p:pic>
        <p:nvPicPr>
          <p:cNvPr id="13" name="Imagen 12">
            <a:extLst>
              <a:ext uri="{FF2B5EF4-FFF2-40B4-BE49-F238E27FC236}">
                <a16:creationId xmlns:a16="http://schemas.microsoft.com/office/drawing/2014/main" id="{9FE784A1-9038-4F9A-B702-9151D8808623}"/>
              </a:ext>
            </a:extLst>
          </p:cNvPr>
          <p:cNvPicPr>
            <a:picLocks noChangeAspect="1"/>
          </p:cNvPicPr>
          <p:nvPr/>
        </p:nvPicPr>
        <p:blipFill>
          <a:blip r:embed="rId5"/>
          <a:stretch>
            <a:fillRect/>
          </a:stretch>
        </p:blipFill>
        <p:spPr>
          <a:xfrm>
            <a:off x="7734300" y="3820176"/>
            <a:ext cx="4247675" cy="2327969"/>
          </a:xfrm>
          <a:prstGeom prst="rect">
            <a:avLst/>
          </a:prstGeom>
        </p:spPr>
      </p:pic>
    </p:spTree>
    <p:extLst>
      <p:ext uri="{BB962C8B-B14F-4D97-AF65-F5344CB8AC3E}">
        <p14:creationId xmlns:p14="http://schemas.microsoft.com/office/powerpoint/2010/main" val="69203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3170099"/>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Después en la carpeta raíz de los microservicios cree un nuevo archivo llamado Docker-</a:t>
            </a:r>
            <a:r>
              <a:rPr lang="es-ES" sz="2000" dirty="0" err="1">
                <a:latin typeface="Arial" panose="020B0604020202020204" pitchFamily="34" charset="0"/>
                <a:cs typeface="Arial" panose="020B0604020202020204" pitchFamily="34" charset="0"/>
              </a:rPr>
              <a:t>Compose.yml</a:t>
            </a:r>
            <a:r>
              <a:rPr lang="es-ES" sz="2000" dirty="0">
                <a:latin typeface="Arial" panose="020B0604020202020204" pitchFamily="34" charset="0"/>
                <a:cs typeface="Arial" panose="020B0604020202020204" pitchFamily="34" charset="0"/>
              </a:rPr>
              <a:t> </a:t>
            </a:r>
            <a:r>
              <a:rPr lang="es-ES" sz="2000" i="0" dirty="0">
                <a:effectLst/>
                <a:latin typeface="Arial" panose="020B0604020202020204" pitchFamily="34" charset="0"/>
                <a:cs typeface="Arial" panose="020B0604020202020204" pitchFamily="34" charset="0"/>
              </a:rPr>
              <a:t>para orquestar y levantar todo nuestro ecosistema de microservicios con un solo comando, evitando tener que encender cada contenedor de forma manual por separado. A través de su archivo de configuración </a:t>
            </a:r>
            <a:r>
              <a:rPr lang="es-ES" sz="2000" i="0" dirty="0" err="1">
                <a:effectLst/>
                <a:latin typeface="Arial" panose="020B0604020202020204" pitchFamily="34" charset="0"/>
                <a:cs typeface="Arial" panose="020B0604020202020204" pitchFamily="34" charset="0"/>
              </a:rPr>
              <a:t>docker-compose.yml</a:t>
            </a:r>
            <a:r>
              <a:rPr lang="es-ES" sz="2000" i="0" dirty="0">
                <a:effectLst/>
                <a:latin typeface="Arial" panose="020B0604020202020204" pitchFamily="34" charset="0"/>
                <a:cs typeface="Arial" panose="020B0604020202020204" pitchFamily="34" charset="0"/>
              </a:rPr>
              <a:t>, definimos en un solo lugar cómo se van a comunicar nuestras bases de datos (MySQL y </a:t>
            </a:r>
            <a:r>
              <a:rPr lang="es-ES" sz="2000" i="0" dirty="0" err="1">
                <a:effectLst/>
                <a:latin typeface="Arial" panose="020B0604020202020204" pitchFamily="34" charset="0"/>
                <a:cs typeface="Arial" panose="020B0604020202020204" pitchFamily="34" charset="0"/>
              </a:rPr>
              <a:t>Postgres</a:t>
            </a:r>
            <a:r>
              <a:rPr lang="es-ES" sz="2000" i="0" dirty="0">
                <a:effectLst/>
                <a:latin typeface="Arial" panose="020B0604020202020204" pitchFamily="34" charset="0"/>
                <a:cs typeface="Arial" panose="020B0604020202020204" pitchFamily="34" charset="0"/>
              </a:rPr>
              <a:t>), los servidores de Spring (</a:t>
            </a:r>
            <a:r>
              <a:rPr lang="es-ES" sz="2000" i="0" dirty="0" err="1">
                <a:effectLst/>
                <a:latin typeface="Arial" panose="020B0604020202020204" pitchFamily="34" charset="0"/>
                <a:cs typeface="Arial" panose="020B0604020202020204" pitchFamily="34" charset="0"/>
              </a:rPr>
              <a:t>Config</a:t>
            </a:r>
            <a:r>
              <a:rPr lang="es-ES" sz="2000" i="0" dirty="0">
                <a:effectLst/>
                <a:latin typeface="Arial" panose="020B0604020202020204" pitchFamily="34" charset="0"/>
                <a:cs typeface="Arial" panose="020B0604020202020204" pitchFamily="34" charset="0"/>
              </a:rPr>
              <a:t> y Eureka), el Gateway, el </a:t>
            </a:r>
            <a:r>
              <a:rPr lang="es-ES" sz="2000" i="0" dirty="0" err="1">
                <a:effectLst/>
                <a:latin typeface="Arial" panose="020B0604020202020204" pitchFamily="34" charset="0"/>
                <a:cs typeface="Arial" panose="020B0604020202020204" pitchFamily="34" charset="0"/>
              </a:rPr>
              <a:t>frontend</a:t>
            </a:r>
            <a:r>
              <a:rPr lang="es-ES" sz="2000" i="0" dirty="0">
                <a:effectLst/>
                <a:latin typeface="Arial" panose="020B0604020202020204" pitchFamily="34" charset="0"/>
                <a:cs typeface="Arial" panose="020B0604020202020204" pitchFamily="34" charset="0"/>
              </a:rPr>
              <a:t> de Angular y el proxy de </a:t>
            </a:r>
            <a:r>
              <a:rPr lang="es-ES" sz="2000" i="0" dirty="0" err="1">
                <a:effectLst/>
                <a:latin typeface="Arial" panose="020B0604020202020204" pitchFamily="34" charset="0"/>
                <a:cs typeface="Arial" panose="020B0604020202020204" pitchFamily="34" charset="0"/>
              </a:rPr>
              <a:t>Nginx</a:t>
            </a:r>
            <a:r>
              <a:rPr lang="es-ES" sz="2000" i="0" dirty="0">
                <a:effectLst/>
                <a:latin typeface="Arial" panose="020B0604020202020204" pitchFamily="34" charset="0"/>
                <a:cs typeface="Arial" panose="020B0604020202020204" pitchFamily="34" charset="0"/>
              </a:rPr>
              <a:t>, permitiendo además establecer el orden exacto en el que deben arrancar para que el sistema no truene por problemas de conexión.</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E37416EA-7A8F-4B7E-9189-01F2E8079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8350" y="3681412"/>
            <a:ext cx="7086600" cy="1781175"/>
          </a:xfrm>
          <a:prstGeom prst="rect">
            <a:avLst/>
          </a:prstGeom>
        </p:spPr>
      </p:pic>
    </p:spTree>
    <p:extLst>
      <p:ext uri="{BB962C8B-B14F-4D97-AF65-F5344CB8AC3E}">
        <p14:creationId xmlns:p14="http://schemas.microsoft.com/office/powerpoint/2010/main" val="41568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Dejamos el archivo configurado con las siguientes dependencias para asegurar un arranque ordenado:</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4C3B6E95-804C-41BA-9403-80B601F94AA8}"/>
              </a:ext>
            </a:extLst>
          </p:cNvPr>
          <p:cNvPicPr>
            <a:picLocks noChangeAspect="1"/>
          </p:cNvPicPr>
          <p:nvPr/>
        </p:nvPicPr>
        <p:blipFill>
          <a:blip r:embed="rId3"/>
          <a:stretch>
            <a:fillRect/>
          </a:stretch>
        </p:blipFill>
        <p:spPr>
          <a:xfrm>
            <a:off x="328157" y="1816525"/>
            <a:ext cx="2216427" cy="3720432"/>
          </a:xfrm>
          <a:prstGeom prst="rect">
            <a:avLst/>
          </a:prstGeom>
        </p:spPr>
      </p:pic>
      <p:pic>
        <p:nvPicPr>
          <p:cNvPr id="10" name="Imagen 9">
            <a:extLst>
              <a:ext uri="{FF2B5EF4-FFF2-40B4-BE49-F238E27FC236}">
                <a16:creationId xmlns:a16="http://schemas.microsoft.com/office/drawing/2014/main" id="{502F8CE3-F57B-4ADD-A832-F32987FDFE3B}"/>
              </a:ext>
            </a:extLst>
          </p:cNvPr>
          <p:cNvPicPr>
            <a:picLocks noChangeAspect="1"/>
          </p:cNvPicPr>
          <p:nvPr/>
        </p:nvPicPr>
        <p:blipFill>
          <a:blip r:embed="rId4"/>
          <a:stretch>
            <a:fillRect/>
          </a:stretch>
        </p:blipFill>
        <p:spPr>
          <a:xfrm>
            <a:off x="2285737" y="2403911"/>
            <a:ext cx="5153776" cy="3178922"/>
          </a:xfrm>
          <a:prstGeom prst="rect">
            <a:avLst/>
          </a:prstGeom>
        </p:spPr>
      </p:pic>
      <p:pic>
        <p:nvPicPr>
          <p:cNvPr id="12" name="Imagen 11">
            <a:extLst>
              <a:ext uri="{FF2B5EF4-FFF2-40B4-BE49-F238E27FC236}">
                <a16:creationId xmlns:a16="http://schemas.microsoft.com/office/drawing/2014/main" id="{AB2CA86B-F266-4C52-A8C6-B0EF617C7451}"/>
              </a:ext>
            </a:extLst>
          </p:cNvPr>
          <p:cNvPicPr>
            <a:picLocks noChangeAspect="1"/>
          </p:cNvPicPr>
          <p:nvPr/>
        </p:nvPicPr>
        <p:blipFill>
          <a:blip r:embed="rId5"/>
          <a:stretch>
            <a:fillRect/>
          </a:stretch>
        </p:blipFill>
        <p:spPr>
          <a:xfrm>
            <a:off x="7477238" y="2228641"/>
            <a:ext cx="2179195" cy="3529462"/>
          </a:xfrm>
          <a:prstGeom prst="rect">
            <a:avLst/>
          </a:prstGeom>
        </p:spPr>
      </p:pic>
      <p:pic>
        <p:nvPicPr>
          <p:cNvPr id="14" name="Imagen 13">
            <a:extLst>
              <a:ext uri="{FF2B5EF4-FFF2-40B4-BE49-F238E27FC236}">
                <a16:creationId xmlns:a16="http://schemas.microsoft.com/office/drawing/2014/main" id="{F508805D-1C5B-41AF-8284-4103BBE9993D}"/>
              </a:ext>
            </a:extLst>
          </p:cNvPr>
          <p:cNvPicPr>
            <a:picLocks noChangeAspect="1"/>
          </p:cNvPicPr>
          <p:nvPr/>
        </p:nvPicPr>
        <p:blipFill>
          <a:blip r:embed="rId6"/>
          <a:stretch>
            <a:fillRect/>
          </a:stretch>
        </p:blipFill>
        <p:spPr>
          <a:xfrm>
            <a:off x="9694158" y="2228641"/>
            <a:ext cx="2443316" cy="3672378"/>
          </a:xfrm>
          <a:prstGeom prst="rect">
            <a:avLst/>
          </a:prstGeom>
        </p:spPr>
      </p:pic>
    </p:spTree>
    <p:extLst>
      <p:ext uri="{BB962C8B-B14F-4D97-AF65-F5344CB8AC3E}">
        <p14:creationId xmlns:p14="http://schemas.microsoft.com/office/powerpoint/2010/main" val="968515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Después de que agregué la configuración a Docker </a:t>
            </a:r>
            <a:r>
              <a:rPr lang="es-ES" sz="2000" dirty="0" err="1">
                <a:latin typeface="Arial" panose="020B0604020202020204" pitchFamily="34" charset="0"/>
                <a:cs typeface="Arial" panose="020B0604020202020204" pitchFamily="34" charset="0"/>
              </a:rPr>
              <a:t>Compose</a:t>
            </a:r>
            <a:r>
              <a:rPr lang="es-ES" sz="2000" dirty="0">
                <a:latin typeface="Arial" panose="020B0604020202020204" pitchFamily="34" charset="0"/>
                <a:cs typeface="Arial" panose="020B0604020202020204" pitchFamily="34" charset="0"/>
              </a:rPr>
              <a:t>, ejecuté el siguiente comando para construir todo el ecosistema de microservicios, angular y las bases de datos. Lo primero que hace es descargar las imágenes de las bases de datos.</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0834EDE1-025B-4D9A-AEE4-CA9EE4F0D902}"/>
              </a:ext>
            </a:extLst>
          </p:cNvPr>
          <p:cNvPicPr>
            <a:picLocks noChangeAspect="1"/>
          </p:cNvPicPr>
          <p:nvPr/>
        </p:nvPicPr>
        <p:blipFill rotWithShape="1">
          <a:blip r:embed="rId3">
            <a:extLst>
              <a:ext uri="{28A0092B-C50C-407E-A947-70E740481C1C}">
                <a14:useLocalDpi xmlns:a14="http://schemas.microsoft.com/office/drawing/2010/main" val="0"/>
              </a:ext>
            </a:extLst>
          </a:blip>
          <a:srcRect t="22019"/>
          <a:stretch/>
        </p:blipFill>
        <p:spPr>
          <a:xfrm>
            <a:off x="610552" y="2195943"/>
            <a:ext cx="11382375" cy="1114154"/>
          </a:xfrm>
          <a:prstGeom prst="rect">
            <a:avLst/>
          </a:prstGeom>
        </p:spPr>
      </p:pic>
      <p:pic>
        <p:nvPicPr>
          <p:cNvPr id="11" name="Imagen 10">
            <a:extLst>
              <a:ext uri="{FF2B5EF4-FFF2-40B4-BE49-F238E27FC236}">
                <a16:creationId xmlns:a16="http://schemas.microsoft.com/office/drawing/2014/main" id="{8664F4FE-E4BD-4208-AF46-DFA7095620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8905" y="3456898"/>
            <a:ext cx="5957887" cy="2926681"/>
          </a:xfrm>
          <a:prstGeom prst="rect">
            <a:avLst/>
          </a:prstGeom>
        </p:spPr>
      </p:pic>
    </p:spTree>
    <p:extLst>
      <p:ext uri="{BB962C8B-B14F-4D97-AF65-F5344CB8AC3E}">
        <p14:creationId xmlns:p14="http://schemas.microsoft.com/office/powerpoint/2010/main" val="2109574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631216"/>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Una vez que se haya creado todo, procedí a levantar por primera vez el proyecto en Ubuntu con el comando Docker </a:t>
            </a:r>
            <a:r>
              <a:rPr lang="es-ES" sz="2000" i="0" dirty="0" err="1">
                <a:effectLst/>
                <a:latin typeface="Arial" panose="020B0604020202020204" pitchFamily="34" charset="0"/>
                <a:cs typeface="Arial" panose="020B0604020202020204" pitchFamily="34" charset="0"/>
              </a:rPr>
              <a:t>Compose</a:t>
            </a:r>
            <a:r>
              <a:rPr lang="es-ES" sz="2000" i="0" dirty="0">
                <a:effectLst/>
                <a:latin typeface="Arial" panose="020B0604020202020204" pitchFamily="34" charset="0"/>
                <a:cs typeface="Arial" panose="020B0604020202020204" pitchFamily="34" charset="0"/>
              </a:rPr>
              <a:t> Up </a:t>
            </a:r>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a:extLst>
              <a:ext uri="{FF2B5EF4-FFF2-40B4-BE49-F238E27FC236}">
                <a16:creationId xmlns:a16="http://schemas.microsoft.com/office/drawing/2014/main" id="{96A7EDBB-7373-4975-B4B1-41892D4B0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205" y="1855513"/>
            <a:ext cx="10572750" cy="4008543"/>
          </a:xfrm>
          <a:prstGeom prst="rect">
            <a:avLst/>
          </a:prstGeom>
        </p:spPr>
      </p:pic>
    </p:spTree>
    <p:extLst>
      <p:ext uri="{BB962C8B-B14F-4D97-AF65-F5344CB8AC3E}">
        <p14:creationId xmlns:p14="http://schemas.microsoft.com/office/powerpoint/2010/main" val="3374880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Después con el comando Docker </a:t>
            </a:r>
            <a:r>
              <a:rPr lang="es-ES" sz="2000" dirty="0" err="1">
                <a:latin typeface="Arial" panose="020B0604020202020204" pitchFamily="34" charset="0"/>
                <a:cs typeface="Arial" panose="020B0604020202020204" pitchFamily="34" charset="0"/>
              </a:rPr>
              <a:t>ps</a:t>
            </a:r>
            <a:r>
              <a:rPr lang="es-ES" sz="2000" dirty="0">
                <a:latin typeface="Arial" panose="020B0604020202020204" pitchFamily="34" charset="0"/>
                <a:cs typeface="Arial" panose="020B0604020202020204" pitchFamily="34" charset="0"/>
              </a:rPr>
              <a:t> verifiqué que todos los contenedores estuvieran corriendo</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err="1">
                <a:solidFill>
                  <a:schemeClr val="tx1"/>
                </a:solidFill>
                <a:latin typeface="Arial" panose="020B0604020202020204" pitchFamily="34" charset="0"/>
                <a:cs typeface="Arial" panose="020B0604020202020204" pitchFamily="34" charset="0"/>
              </a:rPr>
              <a:t>Dockerización</a:t>
            </a:r>
            <a:r>
              <a:rPr lang="es-ES" sz="1600" b="1" dirty="0">
                <a:solidFill>
                  <a:schemeClr val="tx1"/>
                </a:solidFill>
                <a:latin typeface="Arial" panose="020B0604020202020204" pitchFamily="34" charset="0"/>
                <a:cs typeface="Arial" panose="020B0604020202020204" pitchFamily="34" charset="0"/>
              </a:rPr>
              <a:t> de Microservicios, Angular y Bases de Datos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21B4C580-D36F-4776-85EF-0C738DAB5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0" y="1451393"/>
            <a:ext cx="10791825" cy="1400955"/>
          </a:xfrm>
          <a:prstGeom prst="rect">
            <a:avLst/>
          </a:prstGeom>
        </p:spPr>
      </p:pic>
    </p:spTree>
    <p:extLst>
      <p:ext uri="{BB962C8B-B14F-4D97-AF65-F5344CB8AC3E}">
        <p14:creationId xmlns:p14="http://schemas.microsoft.com/office/powerpoint/2010/main" val="4074329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Verificación en Eureka y Angular Front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
        <p:nvSpPr>
          <p:cNvPr id="9" name="CuadroTexto 8">
            <a:extLst>
              <a:ext uri="{FF2B5EF4-FFF2-40B4-BE49-F238E27FC236}">
                <a16:creationId xmlns:a16="http://schemas.microsoft.com/office/drawing/2014/main" id="{55D87802-5F28-4D1C-BCE6-2F2B1526DCE5}"/>
              </a:ext>
            </a:extLst>
          </p:cNvPr>
          <p:cNvSpPr txBox="1"/>
          <p:nvPr/>
        </p:nvSpPr>
        <p:spPr>
          <a:xfrm>
            <a:off x="542925" y="754959"/>
            <a:ext cx="11096625" cy="1938992"/>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Una vez que comprobé que todo estaba bien, fui al navegador y accedí al “localhost:8761” para revisar que todo estuviera bien, y verifiqué que los microservicios de </a:t>
            </a:r>
            <a:r>
              <a:rPr lang="es-ES" sz="2000" dirty="0" err="1">
                <a:latin typeface="Arial" panose="020B0604020202020204" pitchFamily="34" charset="0"/>
                <a:cs typeface="Arial" panose="020B0604020202020204" pitchFamily="34" charset="0"/>
              </a:rPr>
              <a:t>course</a:t>
            </a:r>
            <a:r>
              <a:rPr lang="es-ES" sz="2000" dirty="0">
                <a:latin typeface="Arial" panose="020B0604020202020204" pitchFamily="34" charset="0"/>
                <a:cs typeface="Arial" panose="020B0604020202020204" pitchFamily="34" charset="0"/>
              </a:rPr>
              <a:t>, </a:t>
            </a:r>
            <a:r>
              <a:rPr lang="es-ES" sz="2000" dirty="0" err="1">
                <a:latin typeface="Arial" panose="020B0604020202020204" pitchFamily="34" charset="0"/>
                <a:cs typeface="Arial" panose="020B0604020202020204" pitchFamily="34" charset="0"/>
              </a:rPr>
              <a:t>student</a:t>
            </a:r>
            <a:r>
              <a:rPr lang="es-ES" sz="2000" dirty="0">
                <a:latin typeface="Arial" panose="020B0604020202020204" pitchFamily="34" charset="0"/>
                <a:cs typeface="Arial" panose="020B0604020202020204" pitchFamily="34" charset="0"/>
              </a:rPr>
              <a:t> y Gateway estaban registrados </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1A8071EB-3249-400B-95E5-03EEF9EB8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787" y="1770622"/>
            <a:ext cx="9486900" cy="4502921"/>
          </a:xfrm>
          <a:prstGeom prst="rect">
            <a:avLst/>
          </a:prstGeom>
        </p:spPr>
      </p:pic>
    </p:spTree>
    <p:extLst>
      <p:ext uri="{BB962C8B-B14F-4D97-AF65-F5344CB8AC3E}">
        <p14:creationId xmlns:p14="http://schemas.microsoft.com/office/powerpoint/2010/main" val="1121543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Verificación en Eureka y Angular Front</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
        <p:nvSpPr>
          <p:cNvPr id="9" name="CuadroTexto 8">
            <a:extLst>
              <a:ext uri="{FF2B5EF4-FFF2-40B4-BE49-F238E27FC236}">
                <a16:creationId xmlns:a16="http://schemas.microsoft.com/office/drawing/2014/main" id="{55D87802-5F28-4D1C-BCE6-2F2B1526DCE5}"/>
              </a:ext>
            </a:extLst>
          </p:cNvPr>
          <p:cNvSpPr txBox="1"/>
          <p:nvPr/>
        </p:nvSpPr>
        <p:spPr>
          <a:xfrm>
            <a:off x="542925" y="754959"/>
            <a:ext cx="11096625" cy="1323439"/>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Así mismo, accedí a “localhost:4215” para revisar que Angular estuviera corriendo</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309A8191-845B-4EFB-85DD-E1AC0EB623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749" y="1840448"/>
            <a:ext cx="9686925" cy="4597863"/>
          </a:xfrm>
          <a:prstGeom prst="rect">
            <a:avLst/>
          </a:prstGeom>
        </p:spPr>
      </p:pic>
    </p:spTree>
    <p:extLst>
      <p:ext uri="{BB962C8B-B14F-4D97-AF65-F5344CB8AC3E}">
        <p14:creationId xmlns:p14="http://schemas.microsoft.com/office/powerpoint/2010/main" val="286557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Ahora que ya todo funciona, voy a continuar con la implementación de </a:t>
            </a:r>
            <a:r>
              <a:rPr lang="es-ES" sz="2000" i="0" dirty="0" err="1">
                <a:effectLst/>
                <a:latin typeface="Arial" panose="020B0604020202020204" pitchFamily="34" charset="0"/>
                <a:cs typeface="Arial" panose="020B0604020202020204" pitchFamily="34" charset="0"/>
              </a:rPr>
              <a:t>Nginx</a:t>
            </a:r>
            <a:r>
              <a:rPr lang="es-ES" sz="2000" i="0" dirty="0">
                <a:effectLst/>
                <a:latin typeface="Arial" panose="020B0604020202020204" pitchFamily="34" charset="0"/>
                <a:cs typeface="Arial" panose="020B0604020202020204" pitchFamily="34" charset="0"/>
              </a:rPr>
              <a:t> con el objetivo de que en lugar de acceder a “localhost:4215” sea “</a:t>
            </a:r>
            <a:r>
              <a:rPr lang="es-ES" sz="2000" i="0" dirty="0" err="1">
                <a:effectLst/>
                <a:latin typeface="Arial" panose="020B0604020202020204" pitchFamily="34" charset="0"/>
                <a:cs typeface="Arial" panose="020B0604020202020204" pitchFamily="34" charset="0"/>
              </a:rPr>
              <a:t>vannisystem.local</a:t>
            </a:r>
            <a:r>
              <a:rPr lang="es-ES" sz="2000" i="0" dirty="0">
                <a:effectLst/>
                <a:latin typeface="Arial" panose="020B0604020202020204" pitchFamily="34" charset="0"/>
                <a:cs typeface="Arial" panose="020B0604020202020204" pitchFamily="34" charset="0"/>
              </a:rPr>
              <a:t>”. Para eso, </a:t>
            </a:r>
            <a:r>
              <a:rPr lang="es-ES" sz="2000" i="0" dirty="0" err="1">
                <a:effectLst/>
                <a:latin typeface="Arial" panose="020B0604020202020204" pitchFamily="34" charset="0"/>
                <a:cs typeface="Arial" panose="020B0604020202020204" pitchFamily="34" charset="0"/>
              </a:rPr>
              <a:t>dento</a:t>
            </a:r>
            <a:r>
              <a:rPr lang="es-ES" sz="2000" i="0" dirty="0">
                <a:effectLst/>
                <a:latin typeface="Arial" panose="020B0604020202020204" pitchFamily="34" charset="0"/>
                <a:cs typeface="Arial" panose="020B0604020202020204" pitchFamily="34" charset="0"/>
              </a:rPr>
              <a:t> de </a:t>
            </a:r>
            <a:r>
              <a:rPr lang="es-ES" sz="2000" i="0" dirty="0" err="1">
                <a:effectLst/>
                <a:latin typeface="Arial" panose="020B0604020202020204" pitchFamily="34" charset="0"/>
                <a:cs typeface="Arial" panose="020B0604020202020204" pitchFamily="34" charset="0"/>
              </a:rPr>
              <a:t>VSCode</a:t>
            </a:r>
            <a:r>
              <a:rPr lang="es-ES" sz="2000" i="0" dirty="0">
                <a:effectLst/>
                <a:latin typeface="Arial" panose="020B0604020202020204" pitchFamily="34" charset="0"/>
                <a:cs typeface="Arial" panose="020B0604020202020204" pitchFamily="34" charset="0"/>
              </a:rPr>
              <a:t> y del proyecto ingresé los siguientes comandos para crear el archivo “</a:t>
            </a:r>
            <a:r>
              <a:rPr lang="es-ES" sz="2000" i="0" dirty="0" err="1">
                <a:effectLst/>
                <a:latin typeface="Arial" panose="020B0604020202020204" pitchFamily="34" charset="0"/>
                <a:cs typeface="Arial" panose="020B0604020202020204" pitchFamily="34" charset="0"/>
              </a:rPr>
              <a:t>nginx.conf</a:t>
            </a:r>
            <a:r>
              <a:rPr lang="es-ES" sz="2000" i="0" dirty="0">
                <a:effectLst/>
                <a:latin typeface="Arial" panose="020B0604020202020204" pitchFamily="34" charset="0"/>
                <a:cs typeface="Arial" panose="020B0604020202020204" pitchFamily="34" charset="0"/>
              </a:rPr>
              <a:t>”</a:t>
            </a:r>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Implementación de </a:t>
            </a:r>
            <a:r>
              <a:rPr lang="es-ES" sz="1600" b="1" dirty="0" err="1">
                <a:solidFill>
                  <a:schemeClr val="tx1"/>
                </a:solidFill>
                <a:latin typeface="Arial" panose="020B0604020202020204" pitchFamily="34" charset="0"/>
                <a:cs typeface="Arial" panose="020B0604020202020204" pitchFamily="34" charset="0"/>
              </a:rPr>
              <a:t>Nginx</a:t>
            </a:r>
            <a:r>
              <a:rPr lang="es-ES" sz="1600" b="1" dirty="0">
                <a:solidFill>
                  <a:schemeClr val="tx1"/>
                </a:solidFill>
                <a:latin typeface="Arial" panose="020B0604020202020204" pitchFamily="34" charset="0"/>
                <a:cs typeface="Arial" panose="020B0604020202020204" pitchFamily="34" charset="0"/>
              </a:rPr>
              <a:t> y Asignación del Dominio Local</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3802357E-C503-41CE-9275-AA4B0F1EEB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0650" y="1988782"/>
            <a:ext cx="9024937" cy="4142834"/>
          </a:xfrm>
          <a:prstGeom prst="rect">
            <a:avLst/>
          </a:prstGeom>
        </p:spPr>
      </p:pic>
    </p:spTree>
    <p:extLst>
      <p:ext uri="{BB962C8B-B14F-4D97-AF65-F5344CB8AC3E}">
        <p14:creationId xmlns:p14="http://schemas.microsoft.com/office/powerpoint/2010/main" val="2960997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2554545"/>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Cree un servidor </a:t>
            </a:r>
            <a:r>
              <a:rPr lang="es-ES" sz="2000" dirty="0" err="1">
                <a:latin typeface="Arial" panose="020B0604020202020204" pitchFamily="34" charset="0"/>
                <a:cs typeface="Arial" panose="020B0604020202020204" pitchFamily="34" charset="0"/>
              </a:rPr>
              <a:t>Nginx</a:t>
            </a:r>
            <a:r>
              <a:rPr lang="es-ES" sz="2000" dirty="0">
                <a:latin typeface="Arial" panose="020B0604020202020204" pitchFamily="34" charset="0"/>
                <a:cs typeface="Arial" panose="020B0604020202020204" pitchFamily="34" charset="0"/>
              </a:rPr>
              <a:t> para que funcione como la única puerta de entrada hacia mi sistema desde el exterior. </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Diseñé el archivo de configuración en la ruta ./</a:t>
            </a:r>
            <a:r>
              <a:rPr lang="es-ES" sz="2000" dirty="0" err="1">
                <a:latin typeface="Arial" panose="020B0604020202020204" pitchFamily="34" charset="0"/>
                <a:cs typeface="Arial" panose="020B0604020202020204" pitchFamily="34" charset="0"/>
              </a:rPr>
              <a:t>nginx</a:t>
            </a:r>
            <a:r>
              <a:rPr lang="es-ES" sz="2000" dirty="0">
                <a:latin typeface="Arial" panose="020B0604020202020204" pitchFamily="34" charset="0"/>
                <a:cs typeface="Arial" panose="020B0604020202020204" pitchFamily="34" charset="0"/>
              </a:rPr>
              <a:t>/</a:t>
            </a:r>
            <a:r>
              <a:rPr lang="es-ES" sz="2000" dirty="0" err="1">
                <a:latin typeface="Arial" panose="020B0604020202020204" pitchFamily="34" charset="0"/>
                <a:cs typeface="Arial" panose="020B0604020202020204" pitchFamily="34" charset="0"/>
              </a:rPr>
              <a:t>nginx.conf</a:t>
            </a:r>
            <a:r>
              <a:rPr lang="es-ES" sz="2000" dirty="0">
                <a:latin typeface="Arial" panose="020B0604020202020204" pitchFamily="34" charset="0"/>
                <a:cs typeface="Arial" panose="020B0604020202020204" pitchFamily="34" charset="0"/>
              </a:rPr>
              <a:t> definiendo mi dominio personalizado:</a:t>
            </a: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Implementación de </a:t>
            </a:r>
            <a:r>
              <a:rPr lang="es-ES" sz="1600" b="1" dirty="0" err="1">
                <a:solidFill>
                  <a:schemeClr val="tx1"/>
                </a:solidFill>
                <a:latin typeface="Arial" panose="020B0604020202020204" pitchFamily="34" charset="0"/>
                <a:cs typeface="Arial" panose="020B0604020202020204" pitchFamily="34" charset="0"/>
              </a:rPr>
              <a:t>Nginx</a:t>
            </a:r>
            <a:r>
              <a:rPr lang="es-ES" sz="1600" b="1" dirty="0">
                <a:solidFill>
                  <a:schemeClr val="tx1"/>
                </a:solidFill>
                <a:latin typeface="Arial" panose="020B0604020202020204" pitchFamily="34" charset="0"/>
                <a:cs typeface="Arial" panose="020B0604020202020204" pitchFamily="34" charset="0"/>
              </a:rPr>
              <a:t> y Asignación del Dominio Local</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590AEA85-654E-4053-86AC-F5F34F732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9919" y="2243910"/>
            <a:ext cx="5872162" cy="4194401"/>
          </a:xfrm>
          <a:prstGeom prst="rect">
            <a:avLst/>
          </a:prstGeom>
        </p:spPr>
      </p:pic>
    </p:spTree>
    <p:extLst>
      <p:ext uri="{BB962C8B-B14F-4D97-AF65-F5344CB8AC3E}">
        <p14:creationId xmlns:p14="http://schemas.microsoft.com/office/powerpoint/2010/main" val="274341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3477875"/>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Al archivo Docker-</a:t>
            </a:r>
            <a:r>
              <a:rPr lang="es-ES" sz="2000" i="0" dirty="0" err="1">
                <a:effectLst/>
                <a:latin typeface="Arial" panose="020B0604020202020204" pitchFamily="34" charset="0"/>
                <a:cs typeface="Arial" panose="020B0604020202020204" pitchFamily="34" charset="0"/>
              </a:rPr>
              <a:t>Compose.yml</a:t>
            </a:r>
            <a:r>
              <a:rPr lang="es-ES" sz="2000" i="0" dirty="0">
                <a:effectLst/>
                <a:latin typeface="Arial" panose="020B0604020202020204" pitchFamily="34" charset="0"/>
                <a:cs typeface="Arial" panose="020B0604020202020204" pitchFamily="34" charset="0"/>
              </a:rPr>
              <a:t> agregué el servicio de </a:t>
            </a:r>
            <a:r>
              <a:rPr lang="es-ES" sz="2000" i="0" dirty="0" err="1">
                <a:effectLst/>
                <a:latin typeface="Arial" panose="020B0604020202020204" pitchFamily="34" charset="0"/>
                <a:cs typeface="Arial" panose="020B0604020202020204" pitchFamily="34" charset="0"/>
              </a:rPr>
              <a:t>Nginx</a:t>
            </a:r>
            <a:r>
              <a:rPr lang="es-ES" sz="2000" i="0" dirty="0">
                <a:effectLst/>
                <a:latin typeface="Arial" panose="020B0604020202020204" pitchFamily="34" charset="0"/>
                <a:cs typeface="Arial" panose="020B0604020202020204" pitchFamily="34" charset="0"/>
              </a:rPr>
              <a:t> como la única puerta de entrada por el puerto 80 para centralizar todo el tráfico de mi arquitectura bajo nuestro dominio personalizado </a:t>
            </a:r>
            <a:r>
              <a:rPr lang="es-ES" sz="2000" i="0" dirty="0" err="1">
                <a:effectLst/>
                <a:latin typeface="Arial" panose="020B0604020202020204" pitchFamily="34" charset="0"/>
                <a:cs typeface="Arial" panose="020B0604020202020204" pitchFamily="34" charset="0"/>
              </a:rPr>
              <a:t>vannisystem.local</a:t>
            </a:r>
            <a:r>
              <a:rPr lang="es-ES" sz="2000" i="0" dirty="0">
                <a:effectLst/>
                <a:latin typeface="Arial" panose="020B0604020202020204" pitchFamily="34" charset="0"/>
                <a:cs typeface="Arial" panose="020B0604020202020204" pitchFamily="34" charset="0"/>
              </a:rPr>
              <a:t> y resolver de golpe los bloqueos de seguridad (CORS) en el navegador. Al vincular mi archivo </a:t>
            </a:r>
            <a:r>
              <a:rPr lang="es-ES" sz="2000" i="0" dirty="0" err="1">
                <a:effectLst/>
                <a:latin typeface="Arial" panose="020B0604020202020204" pitchFamily="34" charset="0"/>
                <a:cs typeface="Arial" panose="020B0604020202020204" pitchFamily="34" charset="0"/>
              </a:rPr>
              <a:t>nginx.conf</a:t>
            </a:r>
            <a:r>
              <a:rPr lang="es-ES" sz="2000" i="0" dirty="0">
                <a:effectLst/>
                <a:latin typeface="Arial" panose="020B0604020202020204" pitchFamily="34" charset="0"/>
                <a:cs typeface="Arial" panose="020B0604020202020204" pitchFamily="34" charset="0"/>
              </a:rPr>
              <a:t> mediante un volumen, logré que este contenedor reciba todas las peticiones externas y las reparta de forma inteligente: cuando entro a la raíz, me sirve el </a:t>
            </a:r>
            <a:r>
              <a:rPr lang="es-ES" sz="2000" i="0" dirty="0" err="1">
                <a:effectLst/>
                <a:latin typeface="Arial" panose="020B0604020202020204" pitchFamily="34" charset="0"/>
                <a:cs typeface="Arial" panose="020B0604020202020204" pitchFamily="34" charset="0"/>
              </a:rPr>
              <a:t>frontend</a:t>
            </a:r>
            <a:r>
              <a:rPr lang="es-ES" sz="2000" i="0" dirty="0">
                <a:effectLst/>
                <a:latin typeface="Arial" panose="020B0604020202020204" pitchFamily="34" charset="0"/>
                <a:cs typeface="Arial" panose="020B0604020202020204" pitchFamily="34" charset="0"/>
              </a:rPr>
              <a:t> de Angular, y cuando el sistema detecta rutas que empiezan con /api/, las redirige limpiamente hacia nuestro API Gateway en segundo plano. Al incluir las condiciones </a:t>
            </a:r>
            <a:r>
              <a:rPr lang="es-ES" sz="2000" i="0" dirty="0" err="1">
                <a:effectLst/>
                <a:latin typeface="Arial" panose="020B0604020202020204" pitchFamily="34" charset="0"/>
                <a:cs typeface="Arial" panose="020B0604020202020204" pitchFamily="34" charset="0"/>
              </a:rPr>
              <a:t>depends_on</a:t>
            </a:r>
            <a:r>
              <a:rPr lang="es-ES" sz="2000" i="0" dirty="0">
                <a:effectLst/>
                <a:latin typeface="Arial" panose="020B0604020202020204" pitchFamily="34" charset="0"/>
                <a:cs typeface="Arial" panose="020B0604020202020204" pitchFamily="34" charset="0"/>
              </a:rPr>
              <a:t>, aseguré que </a:t>
            </a:r>
            <a:r>
              <a:rPr lang="es-ES" sz="2000" i="0" dirty="0" err="1">
                <a:effectLst/>
                <a:latin typeface="Arial" panose="020B0604020202020204" pitchFamily="34" charset="0"/>
                <a:cs typeface="Arial" panose="020B0604020202020204" pitchFamily="34" charset="0"/>
              </a:rPr>
              <a:t>Nginx</a:t>
            </a:r>
            <a:r>
              <a:rPr lang="es-ES" sz="2000" i="0" dirty="0">
                <a:effectLst/>
                <a:latin typeface="Arial" panose="020B0604020202020204" pitchFamily="34" charset="0"/>
                <a:cs typeface="Arial" panose="020B0604020202020204" pitchFamily="34" charset="0"/>
              </a:rPr>
              <a:t> no intente arrancar hasta que Angular y el Gateway estén encendidos, logrando un flujo de red interno portátil, seguro y completamente profesional.</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Implementación de </a:t>
            </a:r>
            <a:r>
              <a:rPr lang="es-ES" sz="1600" b="1" dirty="0" err="1">
                <a:solidFill>
                  <a:schemeClr val="tx1"/>
                </a:solidFill>
                <a:latin typeface="Arial" panose="020B0604020202020204" pitchFamily="34" charset="0"/>
                <a:cs typeface="Arial" panose="020B0604020202020204" pitchFamily="34" charset="0"/>
              </a:rPr>
              <a:t>Nginx</a:t>
            </a:r>
            <a:r>
              <a:rPr lang="es-ES" sz="1600" b="1" dirty="0">
                <a:solidFill>
                  <a:schemeClr val="tx1"/>
                </a:solidFill>
                <a:latin typeface="Arial" panose="020B0604020202020204" pitchFamily="34" charset="0"/>
                <a:cs typeface="Arial" panose="020B0604020202020204" pitchFamily="34" charset="0"/>
              </a:rPr>
              <a:t> y Asignación del Dominio Local</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638E6F3A-4130-47BE-AAB5-D9D6F21B4137}"/>
              </a:ext>
            </a:extLst>
          </p:cNvPr>
          <p:cNvPicPr>
            <a:picLocks noChangeAspect="1"/>
          </p:cNvPicPr>
          <p:nvPr/>
        </p:nvPicPr>
        <p:blipFill rotWithShape="1">
          <a:blip r:embed="rId3">
            <a:extLst>
              <a:ext uri="{28A0092B-C50C-407E-A947-70E740481C1C}">
                <a14:useLocalDpi xmlns:a14="http://schemas.microsoft.com/office/drawing/2010/main" val="0"/>
              </a:ext>
            </a:extLst>
          </a:blip>
          <a:srcRect t="42886"/>
          <a:stretch/>
        </p:blipFill>
        <p:spPr>
          <a:xfrm>
            <a:off x="2302668" y="3722056"/>
            <a:ext cx="7577137" cy="2716255"/>
          </a:xfrm>
          <a:prstGeom prst="rect">
            <a:avLst/>
          </a:prstGeom>
        </p:spPr>
      </p:pic>
    </p:spTree>
    <p:extLst>
      <p:ext uri="{BB962C8B-B14F-4D97-AF65-F5344CB8AC3E}">
        <p14:creationId xmlns:p14="http://schemas.microsoft.com/office/powerpoint/2010/main" val="2740760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Para que el navegador web de Ubuntu pudiera reconocer el nombre </a:t>
            </a:r>
            <a:r>
              <a:rPr lang="es-ES" sz="2000" i="0" dirty="0" err="1">
                <a:effectLst/>
                <a:latin typeface="Arial" panose="020B0604020202020204" pitchFamily="34" charset="0"/>
                <a:cs typeface="Arial" panose="020B0604020202020204" pitchFamily="34" charset="0"/>
              </a:rPr>
              <a:t>vannisystem.local</a:t>
            </a:r>
            <a:r>
              <a:rPr lang="es-ES" sz="2000" i="0" dirty="0">
                <a:effectLst/>
                <a:latin typeface="Arial" panose="020B0604020202020204" pitchFamily="34" charset="0"/>
                <a:cs typeface="Arial" panose="020B0604020202020204" pitchFamily="34" charset="0"/>
              </a:rPr>
              <a:t>, editamos el archivo de rutas de red de la laptop:</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Implementación de </a:t>
            </a:r>
            <a:r>
              <a:rPr lang="es-ES" sz="1600" b="1" dirty="0" err="1">
                <a:solidFill>
                  <a:schemeClr val="tx1"/>
                </a:solidFill>
                <a:latin typeface="Arial" panose="020B0604020202020204" pitchFamily="34" charset="0"/>
                <a:cs typeface="Arial" panose="020B0604020202020204" pitchFamily="34" charset="0"/>
              </a:rPr>
              <a:t>Nginx</a:t>
            </a:r>
            <a:r>
              <a:rPr lang="es-ES" sz="1600" b="1" dirty="0">
                <a:solidFill>
                  <a:schemeClr val="tx1"/>
                </a:solidFill>
                <a:latin typeface="Arial" panose="020B0604020202020204" pitchFamily="34" charset="0"/>
                <a:cs typeface="Arial" panose="020B0604020202020204" pitchFamily="34" charset="0"/>
              </a:rPr>
              <a:t> y Asignación del Dominio Local</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3C4BB445-A7AE-4B2E-85ED-21B4646B3A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250" y="1838129"/>
            <a:ext cx="9420225" cy="426254"/>
          </a:xfrm>
          <a:prstGeom prst="rect">
            <a:avLst/>
          </a:prstGeom>
        </p:spPr>
      </p:pic>
      <p:pic>
        <p:nvPicPr>
          <p:cNvPr id="10" name="Imagen 9">
            <a:extLst>
              <a:ext uri="{FF2B5EF4-FFF2-40B4-BE49-F238E27FC236}">
                <a16:creationId xmlns:a16="http://schemas.microsoft.com/office/drawing/2014/main" id="{E95C55B0-8F01-4E3C-9656-7AB26FF5A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7062" y="2413668"/>
            <a:ext cx="4581525" cy="1952625"/>
          </a:xfrm>
          <a:prstGeom prst="rect">
            <a:avLst/>
          </a:prstGeom>
        </p:spPr>
      </p:pic>
    </p:spTree>
    <p:extLst>
      <p:ext uri="{BB962C8B-B14F-4D97-AF65-F5344CB8AC3E}">
        <p14:creationId xmlns:p14="http://schemas.microsoft.com/office/powerpoint/2010/main" val="3247341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Finalmente, detuvimos el entorno previo y levantamos toda la arquitectura en segundo plano:</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Implementación de </a:t>
            </a:r>
            <a:r>
              <a:rPr lang="es-ES" sz="1600" b="1" dirty="0" err="1">
                <a:solidFill>
                  <a:schemeClr val="tx1"/>
                </a:solidFill>
                <a:latin typeface="Arial" panose="020B0604020202020204" pitchFamily="34" charset="0"/>
                <a:cs typeface="Arial" panose="020B0604020202020204" pitchFamily="34" charset="0"/>
              </a:rPr>
              <a:t>Nginx</a:t>
            </a:r>
            <a:r>
              <a:rPr lang="es-ES" sz="1600" b="1" dirty="0">
                <a:solidFill>
                  <a:schemeClr val="tx1"/>
                </a:solidFill>
                <a:latin typeface="Arial" panose="020B0604020202020204" pitchFamily="34" charset="0"/>
                <a:cs typeface="Arial" panose="020B0604020202020204" pitchFamily="34" charset="0"/>
              </a:rPr>
              <a:t> y Asignación del Dominio Local</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D2C706A-EBD3-4D88-A07E-9C79885EBFAB}"/>
              </a:ext>
            </a:extLst>
          </p:cNvPr>
          <p:cNvPicPr>
            <a:picLocks noChangeAspect="1"/>
          </p:cNvPicPr>
          <p:nvPr/>
        </p:nvPicPr>
        <p:blipFill rotWithShape="1">
          <a:blip r:embed="rId3">
            <a:extLst>
              <a:ext uri="{28A0092B-C50C-407E-A947-70E740481C1C}">
                <a14:useLocalDpi xmlns:a14="http://schemas.microsoft.com/office/drawing/2010/main" val="0"/>
              </a:ext>
            </a:extLst>
          </a:blip>
          <a:srcRect r="40000" b="6836"/>
          <a:stretch/>
        </p:blipFill>
        <p:spPr>
          <a:xfrm>
            <a:off x="1733550" y="1669221"/>
            <a:ext cx="7315200" cy="513962"/>
          </a:xfrm>
          <a:prstGeom prst="rect">
            <a:avLst/>
          </a:prstGeom>
        </p:spPr>
      </p:pic>
      <p:pic>
        <p:nvPicPr>
          <p:cNvPr id="10" name="Imagen 9">
            <a:extLst>
              <a:ext uri="{FF2B5EF4-FFF2-40B4-BE49-F238E27FC236}">
                <a16:creationId xmlns:a16="http://schemas.microsoft.com/office/drawing/2014/main" id="{2BE5A3A7-F2B8-4ACA-A280-190F329D43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6435" y="2404548"/>
            <a:ext cx="7410450" cy="3571875"/>
          </a:xfrm>
          <a:prstGeom prst="rect">
            <a:avLst/>
          </a:prstGeom>
        </p:spPr>
      </p:pic>
    </p:spTree>
    <p:extLst>
      <p:ext uri="{BB962C8B-B14F-4D97-AF65-F5344CB8AC3E}">
        <p14:creationId xmlns:p14="http://schemas.microsoft.com/office/powerpoint/2010/main" val="1187532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Resultados: El sistema se estabilizó por completo y accedí con la dirección que había configurado con </a:t>
            </a:r>
            <a:r>
              <a:rPr lang="es-ES" sz="2000" b="0" i="0" dirty="0" err="1">
                <a:effectLst/>
                <a:latin typeface="Arial" panose="020B0604020202020204" pitchFamily="34" charset="0"/>
                <a:cs typeface="Arial" panose="020B0604020202020204" pitchFamily="34" charset="0"/>
              </a:rPr>
              <a:t>Nginx</a:t>
            </a:r>
            <a:r>
              <a:rPr lang="es-ES" sz="2000" b="0" i="0" dirty="0">
                <a:effectLst/>
                <a:latin typeface="Arial" panose="020B0604020202020204" pitchFamily="34" charset="0"/>
                <a:cs typeface="Arial" panose="020B0604020202020204" pitchFamily="34" charset="0"/>
              </a:rPr>
              <a:t> y entró correctamente al panel de Angular, pero al revisar las funciones del CRUD encontré un error ya que no me dejaba ingresar datos en ningún módulo.</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Correcciones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776D8DB2-6315-4789-8520-29D924C2D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2306626"/>
            <a:ext cx="9848850" cy="4173604"/>
          </a:xfrm>
          <a:prstGeom prst="rect">
            <a:avLst/>
          </a:prstGeom>
        </p:spPr>
      </p:pic>
    </p:spTree>
    <p:extLst>
      <p:ext uri="{BB962C8B-B14F-4D97-AF65-F5344CB8AC3E}">
        <p14:creationId xmlns:p14="http://schemas.microsoft.com/office/powerpoint/2010/main" val="4056629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Al no poder ingresar ningún dato</a:t>
            </a:r>
            <a:r>
              <a:rPr lang="es-ES" sz="2000" dirty="0">
                <a:latin typeface="Arial" panose="020B0604020202020204" pitchFamily="34" charset="0"/>
                <a:cs typeface="Arial" panose="020B0604020202020204" pitchFamily="34" charset="0"/>
              </a:rPr>
              <a:t>, supe que el fallo venía en las configuraciones de las bases de datos de los microservicios </a:t>
            </a:r>
            <a:r>
              <a:rPr lang="es-ES" sz="2000" dirty="0" err="1">
                <a:latin typeface="Arial" panose="020B0604020202020204" pitchFamily="34" charset="0"/>
                <a:cs typeface="Arial" panose="020B0604020202020204" pitchFamily="34" charset="0"/>
              </a:rPr>
              <a:t>Course</a:t>
            </a:r>
            <a:r>
              <a:rPr lang="es-ES" sz="2000" dirty="0">
                <a:latin typeface="Arial" panose="020B0604020202020204" pitchFamily="34" charset="0"/>
                <a:cs typeface="Arial" panose="020B0604020202020204" pitchFamily="34" charset="0"/>
              </a:rPr>
              <a:t> y </a:t>
            </a:r>
            <a:r>
              <a:rPr lang="es-ES" sz="2000" dirty="0" err="1">
                <a:latin typeface="Arial" panose="020B0604020202020204" pitchFamily="34" charset="0"/>
                <a:cs typeface="Arial" panose="020B0604020202020204" pitchFamily="34" charset="0"/>
              </a:rPr>
              <a:t>Student</a:t>
            </a:r>
            <a:r>
              <a:rPr lang="es-ES" sz="2000" dirty="0">
                <a:latin typeface="Arial" panose="020B0604020202020204" pitchFamily="34" charset="0"/>
                <a:cs typeface="Arial" panose="020B0604020202020204" pitchFamily="34" charset="0"/>
              </a:rPr>
              <a:t>, ya que al haber puesto un dominio personalizado, las peticiones que se hacían en Angular no llegaban a ningún lado, así que hice los siguientes cambios: </a:t>
            </a:r>
            <a:endParaRPr lang="es-ES" sz="2000" b="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Correcciones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B567A9B4-71DD-43F2-BC64-89FF161E8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3635" y="2214076"/>
            <a:ext cx="6291532" cy="2182198"/>
          </a:xfrm>
          <a:prstGeom prst="rect">
            <a:avLst/>
          </a:prstGeom>
        </p:spPr>
      </p:pic>
      <p:pic>
        <p:nvPicPr>
          <p:cNvPr id="11" name="Imagen 10">
            <a:extLst>
              <a:ext uri="{FF2B5EF4-FFF2-40B4-BE49-F238E27FC236}">
                <a16:creationId xmlns:a16="http://schemas.microsoft.com/office/drawing/2014/main" id="{3B1A8B6B-BA4F-400F-B016-D205359187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237" y="4765124"/>
            <a:ext cx="5133975" cy="1476375"/>
          </a:xfrm>
          <a:prstGeom prst="rect">
            <a:avLst/>
          </a:prstGeom>
        </p:spPr>
      </p:pic>
      <p:pic>
        <p:nvPicPr>
          <p:cNvPr id="13" name="Imagen 12">
            <a:extLst>
              <a:ext uri="{FF2B5EF4-FFF2-40B4-BE49-F238E27FC236}">
                <a16:creationId xmlns:a16="http://schemas.microsoft.com/office/drawing/2014/main" id="{FE77884C-A646-451D-9CA0-F6027C7F1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0790" y="4765123"/>
            <a:ext cx="5133975" cy="1476375"/>
          </a:xfrm>
          <a:prstGeom prst="rect">
            <a:avLst/>
          </a:prstGeom>
        </p:spPr>
      </p:pic>
      <p:sp>
        <p:nvSpPr>
          <p:cNvPr id="17" name="CuadroTexto 16">
            <a:extLst>
              <a:ext uri="{FF2B5EF4-FFF2-40B4-BE49-F238E27FC236}">
                <a16:creationId xmlns:a16="http://schemas.microsoft.com/office/drawing/2014/main" id="{9EEA37BD-64BB-4ED7-9863-A38FF143D428}"/>
              </a:ext>
            </a:extLst>
          </p:cNvPr>
          <p:cNvSpPr txBox="1"/>
          <p:nvPr/>
        </p:nvSpPr>
        <p:spPr>
          <a:xfrm>
            <a:off x="5000625" y="1813965"/>
            <a:ext cx="1636149" cy="400110"/>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Antes</a:t>
            </a:r>
          </a:p>
        </p:txBody>
      </p:sp>
      <p:sp>
        <p:nvSpPr>
          <p:cNvPr id="18" name="CuadroTexto 17">
            <a:extLst>
              <a:ext uri="{FF2B5EF4-FFF2-40B4-BE49-F238E27FC236}">
                <a16:creationId xmlns:a16="http://schemas.microsoft.com/office/drawing/2014/main" id="{28B4AE1E-113D-49BC-A225-F61A021EA6F1}"/>
              </a:ext>
            </a:extLst>
          </p:cNvPr>
          <p:cNvSpPr txBox="1"/>
          <p:nvPr/>
        </p:nvSpPr>
        <p:spPr>
          <a:xfrm>
            <a:off x="1533648" y="4365013"/>
            <a:ext cx="3228852" cy="400110"/>
          </a:xfrm>
          <a:prstGeom prst="rect">
            <a:avLst/>
          </a:prstGeom>
          <a:noFill/>
        </p:spPr>
        <p:txBody>
          <a:bodyPr wrap="square">
            <a:spAutoFit/>
          </a:bodyPr>
          <a:lstStyle/>
          <a:p>
            <a:pPr algn="just"/>
            <a:r>
              <a:rPr lang="es-ES" sz="2000" dirty="0" err="1">
                <a:latin typeface="Arial" panose="020B0604020202020204" pitchFamily="34" charset="0"/>
                <a:cs typeface="Arial" panose="020B0604020202020204" pitchFamily="34" charset="0"/>
              </a:rPr>
              <a:t>Course</a:t>
            </a:r>
            <a:r>
              <a:rPr lang="es-ES" sz="2000" dirty="0">
                <a:latin typeface="Arial" panose="020B0604020202020204" pitchFamily="34" charset="0"/>
                <a:cs typeface="Arial" panose="020B0604020202020204" pitchFamily="34" charset="0"/>
              </a:rPr>
              <a:t> Corregido</a:t>
            </a:r>
            <a:endParaRPr lang="es-ES" sz="2000" b="0" i="0" dirty="0">
              <a:effectLst/>
              <a:latin typeface="Arial" panose="020B0604020202020204" pitchFamily="34" charset="0"/>
              <a:cs typeface="Arial" panose="020B0604020202020204" pitchFamily="34" charset="0"/>
            </a:endParaRPr>
          </a:p>
        </p:txBody>
      </p:sp>
      <p:sp>
        <p:nvSpPr>
          <p:cNvPr id="19" name="CuadroTexto 18">
            <a:extLst>
              <a:ext uri="{FF2B5EF4-FFF2-40B4-BE49-F238E27FC236}">
                <a16:creationId xmlns:a16="http://schemas.microsoft.com/office/drawing/2014/main" id="{E641B241-3953-4224-BCE5-23CD8C224679}"/>
              </a:ext>
            </a:extLst>
          </p:cNvPr>
          <p:cNvSpPr txBox="1"/>
          <p:nvPr/>
        </p:nvSpPr>
        <p:spPr>
          <a:xfrm>
            <a:off x="7334994" y="4386626"/>
            <a:ext cx="3228852" cy="400110"/>
          </a:xfrm>
          <a:prstGeom prst="rect">
            <a:avLst/>
          </a:prstGeom>
          <a:noFill/>
        </p:spPr>
        <p:txBody>
          <a:bodyPr wrap="square">
            <a:spAutoFit/>
          </a:bodyPr>
          <a:lstStyle/>
          <a:p>
            <a:pPr algn="just"/>
            <a:r>
              <a:rPr lang="es-ES" sz="2000" dirty="0" err="1">
                <a:latin typeface="Arial" panose="020B0604020202020204" pitchFamily="34" charset="0"/>
                <a:cs typeface="Arial" panose="020B0604020202020204" pitchFamily="34" charset="0"/>
              </a:rPr>
              <a:t>Student</a:t>
            </a:r>
            <a:r>
              <a:rPr lang="es-ES" sz="2000" dirty="0">
                <a:latin typeface="Arial" panose="020B0604020202020204" pitchFamily="34" charset="0"/>
                <a:cs typeface="Arial" panose="020B0604020202020204" pitchFamily="34" charset="0"/>
              </a:rPr>
              <a:t> Corregido</a:t>
            </a:r>
            <a:endParaRPr lang="es-ES" sz="2000"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0737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00110"/>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Para revisar que haya funcionado, reinicié el contenedor de angular</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Correcciones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88BFCDBE-1BA3-46D6-86D1-3D8B2B9298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271792"/>
            <a:ext cx="9353550" cy="1047750"/>
          </a:xfrm>
          <a:prstGeom prst="rect">
            <a:avLst/>
          </a:prstGeom>
        </p:spPr>
      </p:pic>
      <p:pic>
        <p:nvPicPr>
          <p:cNvPr id="18" name="Imagen 17">
            <a:extLst>
              <a:ext uri="{FF2B5EF4-FFF2-40B4-BE49-F238E27FC236}">
                <a16:creationId xmlns:a16="http://schemas.microsoft.com/office/drawing/2014/main" id="{A0856427-EEE3-4BBA-B62F-8216982179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471" y="2707840"/>
            <a:ext cx="11669732" cy="3395201"/>
          </a:xfrm>
          <a:prstGeom prst="rect">
            <a:avLst/>
          </a:prstGeom>
        </p:spPr>
      </p:pic>
    </p:spTree>
    <p:extLst>
      <p:ext uri="{BB962C8B-B14F-4D97-AF65-F5344CB8AC3E}">
        <p14:creationId xmlns:p14="http://schemas.microsoft.com/office/powerpoint/2010/main" val="1448183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00110"/>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Intenté registrar un Alumno y esta vez sí funcionó.</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Correcciones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215E90CE-FD78-447D-B735-16A28B55E2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105" y="1532258"/>
            <a:ext cx="5781675" cy="4762500"/>
          </a:xfrm>
          <a:prstGeom prst="rect">
            <a:avLst/>
          </a:prstGeom>
        </p:spPr>
      </p:pic>
      <p:pic>
        <p:nvPicPr>
          <p:cNvPr id="11" name="Imagen 10">
            <a:extLst>
              <a:ext uri="{FF2B5EF4-FFF2-40B4-BE49-F238E27FC236}">
                <a16:creationId xmlns:a16="http://schemas.microsoft.com/office/drawing/2014/main" id="{D6B4E337-5FB7-4048-AC2D-400348BEC3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6863" y="3933761"/>
            <a:ext cx="8416413" cy="1391981"/>
          </a:xfrm>
          <a:prstGeom prst="rect">
            <a:avLst/>
          </a:prstGeom>
        </p:spPr>
      </p:pic>
    </p:spTree>
    <p:extLst>
      <p:ext uri="{BB962C8B-B14F-4D97-AF65-F5344CB8AC3E}">
        <p14:creationId xmlns:p14="http://schemas.microsoft.com/office/powerpoint/2010/main" val="4150336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459105" y="984148"/>
            <a:ext cx="11096625" cy="3170099"/>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La realización de esta práctica permitió entender la importancia de usar contenedores al trabajar con aplicaciones basadas en microservicios. Spring Cloud facilita la lógica del desarrollo de software, pero necesita una estructura de red clara para que todas sus partes se comuniquen bien. </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Al desplegar este entorno sobre Ubuntu, aprovechamos las ventajas de Docker y </a:t>
            </a:r>
            <a:r>
              <a:rPr lang="es-ES" sz="2000" dirty="0" err="1">
                <a:latin typeface="Arial" panose="020B0604020202020204" pitchFamily="34" charset="0"/>
                <a:cs typeface="Arial" panose="020B0604020202020204" pitchFamily="34" charset="0"/>
              </a:rPr>
              <a:t>Nginx</a:t>
            </a:r>
            <a:r>
              <a:rPr lang="es-ES" sz="2000" dirty="0">
                <a:latin typeface="Arial" panose="020B0604020202020204" pitchFamily="34" charset="0"/>
                <a:cs typeface="Arial" panose="020B0604020202020204" pitchFamily="34" charset="0"/>
              </a:rPr>
              <a:t> para solucionar problemas de sincronización de red y tiempos de arranque. La configuración del proxy inverso no solo quitó las restricciones del navegador (errores de CORS), sino que unificó todo el proyecto bajo un dominio propio (</a:t>
            </a:r>
            <a:r>
              <a:rPr lang="es-ES" sz="2000" dirty="0" err="1">
                <a:latin typeface="Arial" panose="020B0604020202020204" pitchFamily="34" charset="0"/>
                <a:cs typeface="Arial" panose="020B0604020202020204" pitchFamily="34" charset="0"/>
              </a:rPr>
              <a:t>vannisystem.local</a:t>
            </a:r>
            <a:r>
              <a:rPr lang="es-ES" sz="2000" dirty="0">
                <a:latin typeface="Arial" panose="020B0604020202020204" pitchFamily="34" charset="0"/>
                <a:cs typeface="Arial" panose="020B0604020202020204" pitchFamily="34" charset="0"/>
              </a:rPr>
              <a:t>), logrando un despliegue limpio, ordenado y profesional.</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b="1" dirty="0">
                <a:solidFill>
                  <a:schemeClr val="tx1"/>
                </a:solidFill>
                <a:latin typeface="Arial" panose="020B0604020202020204" pitchFamily="34" charset="0"/>
                <a:cs typeface="Arial" panose="020B0604020202020204" pitchFamily="34" charset="0"/>
              </a:rPr>
              <a:t>Conclusión</a:t>
            </a:r>
            <a:endParaRPr lang="es-MX" sz="2000"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1223674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81024" y="1088334"/>
            <a:ext cx="11096625" cy="5324535"/>
          </a:xfrm>
          <a:prstGeom prst="rect">
            <a:avLst/>
          </a:prstGeom>
          <a:noFill/>
        </p:spPr>
        <p:txBody>
          <a:bodyPr wrap="square">
            <a:spAutoFit/>
          </a:bodyPr>
          <a:lstStyle/>
          <a:p>
            <a:pPr algn="just"/>
            <a:r>
              <a:rPr lang="es-MX" sz="2000" b="0" i="0" dirty="0">
                <a:effectLst/>
                <a:latin typeface="Arial" panose="020B0604020202020204" pitchFamily="34" charset="0"/>
                <a:cs typeface="Arial" panose="020B0604020202020204" pitchFamily="34" charset="0"/>
              </a:rPr>
              <a:t>Un Programador Nace. (24 de junio de 2024). 🚀 Cómo </a:t>
            </a:r>
            <a:r>
              <a:rPr lang="es-MX" sz="2000" b="0" i="0" dirty="0" err="1">
                <a:effectLst/>
                <a:latin typeface="Arial" panose="020B0604020202020204" pitchFamily="34" charset="0"/>
                <a:cs typeface="Arial" panose="020B0604020202020204" pitchFamily="34" charset="0"/>
              </a:rPr>
              <a:t>dockerizar</a:t>
            </a:r>
            <a:r>
              <a:rPr lang="es-MX" sz="2000" b="0" i="0" dirty="0">
                <a:effectLst/>
                <a:latin typeface="Arial" panose="020B0604020202020204" pitchFamily="34" charset="0"/>
                <a:cs typeface="Arial" panose="020B0604020202020204" pitchFamily="34" charset="0"/>
              </a:rPr>
              <a:t> una aplicación con Spring </a:t>
            </a:r>
            <a:r>
              <a:rPr lang="es-MX" sz="2000" b="0" i="0" dirty="0" err="1">
                <a:effectLst/>
                <a:latin typeface="Arial" panose="020B0604020202020204" pitchFamily="34" charset="0"/>
                <a:cs typeface="Arial" panose="020B0604020202020204" pitchFamily="34" charset="0"/>
              </a:rPr>
              <a:t>Boot</a:t>
            </a:r>
            <a:r>
              <a:rPr lang="es-MX" sz="2000" b="0" i="0" dirty="0">
                <a:effectLst/>
                <a:latin typeface="Arial" panose="020B0604020202020204" pitchFamily="34" charset="0"/>
                <a:cs typeface="Arial" panose="020B0604020202020204" pitchFamily="34" charset="0"/>
              </a:rPr>
              <a:t> 🐳 [Video]. YouTube. </a:t>
            </a:r>
            <a:r>
              <a:rPr lang="es-MX" sz="2000" b="0" i="0" dirty="0">
                <a:effectLst/>
                <a:latin typeface="Arial" panose="020B0604020202020204" pitchFamily="34" charset="0"/>
                <a:cs typeface="Arial" panose="020B0604020202020204" pitchFamily="34" charset="0"/>
                <a:hlinkClick r:id="rId3"/>
              </a:rPr>
              <a:t>http://www.youtube.com/watch?v=WmDPTqlBAX0</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0" i="0" dirty="0">
                <a:effectLst/>
                <a:latin typeface="Arial" panose="020B0604020202020204" pitchFamily="34" charset="0"/>
                <a:cs typeface="Arial" panose="020B0604020202020204" pitchFamily="34" charset="0"/>
              </a:rPr>
              <a:t>Programación en español. (7 de mayo de 2023). </a:t>
            </a:r>
            <a:r>
              <a:rPr lang="es-MX" sz="2000" b="0" i="0" dirty="0" err="1">
                <a:effectLst/>
                <a:latin typeface="Arial" panose="020B0604020202020204" pitchFamily="34" charset="0"/>
                <a:cs typeface="Arial" panose="020B0604020202020204" pitchFamily="34" charset="0"/>
              </a:rPr>
              <a:t>Dockerizar</a:t>
            </a:r>
            <a:r>
              <a:rPr lang="es-MX" sz="2000" b="0" i="0" dirty="0">
                <a:effectLst/>
                <a:latin typeface="Arial" panose="020B0604020202020204" pitchFamily="34" charset="0"/>
                <a:cs typeface="Arial" panose="020B0604020202020204" pitchFamily="34" charset="0"/>
              </a:rPr>
              <a:t> API REST Java + Spring </a:t>
            </a:r>
            <a:r>
              <a:rPr lang="es-MX" sz="2000" b="0" i="0" dirty="0" err="1">
                <a:effectLst/>
                <a:latin typeface="Arial" panose="020B0604020202020204" pitchFamily="34" charset="0"/>
                <a:cs typeface="Arial" panose="020B0604020202020204" pitchFamily="34" charset="0"/>
              </a:rPr>
              <a:t>Boot</a:t>
            </a:r>
            <a:r>
              <a:rPr lang="es-MX" sz="2000" b="0" i="0" dirty="0">
                <a:effectLst/>
                <a:latin typeface="Arial" panose="020B0604020202020204" pitchFamily="34" charset="0"/>
                <a:cs typeface="Arial" panose="020B0604020202020204" pitchFamily="34" charset="0"/>
              </a:rPr>
              <a:t> con PostgreSQL y Docker </a:t>
            </a:r>
            <a:r>
              <a:rPr lang="es-MX" sz="2000" b="0" i="0" dirty="0" err="1">
                <a:effectLst/>
                <a:latin typeface="Arial" panose="020B0604020202020204" pitchFamily="34" charset="0"/>
                <a:cs typeface="Arial" panose="020B0604020202020204" pitchFamily="34" charset="0"/>
              </a:rPr>
              <a:t>Compose</a:t>
            </a:r>
            <a:r>
              <a:rPr lang="es-MX" sz="2000" b="0" i="0" dirty="0">
                <a:effectLst/>
                <a:latin typeface="Arial" panose="020B0604020202020204" pitchFamily="34" charset="0"/>
                <a:cs typeface="Arial" panose="020B0604020202020204" pitchFamily="34" charset="0"/>
              </a:rPr>
              <a:t> 2023 [Video]. YouTube. </a:t>
            </a:r>
            <a:r>
              <a:rPr lang="es-MX" sz="2000" b="0" i="0" dirty="0">
                <a:effectLst/>
                <a:latin typeface="Arial" panose="020B0604020202020204" pitchFamily="34" charset="0"/>
                <a:cs typeface="Arial" panose="020B0604020202020204" pitchFamily="34" charset="0"/>
                <a:hlinkClick r:id="rId4"/>
              </a:rPr>
              <a:t>http://www.youtube.com/watch?v=uqBZEL9m2V4</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0" i="0" dirty="0">
                <a:effectLst/>
                <a:latin typeface="Arial" panose="020B0604020202020204" pitchFamily="34" charset="0"/>
                <a:cs typeface="Arial" panose="020B0604020202020204" pitchFamily="34" charset="0"/>
              </a:rPr>
              <a:t>Programación en español. (25 de mayo de 2023). Desplegar en </a:t>
            </a:r>
            <a:r>
              <a:rPr lang="es-MX" sz="2000" b="0" i="0" dirty="0" err="1">
                <a:effectLst/>
                <a:latin typeface="Arial" panose="020B0604020202020204" pitchFamily="34" charset="0"/>
                <a:cs typeface="Arial" panose="020B0604020202020204" pitchFamily="34" charset="0"/>
              </a:rPr>
              <a:t>cloud</a:t>
            </a:r>
            <a:r>
              <a:rPr lang="es-MX" sz="2000" b="0" i="0" dirty="0">
                <a:effectLst/>
                <a:latin typeface="Arial" panose="020B0604020202020204" pitchFamily="34" charset="0"/>
                <a:cs typeface="Arial" panose="020B0604020202020204" pitchFamily="34" charset="0"/>
              </a:rPr>
              <a:t> con Docker </a:t>
            </a:r>
            <a:r>
              <a:rPr lang="es-MX" sz="2000" b="0" i="0" dirty="0" err="1">
                <a:effectLst/>
                <a:latin typeface="Arial" panose="020B0604020202020204" pitchFamily="34" charset="0"/>
                <a:cs typeface="Arial" panose="020B0604020202020204" pitchFamily="34" charset="0"/>
              </a:rPr>
              <a:t>compose</a:t>
            </a:r>
            <a:r>
              <a:rPr lang="es-MX" sz="2000" b="0" i="0" dirty="0">
                <a:effectLst/>
                <a:latin typeface="Arial" panose="020B0604020202020204" pitchFamily="34" charset="0"/>
                <a:cs typeface="Arial" panose="020B0604020202020204" pitchFamily="34" charset="0"/>
              </a:rPr>
              <a:t> + Spring + PostgreSQL + Angular en </a:t>
            </a:r>
            <a:r>
              <a:rPr lang="es-MX" sz="2000" b="0" i="0" dirty="0" err="1">
                <a:effectLst/>
                <a:latin typeface="Arial" panose="020B0604020202020204" pitchFamily="34" charset="0"/>
                <a:cs typeface="Arial" panose="020B0604020202020204" pitchFamily="34" charset="0"/>
              </a:rPr>
              <a:t>DonWeb</a:t>
            </a:r>
            <a:r>
              <a:rPr lang="es-MX" sz="2000" b="0" i="0" dirty="0">
                <a:effectLst/>
                <a:latin typeface="Arial" panose="020B0604020202020204" pitchFamily="34" charset="0"/>
                <a:cs typeface="Arial" panose="020B0604020202020204" pitchFamily="34" charset="0"/>
              </a:rPr>
              <a:t> [Video]. YouTube. </a:t>
            </a:r>
            <a:r>
              <a:rPr lang="es-MX" sz="2000" b="0" i="0" dirty="0">
                <a:effectLst/>
                <a:latin typeface="Arial" panose="020B0604020202020204" pitchFamily="34" charset="0"/>
                <a:cs typeface="Arial" panose="020B0604020202020204" pitchFamily="34" charset="0"/>
                <a:hlinkClick r:id="rId5"/>
              </a:rPr>
              <a:t>http://www.youtube.com/watch?v=V_UrmKM9NE8</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0" i="0" dirty="0" err="1">
                <a:effectLst/>
                <a:latin typeface="Arial" panose="020B0604020202020204" pitchFamily="34" charset="0"/>
                <a:cs typeface="Arial" panose="020B0604020202020204" pitchFamily="34" charset="0"/>
              </a:rPr>
              <a:t>OpenWebinars</a:t>
            </a:r>
            <a:r>
              <a:rPr lang="es-MX" sz="2000" b="0" i="0" dirty="0">
                <a:effectLst/>
                <a:latin typeface="Arial" panose="020B0604020202020204" pitchFamily="34" charset="0"/>
                <a:cs typeface="Arial" panose="020B0604020202020204" pitchFamily="34" charset="0"/>
              </a:rPr>
              <a:t>. (22 de octubre de 2021). Curso Crea tu servidor web con </a:t>
            </a:r>
            <a:r>
              <a:rPr lang="es-MX" sz="2000" b="0" i="0" dirty="0" err="1">
                <a:effectLst/>
                <a:latin typeface="Arial" panose="020B0604020202020204" pitchFamily="34" charset="0"/>
                <a:cs typeface="Arial" panose="020B0604020202020204" pitchFamily="34" charset="0"/>
              </a:rPr>
              <a:t>Nginx</a:t>
            </a:r>
            <a:r>
              <a:rPr lang="es-MX" sz="2000" b="0" i="0" dirty="0">
                <a:effectLst/>
                <a:latin typeface="Arial" panose="020B0604020202020204" pitchFamily="34" charset="0"/>
                <a:cs typeface="Arial" panose="020B0604020202020204" pitchFamily="34" charset="0"/>
              </a:rPr>
              <a:t> sobre Linux (Debian) [Video]. YouTube. </a:t>
            </a:r>
            <a:r>
              <a:rPr lang="es-MX" sz="2000" b="0" i="0" dirty="0">
                <a:effectLst/>
                <a:latin typeface="Arial" panose="020B0604020202020204" pitchFamily="34" charset="0"/>
                <a:cs typeface="Arial" panose="020B0604020202020204" pitchFamily="34" charset="0"/>
                <a:hlinkClick r:id="rId6"/>
              </a:rPr>
              <a:t>http://www.youtube.com/watch?v=KNVttU7k51o</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b="1" dirty="0">
                <a:solidFill>
                  <a:schemeClr val="tx1"/>
                </a:solidFill>
                <a:latin typeface="Arial" panose="020B0604020202020204" pitchFamily="34" charset="0"/>
                <a:cs typeface="Arial" panose="020B0604020202020204" pitchFamily="34" charset="0"/>
              </a:rPr>
              <a:t>Fuentes</a:t>
            </a:r>
            <a:endParaRPr lang="es-MX" sz="2000"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15960384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1783</Words>
  <Application>Microsoft Office PowerPoint</Application>
  <PresentationFormat>Panorámica</PresentationFormat>
  <Paragraphs>135</Paragraphs>
  <Slides>29</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VANNI GUTIÉRREZ PÉREZ</dc:creator>
  <cp:lastModifiedBy>VANNI GUTIÉRREZ PÉREZ</cp:lastModifiedBy>
  <cp:revision>11</cp:revision>
  <dcterms:created xsi:type="dcterms:W3CDTF">2026-06-12T03:12:16Z</dcterms:created>
  <dcterms:modified xsi:type="dcterms:W3CDTF">2026-06-12T04:32:58Z</dcterms:modified>
</cp:coreProperties>
</file>